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4" r:id="rId2"/>
    <p:sldId id="280" r:id="rId3"/>
    <p:sldId id="286" r:id="rId4"/>
    <p:sldId id="287" r:id="rId5"/>
    <p:sldId id="288" r:id="rId6"/>
    <p:sldId id="289" r:id="rId7"/>
    <p:sldId id="29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302" autoAdjust="0"/>
  </p:normalViewPr>
  <p:slideViewPr>
    <p:cSldViewPr snapToGrid="0">
      <p:cViewPr varScale="1">
        <p:scale>
          <a:sx n="62" d="100"/>
          <a:sy n="62" d="100"/>
        </p:scale>
        <p:origin x="8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ng, Bolong" userId="5fb33691-3244-4faf-b53b-93284bd7c54c" providerId="ADAL" clId="{9D2A3691-D562-48E3-B4A9-FA56BAB969CF}"/>
    <pc:docChg chg="custSel addSld modSld">
      <pc:chgData name="Zeng, Bolong" userId="5fb33691-3244-4faf-b53b-93284bd7c54c" providerId="ADAL" clId="{9D2A3691-D562-48E3-B4A9-FA56BAB969CF}" dt="2026-08-17T23:25:25.424" v="954" actId="20577"/>
      <pc:docMkLst>
        <pc:docMk/>
      </pc:docMkLst>
      <pc:sldChg chg="modSp mod">
        <pc:chgData name="Zeng, Bolong" userId="5fb33691-3244-4faf-b53b-93284bd7c54c" providerId="ADAL" clId="{9D2A3691-D562-48E3-B4A9-FA56BAB969CF}" dt="2026-08-17T23:09:20.245" v="71" actId="20577"/>
        <pc:sldMkLst>
          <pc:docMk/>
          <pc:sldMk cId="3023492326" sldId="265"/>
        </pc:sldMkLst>
        <pc:spChg chg="mod">
          <ac:chgData name="Zeng, Bolong" userId="5fb33691-3244-4faf-b53b-93284bd7c54c" providerId="ADAL" clId="{9D2A3691-D562-48E3-B4A9-FA56BAB969CF}" dt="2026-08-17T23:09:20.245" v="71" actId="20577"/>
          <ac:spMkLst>
            <pc:docMk/>
            <pc:sldMk cId="3023492326" sldId="265"/>
            <ac:spMk id="11" creationId="{00000000-0000-0000-0000-000000000000}"/>
          </ac:spMkLst>
        </pc:spChg>
      </pc:sldChg>
      <pc:sldChg chg="modSp mod">
        <pc:chgData name="Zeng, Bolong" userId="5fb33691-3244-4faf-b53b-93284bd7c54c" providerId="ADAL" clId="{9D2A3691-D562-48E3-B4A9-FA56BAB969CF}" dt="2026-08-17T23:10:59.854" v="293" actId="20577"/>
        <pc:sldMkLst>
          <pc:docMk/>
          <pc:sldMk cId="3582441262" sldId="280"/>
        </pc:sldMkLst>
        <pc:spChg chg="mod">
          <ac:chgData name="Zeng, Bolong" userId="5fb33691-3244-4faf-b53b-93284bd7c54c" providerId="ADAL" clId="{9D2A3691-D562-48E3-B4A9-FA56BAB969CF}" dt="2026-08-17T23:10:59.854" v="293" actId="20577"/>
          <ac:spMkLst>
            <pc:docMk/>
            <pc:sldMk cId="3582441262" sldId="280"/>
            <ac:spMk id="25" creationId="{00000000-0000-0000-0000-000000000000}"/>
          </ac:spMkLst>
        </pc:spChg>
      </pc:sldChg>
      <pc:sldChg chg="modSp mod">
        <pc:chgData name="Zeng, Bolong" userId="5fb33691-3244-4faf-b53b-93284bd7c54c" providerId="ADAL" clId="{9D2A3691-D562-48E3-B4A9-FA56BAB969CF}" dt="2026-08-17T23:25:25.424" v="954" actId="20577"/>
        <pc:sldMkLst>
          <pc:docMk/>
          <pc:sldMk cId="395913222" sldId="283"/>
        </pc:sldMkLst>
        <pc:spChg chg="mod">
          <ac:chgData name="Zeng, Bolong" userId="5fb33691-3244-4faf-b53b-93284bd7c54c" providerId="ADAL" clId="{9D2A3691-D562-48E3-B4A9-FA56BAB969CF}" dt="2026-08-17T23:25:25.424" v="954" actId="20577"/>
          <ac:spMkLst>
            <pc:docMk/>
            <pc:sldMk cId="395913222" sldId="283"/>
            <ac:spMk id="4" creationId="{CA077796-0C99-4A05-86E9-E608F3560883}"/>
          </ac:spMkLst>
        </pc:spChg>
      </pc:sldChg>
      <pc:sldChg chg="addSp modSp new mod">
        <pc:chgData name="Zeng, Bolong" userId="5fb33691-3244-4faf-b53b-93284bd7c54c" providerId="ADAL" clId="{9D2A3691-D562-48E3-B4A9-FA56BAB969CF}" dt="2026-08-17T23:24:55.903" v="900" actId="20577"/>
        <pc:sldMkLst>
          <pc:docMk/>
          <pc:sldMk cId="2111641846" sldId="285"/>
        </pc:sldMkLst>
        <pc:spChg chg="add mod">
          <ac:chgData name="Zeng, Bolong" userId="5fb33691-3244-4faf-b53b-93284bd7c54c" providerId="ADAL" clId="{9D2A3691-D562-48E3-B4A9-FA56BAB969CF}" dt="2026-08-17T23:24:55.903" v="900" actId="20577"/>
          <ac:spMkLst>
            <pc:docMk/>
            <pc:sldMk cId="2111641846" sldId="285"/>
            <ac:spMk id="3" creationId="{C78BCB4B-3E01-C2DF-E355-5735D1CFF23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1E147-C8A0-4BC6-976C-8EAA43EDA5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BF3227-9478-4C52-AA73-6319424D28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A9542B-8975-4A12-AD77-67429A3C3BD4}"/>
              </a:ext>
            </a:extLst>
          </p:cNvPr>
          <p:cNvSpPr>
            <a:spLocks noGrp="1"/>
          </p:cNvSpPr>
          <p:nvPr>
            <p:ph type="dt" sz="half" idx="10"/>
          </p:nvPr>
        </p:nvSpPr>
        <p:spPr/>
        <p:txBody>
          <a:bodyPr/>
          <a:lstStyle/>
          <a:p>
            <a:fld id="{B19FC151-C95F-4B97-8B73-E5BFB448A7CA}" type="datetimeFigureOut">
              <a:rPr lang="en-US" smtClean="0"/>
              <a:t>10/12/2026</a:t>
            </a:fld>
            <a:endParaRPr lang="en-US"/>
          </a:p>
        </p:txBody>
      </p:sp>
      <p:sp>
        <p:nvSpPr>
          <p:cNvPr id="5" name="Footer Placeholder 4">
            <a:extLst>
              <a:ext uri="{FF2B5EF4-FFF2-40B4-BE49-F238E27FC236}">
                <a16:creationId xmlns:a16="http://schemas.microsoft.com/office/drawing/2014/main" id="{028D904B-4391-43CD-A7AA-3824F2C109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BFDD9A-8941-4511-8C61-6673FC0690A9}"/>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232785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C906D-56D6-4B8F-87C5-B0EE1CE574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5CF03C-1CAC-4554-97C3-DF7AD8C3CEA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10C7BB-5EDD-41DD-831D-12E53C1D6534}"/>
              </a:ext>
            </a:extLst>
          </p:cNvPr>
          <p:cNvSpPr>
            <a:spLocks noGrp="1"/>
          </p:cNvSpPr>
          <p:nvPr>
            <p:ph type="dt" sz="half" idx="10"/>
          </p:nvPr>
        </p:nvSpPr>
        <p:spPr/>
        <p:txBody>
          <a:bodyPr/>
          <a:lstStyle/>
          <a:p>
            <a:fld id="{B19FC151-C95F-4B97-8B73-E5BFB448A7CA}" type="datetimeFigureOut">
              <a:rPr lang="en-US" smtClean="0"/>
              <a:t>10/12/2026</a:t>
            </a:fld>
            <a:endParaRPr lang="en-US"/>
          </a:p>
        </p:txBody>
      </p:sp>
      <p:sp>
        <p:nvSpPr>
          <p:cNvPr id="5" name="Footer Placeholder 4">
            <a:extLst>
              <a:ext uri="{FF2B5EF4-FFF2-40B4-BE49-F238E27FC236}">
                <a16:creationId xmlns:a16="http://schemas.microsoft.com/office/drawing/2014/main" id="{39B0C739-34B4-49D4-8F87-43555C336A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90C07-C203-46D1-A9A9-2A278959715A}"/>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106349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F9BD-F333-480E-8CBF-2576F003CA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7D85C8-A58E-4D0C-96E1-49F452E929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1F543B-5C9D-4309-B49A-568CE1883714}"/>
              </a:ext>
            </a:extLst>
          </p:cNvPr>
          <p:cNvSpPr>
            <a:spLocks noGrp="1"/>
          </p:cNvSpPr>
          <p:nvPr>
            <p:ph type="dt" sz="half" idx="10"/>
          </p:nvPr>
        </p:nvSpPr>
        <p:spPr/>
        <p:txBody>
          <a:bodyPr/>
          <a:lstStyle/>
          <a:p>
            <a:fld id="{B19FC151-C95F-4B97-8B73-E5BFB448A7CA}" type="datetimeFigureOut">
              <a:rPr lang="en-US" smtClean="0"/>
              <a:t>10/12/2026</a:t>
            </a:fld>
            <a:endParaRPr lang="en-US"/>
          </a:p>
        </p:txBody>
      </p:sp>
      <p:sp>
        <p:nvSpPr>
          <p:cNvPr id="5" name="Footer Placeholder 4">
            <a:extLst>
              <a:ext uri="{FF2B5EF4-FFF2-40B4-BE49-F238E27FC236}">
                <a16:creationId xmlns:a16="http://schemas.microsoft.com/office/drawing/2014/main" id="{E74CE2B0-E7A4-457D-BEAA-2BE86224E5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2587F0-5F44-42E4-958A-D61C983530FD}"/>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44673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C1B2E-0F83-4B3F-8736-1782CF15F7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DC77F3-7F52-4699-98BC-F5CDD835E4D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70FF8E-CB09-41A9-BA43-70B505DB96A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C8000E-3AAB-4E34-85A2-22F28B8A45F6}"/>
              </a:ext>
            </a:extLst>
          </p:cNvPr>
          <p:cNvSpPr>
            <a:spLocks noGrp="1"/>
          </p:cNvSpPr>
          <p:nvPr>
            <p:ph type="dt" sz="half" idx="10"/>
          </p:nvPr>
        </p:nvSpPr>
        <p:spPr/>
        <p:txBody>
          <a:bodyPr/>
          <a:lstStyle/>
          <a:p>
            <a:fld id="{B19FC151-C95F-4B97-8B73-E5BFB448A7CA}" type="datetimeFigureOut">
              <a:rPr lang="en-US" smtClean="0"/>
              <a:t>10/12/2026</a:t>
            </a:fld>
            <a:endParaRPr lang="en-US"/>
          </a:p>
        </p:txBody>
      </p:sp>
      <p:sp>
        <p:nvSpPr>
          <p:cNvPr id="6" name="Footer Placeholder 5">
            <a:extLst>
              <a:ext uri="{FF2B5EF4-FFF2-40B4-BE49-F238E27FC236}">
                <a16:creationId xmlns:a16="http://schemas.microsoft.com/office/drawing/2014/main" id="{A239A5A7-F8BC-4CE7-9AFB-B7F24E9DD4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2D875C-2EED-412F-835A-8D9AD47858B5}"/>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347381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418B9-F5FD-430F-A486-D0A4EF4A93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09A873D-46AB-489F-93A5-703A9428A3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4F73EAB-7738-4218-8320-BAF5B88ED75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DB9B05-5412-4BA5-9B92-556AC2BA24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F9F8B3F-FDF1-466F-A684-6668B08C212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7F1379-FEB2-4232-A97B-4A9854F81CE9}"/>
              </a:ext>
            </a:extLst>
          </p:cNvPr>
          <p:cNvSpPr>
            <a:spLocks noGrp="1"/>
          </p:cNvSpPr>
          <p:nvPr>
            <p:ph type="dt" sz="half" idx="10"/>
          </p:nvPr>
        </p:nvSpPr>
        <p:spPr/>
        <p:txBody>
          <a:bodyPr/>
          <a:lstStyle/>
          <a:p>
            <a:fld id="{B19FC151-C95F-4B97-8B73-E5BFB448A7CA}" type="datetimeFigureOut">
              <a:rPr lang="en-US" smtClean="0"/>
              <a:t>10/12/2026</a:t>
            </a:fld>
            <a:endParaRPr lang="en-US"/>
          </a:p>
        </p:txBody>
      </p:sp>
      <p:sp>
        <p:nvSpPr>
          <p:cNvPr id="8" name="Footer Placeholder 7">
            <a:extLst>
              <a:ext uri="{FF2B5EF4-FFF2-40B4-BE49-F238E27FC236}">
                <a16:creationId xmlns:a16="http://schemas.microsoft.com/office/drawing/2014/main" id="{6883ADD5-6DE6-4F90-9F48-23CF2FDEDF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5D40F2-AC8A-4686-915A-3A4598825217}"/>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606402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C7AAF-1469-414A-8493-0CA826FFC2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D0EDA4-27B8-49D9-9CDC-EC94D6DD62DE}"/>
              </a:ext>
            </a:extLst>
          </p:cNvPr>
          <p:cNvSpPr>
            <a:spLocks noGrp="1"/>
          </p:cNvSpPr>
          <p:nvPr>
            <p:ph type="dt" sz="half" idx="10"/>
          </p:nvPr>
        </p:nvSpPr>
        <p:spPr/>
        <p:txBody>
          <a:bodyPr/>
          <a:lstStyle/>
          <a:p>
            <a:fld id="{B19FC151-C95F-4B97-8B73-E5BFB448A7CA}" type="datetimeFigureOut">
              <a:rPr lang="en-US" smtClean="0"/>
              <a:t>10/12/2026</a:t>
            </a:fld>
            <a:endParaRPr lang="en-US"/>
          </a:p>
        </p:txBody>
      </p:sp>
      <p:sp>
        <p:nvSpPr>
          <p:cNvPr id="4" name="Footer Placeholder 3">
            <a:extLst>
              <a:ext uri="{FF2B5EF4-FFF2-40B4-BE49-F238E27FC236}">
                <a16:creationId xmlns:a16="http://schemas.microsoft.com/office/drawing/2014/main" id="{043BB72E-178F-465C-BAC7-372CB6F8EB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D2BE6B-1F95-4225-BB77-01B2BC22044B}"/>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589930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E200F2-9C97-4485-97B8-43AF0DD70CDC}"/>
              </a:ext>
            </a:extLst>
          </p:cNvPr>
          <p:cNvSpPr>
            <a:spLocks noGrp="1"/>
          </p:cNvSpPr>
          <p:nvPr>
            <p:ph type="dt" sz="half" idx="10"/>
          </p:nvPr>
        </p:nvSpPr>
        <p:spPr/>
        <p:txBody>
          <a:bodyPr/>
          <a:lstStyle/>
          <a:p>
            <a:fld id="{B19FC151-C95F-4B97-8B73-E5BFB448A7CA}" type="datetimeFigureOut">
              <a:rPr lang="en-US" smtClean="0"/>
              <a:t>10/12/2026</a:t>
            </a:fld>
            <a:endParaRPr lang="en-US"/>
          </a:p>
        </p:txBody>
      </p:sp>
      <p:sp>
        <p:nvSpPr>
          <p:cNvPr id="3" name="Footer Placeholder 2">
            <a:extLst>
              <a:ext uri="{FF2B5EF4-FFF2-40B4-BE49-F238E27FC236}">
                <a16:creationId xmlns:a16="http://schemas.microsoft.com/office/drawing/2014/main" id="{FC314FCC-17D0-4070-87DE-01A740525D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375113-BE05-4973-B2F8-5D8DEC179D12}"/>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208470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A1825-4DE0-4612-BBDD-192DEAA9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66D902-ED54-4D39-8D2E-25F1B53046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FE6202-835A-4D10-8696-5F9C93985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E2197CC-931A-42AB-86EB-33B7388062E0}"/>
              </a:ext>
            </a:extLst>
          </p:cNvPr>
          <p:cNvSpPr>
            <a:spLocks noGrp="1"/>
          </p:cNvSpPr>
          <p:nvPr>
            <p:ph type="dt" sz="half" idx="10"/>
          </p:nvPr>
        </p:nvSpPr>
        <p:spPr/>
        <p:txBody>
          <a:bodyPr/>
          <a:lstStyle/>
          <a:p>
            <a:fld id="{B19FC151-C95F-4B97-8B73-E5BFB448A7CA}" type="datetimeFigureOut">
              <a:rPr lang="en-US" smtClean="0"/>
              <a:t>10/12/2026</a:t>
            </a:fld>
            <a:endParaRPr lang="en-US"/>
          </a:p>
        </p:txBody>
      </p:sp>
      <p:sp>
        <p:nvSpPr>
          <p:cNvPr id="6" name="Footer Placeholder 5">
            <a:extLst>
              <a:ext uri="{FF2B5EF4-FFF2-40B4-BE49-F238E27FC236}">
                <a16:creationId xmlns:a16="http://schemas.microsoft.com/office/drawing/2014/main" id="{C9E62F2B-A80B-466F-ADA7-487AA65D4C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F3C4D0-1C4A-48F9-92DD-F530E7183606}"/>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51485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3BAD3-7D59-44A6-A4A3-D1BA8F249D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F77753-3940-4A5F-B934-46E478EE29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FBCA91-3E11-4F2F-977B-92EE8E593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245E498-0231-44B8-8715-5D426B7EA026}"/>
              </a:ext>
            </a:extLst>
          </p:cNvPr>
          <p:cNvSpPr>
            <a:spLocks noGrp="1"/>
          </p:cNvSpPr>
          <p:nvPr>
            <p:ph type="dt" sz="half" idx="10"/>
          </p:nvPr>
        </p:nvSpPr>
        <p:spPr/>
        <p:txBody>
          <a:bodyPr/>
          <a:lstStyle/>
          <a:p>
            <a:fld id="{B19FC151-C95F-4B97-8B73-E5BFB448A7CA}" type="datetimeFigureOut">
              <a:rPr lang="en-US" smtClean="0"/>
              <a:t>10/12/2026</a:t>
            </a:fld>
            <a:endParaRPr lang="en-US"/>
          </a:p>
        </p:txBody>
      </p:sp>
      <p:sp>
        <p:nvSpPr>
          <p:cNvPr id="6" name="Footer Placeholder 5">
            <a:extLst>
              <a:ext uri="{FF2B5EF4-FFF2-40B4-BE49-F238E27FC236}">
                <a16:creationId xmlns:a16="http://schemas.microsoft.com/office/drawing/2014/main" id="{EE0B7981-F7C7-4422-96D1-0A4D53E5E7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33C5BF-2633-4B2F-8306-3C459740543B}"/>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37884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AD2B-6A45-493C-ADEC-1D52381608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274B83-74CC-4244-8433-B802CC661C6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DAA2F-BC68-4BC4-9935-F2FBD7229757}"/>
              </a:ext>
            </a:extLst>
          </p:cNvPr>
          <p:cNvSpPr>
            <a:spLocks noGrp="1"/>
          </p:cNvSpPr>
          <p:nvPr>
            <p:ph type="dt" sz="half" idx="10"/>
          </p:nvPr>
        </p:nvSpPr>
        <p:spPr/>
        <p:txBody>
          <a:bodyPr/>
          <a:lstStyle/>
          <a:p>
            <a:fld id="{B19FC151-C95F-4B97-8B73-E5BFB448A7CA}" type="datetimeFigureOut">
              <a:rPr lang="en-US" smtClean="0"/>
              <a:t>10/12/2026</a:t>
            </a:fld>
            <a:endParaRPr lang="en-US"/>
          </a:p>
        </p:txBody>
      </p:sp>
      <p:sp>
        <p:nvSpPr>
          <p:cNvPr id="5" name="Footer Placeholder 4">
            <a:extLst>
              <a:ext uri="{FF2B5EF4-FFF2-40B4-BE49-F238E27FC236}">
                <a16:creationId xmlns:a16="http://schemas.microsoft.com/office/drawing/2014/main" id="{B8D9C779-E871-4A96-8FCC-DDC9AC83F7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632DCE-5E52-42CB-B97F-27362C548122}"/>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79519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1553D9-22F0-49A8-98CD-81B98818FB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CBA776-CFB8-4F0F-8F19-D1832E2793C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D45A7A-289F-4728-8B9C-915564DC8F79}"/>
              </a:ext>
            </a:extLst>
          </p:cNvPr>
          <p:cNvSpPr>
            <a:spLocks noGrp="1"/>
          </p:cNvSpPr>
          <p:nvPr>
            <p:ph type="dt" sz="half" idx="10"/>
          </p:nvPr>
        </p:nvSpPr>
        <p:spPr/>
        <p:txBody>
          <a:bodyPr/>
          <a:lstStyle/>
          <a:p>
            <a:fld id="{B19FC151-C95F-4B97-8B73-E5BFB448A7CA}" type="datetimeFigureOut">
              <a:rPr lang="en-US" smtClean="0"/>
              <a:t>10/12/2026</a:t>
            </a:fld>
            <a:endParaRPr lang="en-US"/>
          </a:p>
        </p:txBody>
      </p:sp>
      <p:sp>
        <p:nvSpPr>
          <p:cNvPr id="5" name="Footer Placeholder 4">
            <a:extLst>
              <a:ext uri="{FF2B5EF4-FFF2-40B4-BE49-F238E27FC236}">
                <a16:creationId xmlns:a16="http://schemas.microsoft.com/office/drawing/2014/main" id="{CA86D427-E821-44AE-9199-68D2B686C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24E30-9118-4896-8D27-4648AE7A0FCE}"/>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1076232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BD2AB3-0AA5-46A1-A17E-CC3249007A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9E5A1A-920F-49DA-803B-E908B462E0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B3C4B-E9B9-464E-B854-C9736BD7B7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9FC151-C95F-4B97-8B73-E5BFB448A7CA}" type="datetimeFigureOut">
              <a:rPr lang="en-US" smtClean="0"/>
              <a:t>10/12/2026</a:t>
            </a:fld>
            <a:endParaRPr lang="en-US"/>
          </a:p>
        </p:txBody>
      </p:sp>
      <p:sp>
        <p:nvSpPr>
          <p:cNvPr id="5" name="Footer Placeholder 4">
            <a:extLst>
              <a:ext uri="{FF2B5EF4-FFF2-40B4-BE49-F238E27FC236}">
                <a16:creationId xmlns:a16="http://schemas.microsoft.com/office/drawing/2014/main" id="{D90264A9-6D41-4537-A210-0F87B15250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A9A312F-6625-4CD9-82BE-98585C3951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664BD-2E9A-452D-8DCB-A5C1F6FA5F2C}" type="slidenum">
              <a:rPr lang="en-US" smtClean="0"/>
              <a:t>‹#›</a:t>
            </a:fld>
            <a:endParaRPr lang="en-US"/>
          </a:p>
        </p:txBody>
      </p:sp>
    </p:spTree>
    <p:extLst>
      <p:ext uri="{BB962C8B-B14F-4D97-AF65-F5344CB8AC3E}">
        <p14:creationId xmlns:p14="http://schemas.microsoft.com/office/powerpoint/2010/main" val="3962468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1"/>
            <a:ext cx="12191990" cy="37425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468C6E-964B-AF50-E729-29A15AB79843}"/>
              </a:ext>
            </a:extLst>
          </p:cNvPr>
          <p:cNvSpPr>
            <a:spLocks noGrp="1"/>
          </p:cNvSpPr>
          <p:nvPr>
            <p:ph type="ctrTitle"/>
          </p:nvPr>
        </p:nvSpPr>
        <p:spPr>
          <a:xfrm>
            <a:off x="1155558" y="637763"/>
            <a:ext cx="9889797" cy="2874471"/>
          </a:xfrm>
        </p:spPr>
        <p:txBody>
          <a:bodyPr anchor="ctr">
            <a:normAutofit/>
          </a:bodyPr>
          <a:lstStyle/>
          <a:p>
            <a:pPr algn="l"/>
            <a:r>
              <a:rPr lang="en-US" sz="8000" dirty="0">
                <a:solidFill>
                  <a:schemeClr val="bg1"/>
                </a:solidFill>
              </a:rPr>
              <a:t>Phase I System Presentation</a:t>
            </a:r>
          </a:p>
        </p:txBody>
      </p:sp>
      <p:sp>
        <p:nvSpPr>
          <p:cNvPr id="25" name="Rectangle 24">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3742597"/>
            <a:ext cx="12191990" cy="31154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1440C3C-9794-6B3D-429E-D85A27E7DE08}"/>
              </a:ext>
            </a:extLst>
          </p:cNvPr>
          <p:cNvSpPr>
            <a:spLocks noGrp="1"/>
          </p:cNvSpPr>
          <p:nvPr>
            <p:ph type="subTitle" idx="1"/>
          </p:nvPr>
        </p:nvSpPr>
        <p:spPr>
          <a:xfrm>
            <a:off x="1155558" y="4307684"/>
            <a:ext cx="9544153" cy="1906846"/>
          </a:xfrm>
        </p:spPr>
        <p:txBody>
          <a:bodyPr anchor="t">
            <a:normAutofit/>
          </a:bodyPr>
          <a:lstStyle/>
          <a:p>
            <a:pPr algn="l"/>
            <a:r>
              <a:rPr lang="en-US" sz="3200" dirty="0"/>
              <a:t>Team EV</a:t>
            </a:r>
          </a:p>
        </p:txBody>
      </p:sp>
      <p:sp>
        <p:nvSpPr>
          <p:cNvPr id="27" name="Rectangle 26">
            <a:extLst>
              <a:ext uri="{FF2B5EF4-FFF2-40B4-BE49-F238E27FC236}">
                <a16:creationId xmlns:a16="http://schemas.microsoft.com/office/drawing/2014/main" id="{6832F003-FCA6-4CFB-A2EA-308F3AA25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1180" y="41010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0860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69E8E-EF80-4E22-495A-F08AF7922FE1}"/>
              </a:ext>
            </a:extLst>
          </p:cNvPr>
          <p:cNvSpPr>
            <a:spLocks noGrp="1"/>
          </p:cNvSpPr>
          <p:nvPr>
            <p:ph type="title"/>
          </p:nvPr>
        </p:nvSpPr>
        <p:spPr/>
        <p:txBody>
          <a:bodyPr/>
          <a:lstStyle/>
          <a:p>
            <a:pPr algn="ctr"/>
            <a:r>
              <a:rPr lang="en-US" dirty="0"/>
              <a:t>Scenario 1</a:t>
            </a:r>
          </a:p>
        </p:txBody>
      </p:sp>
      <p:sp>
        <p:nvSpPr>
          <p:cNvPr id="3" name="Text Placeholder 2">
            <a:extLst>
              <a:ext uri="{FF2B5EF4-FFF2-40B4-BE49-F238E27FC236}">
                <a16:creationId xmlns:a16="http://schemas.microsoft.com/office/drawing/2014/main" id="{12A19AA5-AC27-81AF-5D6B-DC7E8BC14F75}"/>
              </a:ext>
            </a:extLst>
          </p:cNvPr>
          <p:cNvSpPr>
            <a:spLocks noGrp="1"/>
          </p:cNvSpPr>
          <p:nvPr>
            <p:ph type="body" idx="1"/>
          </p:nvPr>
        </p:nvSpPr>
        <p:spPr/>
        <p:txBody>
          <a:bodyPr>
            <a:normAutofit/>
          </a:bodyPr>
          <a:lstStyle/>
          <a:p>
            <a:pPr algn="ctr"/>
            <a:r>
              <a:rPr lang="en-US" sz="1800" dirty="0"/>
              <a:t>AS-IS Scenario</a:t>
            </a:r>
          </a:p>
          <a:p>
            <a:endParaRPr lang="en-US" sz="1800" dirty="0"/>
          </a:p>
        </p:txBody>
      </p:sp>
      <p:sp>
        <p:nvSpPr>
          <p:cNvPr id="4" name="Content Placeholder 3">
            <a:extLst>
              <a:ext uri="{FF2B5EF4-FFF2-40B4-BE49-F238E27FC236}">
                <a16:creationId xmlns:a16="http://schemas.microsoft.com/office/drawing/2014/main" id="{67D12E7F-1201-0EFD-6A09-4C1A1BE21B05}"/>
              </a:ext>
            </a:extLst>
          </p:cNvPr>
          <p:cNvSpPr>
            <a:spLocks noGrp="1"/>
          </p:cNvSpPr>
          <p:nvPr>
            <p:ph sz="half" idx="2"/>
          </p:nvPr>
        </p:nvSpPr>
        <p:spPr/>
        <p:txBody>
          <a:bodyPr>
            <a:normAutofit/>
          </a:bodyPr>
          <a:lstStyle/>
          <a:p>
            <a:r>
              <a:rPr lang="en-US" sz="1800" dirty="0"/>
              <a:t>Stevie is trying to go to his next classroom. He knows he needs to walk ahead a few steps, and then turn left around the corner.</a:t>
            </a:r>
          </a:p>
          <a:p>
            <a:r>
              <a:rPr lang="en-US" sz="1800" dirty="0"/>
              <a:t>However, he is not sure when to turn. </a:t>
            </a:r>
          </a:p>
          <a:p>
            <a:r>
              <a:rPr lang="en-US" sz="1800" dirty="0"/>
              <a:t>He took a guess, but turned too early, hit the wall and hurt his head. </a:t>
            </a:r>
          </a:p>
        </p:txBody>
      </p:sp>
      <p:sp>
        <p:nvSpPr>
          <p:cNvPr id="5" name="Text Placeholder 4">
            <a:extLst>
              <a:ext uri="{FF2B5EF4-FFF2-40B4-BE49-F238E27FC236}">
                <a16:creationId xmlns:a16="http://schemas.microsoft.com/office/drawing/2014/main" id="{D8B12325-CD67-0CA8-949C-25F19E5717E7}"/>
              </a:ext>
            </a:extLst>
          </p:cNvPr>
          <p:cNvSpPr>
            <a:spLocks noGrp="1"/>
          </p:cNvSpPr>
          <p:nvPr>
            <p:ph type="body" sz="quarter" idx="3"/>
          </p:nvPr>
        </p:nvSpPr>
        <p:spPr/>
        <p:txBody>
          <a:bodyPr>
            <a:normAutofit/>
          </a:bodyPr>
          <a:lstStyle/>
          <a:p>
            <a:pPr algn="ctr"/>
            <a:r>
              <a:rPr lang="en-US" sz="1800" dirty="0"/>
              <a:t>TO-BE Scenario</a:t>
            </a:r>
          </a:p>
          <a:p>
            <a:pPr algn="ctr"/>
            <a:endParaRPr lang="en-US" sz="1800" dirty="0"/>
          </a:p>
        </p:txBody>
      </p:sp>
      <p:sp>
        <p:nvSpPr>
          <p:cNvPr id="6" name="Content Placeholder 5">
            <a:extLst>
              <a:ext uri="{FF2B5EF4-FFF2-40B4-BE49-F238E27FC236}">
                <a16:creationId xmlns:a16="http://schemas.microsoft.com/office/drawing/2014/main" id="{A2D227F2-5A8A-7A5F-3BEE-AC0B94C3F4DB}"/>
              </a:ext>
            </a:extLst>
          </p:cNvPr>
          <p:cNvSpPr>
            <a:spLocks noGrp="1"/>
          </p:cNvSpPr>
          <p:nvPr>
            <p:ph sz="quarter" idx="4"/>
          </p:nvPr>
        </p:nvSpPr>
        <p:spPr/>
        <p:txBody>
          <a:bodyPr>
            <a:normAutofit/>
          </a:bodyPr>
          <a:lstStyle/>
          <a:p>
            <a:r>
              <a:rPr lang="en-US" sz="1800" dirty="0"/>
              <a:t>The THEIA app asks Stevie to give his current location and the destination.</a:t>
            </a:r>
          </a:p>
          <a:p>
            <a:r>
              <a:rPr lang="en-US" sz="1800" dirty="0"/>
              <a:t>The app calculates the route from the current location to the destination.</a:t>
            </a:r>
          </a:p>
          <a:p>
            <a:r>
              <a:rPr lang="en-US" sz="1800" dirty="0"/>
              <a:t>THEIA tells Stevie to “walk ahead 10 steps, then turn left”</a:t>
            </a:r>
          </a:p>
          <a:p>
            <a:endParaRPr lang="en-US" sz="1800" dirty="0"/>
          </a:p>
        </p:txBody>
      </p:sp>
    </p:spTree>
    <p:extLst>
      <p:ext uri="{BB962C8B-B14F-4D97-AF65-F5344CB8AC3E}">
        <p14:creationId xmlns:p14="http://schemas.microsoft.com/office/powerpoint/2010/main" val="3582441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childTnLst>
                                </p:cTn>
                              </p:par>
                              <p:par>
                                <p:cTn id="13" presetID="10" presetClass="entr" presetSubtype="0" fill="hold" grpId="0" nodeType="withEffect">
                                  <p:stCondLst>
                                    <p:cond delay="200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400"/>
                                        <p:tgtEl>
                                          <p:spTgt spid="4">
                                            <p:txEl>
                                              <p:pRg st="0" end="0"/>
                                            </p:txEl>
                                          </p:spTgt>
                                        </p:tgtEl>
                                      </p:cBhvr>
                                    </p:animEffect>
                                  </p:childTnLst>
                                </p:cTn>
                              </p:par>
                              <p:par>
                                <p:cTn id="16" presetID="10" presetClass="entr" presetSubtype="0" fill="hold" grpId="0" nodeType="withEffect">
                                  <p:stCondLst>
                                    <p:cond delay="200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400"/>
                                        <p:tgtEl>
                                          <p:spTgt spid="4">
                                            <p:txEl>
                                              <p:pRg st="1" end="1"/>
                                            </p:txEl>
                                          </p:spTgt>
                                        </p:tgtEl>
                                      </p:cBhvr>
                                    </p:animEffect>
                                  </p:childTnLst>
                                </p:cTn>
                              </p:par>
                              <p:par>
                                <p:cTn id="19" presetID="10" presetClass="entr" presetSubtype="0" fill="hold" grpId="0" nodeType="withEffect">
                                  <p:stCondLst>
                                    <p:cond delay="200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400"/>
                                        <p:tgtEl>
                                          <p:spTgt spid="4">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50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fade">
                                      <p:cBhvr>
                                        <p:cTn id="26" dur="400"/>
                                        <p:tgtEl>
                                          <p:spTgt spid="5">
                                            <p:txEl>
                                              <p:pRg st="0" end="0"/>
                                            </p:txEl>
                                          </p:spTgt>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fade">
                                      <p:cBhvr>
                                        <p:cTn id="29" dur="400"/>
                                        <p:tgtEl>
                                          <p:spTgt spid="6">
                                            <p:txEl>
                                              <p:pRg st="0" end="0"/>
                                            </p:txEl>
                                          </p:spTgt>
                                        </p:tgtEl>
                                      </p:cBhvr>
                                    </p:animEffect>
                                  </p:childTnLst>
                                </p:cTn>
                              </p:par>
                              <p:par>
                                <p:cTn id="30" presetID="10" presetClass="entr" presetSubtype="0" fill="hold" grpId="0" nodeType="withEffect">
                                  <p:stCondLst>
                                    <p:cond delay="200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fade">
                                      <p:cBhvr>
                                        <p:cTn id="32" dur="400"/>
                                        <p:tgtEl>
                                          <p:spTgt spid="6">
                                            <p:txEl>
                                              <p:pRg st="1" end="1"/>
                                            </p:txEl>
                                          </p:spTgt>
                                        </p:tgtEl>
                                      </p:cBhvr>
                                    </p:animEffect>
                                  </p:childTnLst>
                                </p:cTn>
                              </p:par>
                              <p:par>
                                <p:cTn id="33" presetID="10" presetClass="entr" presetSubtype="0" fill="hold" grpId="0" nodeType="withEffect">
                                  <p:stCondLst>
                                    <p:cond delay="200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fade">
                                      <p:cBhvr>
                                        <p:cTn id="35" dur="4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uiExpand="1" build="p"/>
      <p:bldP spid="5" grpId="0" build="p"/>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8CEB5-21CA-262D-9752-CCCC81351A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D39908-0978-00FB-189B-B269778AECD7}"/>
              </a:ext>
            </a:extLst>
          </p:cNvPr>
          <p:cNvSpPr>
            <a:spLocks noGrp="1"/>
          </p:cNvSpPr>
          <p:nvPr>
            <p:ph type="title"/>
          </p:nvPr>
        </p:nvSpPr>
        <p:spPr/>
        <p:txBody>
          <a:bodyPr/>
          <a:lstStyle/>
          <a:p>
            <a:pPr algn="ctr"/>
            <a:r>
              <a:rPr lang="en-US" dirty="0"/>
              <a:t>Scenario 2</a:t>
            </a:r>
          </a:p>
        </p:txBody>
      </p:sp>
      <p:sp>
        <p:nvSpPr>
          <p:cNvPr id="3" name="Text Placeholder 2">
            <a:extLst>
              <a:ext uri="{FF2B5EF4-FFF2-40B4-BE49-F238E27FC236}">
                <a16:creationId xmlns:a16="http://schemas.microsoft.com/office/drawing/2014/main" id="{042BF266-D26D-72B2-6DA3-7A53BB87A903}"/>
              </a:ext>
            </a:extLst>
          </p:cNvPr>
          <p:cNvSpPr>
            <a:spLocks noGrp="1"/>
          </p:cNvSpPr>
          <p:nvPr>
            <p:ph type="body" idx="1"/>
          </p:nvPr>
        </p:nvSpPr>
        <p:spPr/>
        <p:txBody>
          <a:bodyPr>
            <a:normAutofit/>
          </a:bodyPr>
          <a:lstStyle/>
          <a:p>
            <a:pPr algn="ctr"/>
            <a:r>
              <a:rPr lang="en-US" sz="1800" dirty="0"/>
              <a:t>AS-IS Scenario</a:t>
            </a:r>
          </a:p>
          <a:p>
            <a:endParaRPr lang="en-US" sz="1800" dirty="0"/>
          </a:p>
        </p:txBody>
      </p:sp>
      <p:sp>
        <p:nvSpPr>
          <p:cNvPr id="4" name="Content Placeholder 3">
            <a:extLst>
              <a:ext uri="{FF2B5EF4-FFF2-40B4-BE49-F238E27FC236}">
                <a16:creationId xmlns:a16="http://schemas.microsoft.com/office/drawing/2014/main" id="{5E2A6247-226A-3755-B44D-74804DE70D7D}"/>
              </a:ext>
            </a:extLst>
          </p:cNvPr>
          <p:cNvSpPr>
            <a:spLocks noGrp="1"/>
          </p:cNvSpPr>
          <p:nvPr>
            <p:ph sz="half" idx="2"/>
          </p:nvPr>
        </p:nvSpPr>
        <p:spPr/>
        <p:txBody>
          <a:bodyPr>
            <a:normAutofit/>
          </a:bodyPr>
          <a:lstStyle/>
          <a:p>
            <a:r>
              <a:rPr lang="en-US" sz="1800" dirty="0"/>
              <a:t>Alfred is heading to the 3rd-floor elevator after an evening lab when construction blocks the usual hallway.</a:t>
            </a:r>
          </a:p>
          <a:p>
            <a:r>
              <a:rPr lang="en-US" sz="1800" dirty="0"/>
              <a:t>After detouring, Alfred gets lost on the empty floor. </a:t>
            </a:r>
          </a:p>
          <a:p>
            <a:r>
              <a:rPr lang="en-US" sz="1800" dirty="0"/>
              <a:t>Stevie calls caretaker Bella, but Alfred can only say "somewhere on the 3rd floor," </a:t>
            </a:r>
          </a:p>
          <a:p>
            <a:r>
              <a:rPr lang="en-US" sz="1800" dirty="0"/>
              <a:t>Bella has to come search for Stevie.</a:t>
            </a:r>
          </a:p>
        </p:txBody>
      </p:sp>
      <p:sp>
        <p:nvSpPr>
          <p:cNvPr id="5" name="Text Placeholder 4">
            <a:extLst>
              <a:ext uri="{FF2B5EF4-FFF2-40B4-BE49-F238E27FC236}">
                <a16:creationId xmlns:a16="http://schemas.microsoft.com/office/drawing/2014/main" id="{BB18D4EC-BE72-08B0-8263-FAA11ACEC1F7}"/>
              </a:ext>
            </a:extLst>
          </p:cNvPr>
          <p:cNvSpPr>
            <a:spLocks noGrp="1"/>
          </p:cNvSpPr>
          <p:nvPr>
            <p:ph type="body" sz="quarter" idx="3"/>
          </p:nvPr>
        </p:nvSpPr>
        <p:spPr/>
        <p:txBody>
          <a:bodyPr>
            <a:normAutofit/>
          </a:bodyPr>
          <a:lstStyle/>
          <a:p>
            <a:pPr algn="ctr"/>
            <a:r>
              <a:rPr lang="en-US" sz="1800" dirty="0"/>
              <a:t>TO-BE Scenario</a:t>
            </a:r>
          </a:p>
          <a:p>
            <a:pPr algn="ctr"/>
            <a:endParaRPr lang="en-US" sz="1800" dirty="0"/>
          </a:p>
        </p:txBody>
      </p:sp>
      <p:sp>
        <p:nvSpPr>
          <p:cNvPr id="6" name="Content Placeholder 5">
            <a:extLst>
              <a:ext uri="{FF2B5EF4-FFF2-40B4-BE49-F238E27FC236}">
                <a16:creationId xmlns:a16="http://schemas.microsoft.com/office/drawing/2014/main" id="{420F7842-B5B4-D610-240F-27FF29E743EF}"/>
              </a:ext>
            </a:extLst>
          </p:cNvPr>
          <p:cNvSpPr>
            <a:spLocks noGrp="1"/>
          </p:cNvSpPr>
          <p:nvPr>
            <p:ph sz="quarter" idx="4"/>
          </p:nvPr>
        </p:nvSpPr>
        <p:spPr/>
        <p:txBody>
          <a:bodyPr>
            <a:normAutofit/>
          </a:bodyPr>
          <a:lstStyle/>
          <a:p>
            <a:r>
              <a:rPr lang="en-US" sz="1800" dirty="0"/>
              <a:t>Alfred tells THEIA "this way is blocked" and gets a detour. </a:t>
            </a:r>
          </a:p>
          <a:p>
            <a:r>
              <a:rPr lang="en-US" sz="1800" dirty="0"/>
              <a:t>When Alfred takes a wrong turn and THEIA misses the next beacon, it tells Alfred may be off route and offers to guide Alfred back to the last known location (Spark 233). </a:t>
            </a:r>
          </a:p>
          <a:p>
            <a:r>
              <a:rPr lang="en-US" sz="1800" dirty="0"/>
              <a:t>If Alfred had said "Help" or THEIA had detected a fall Alfred didn't respond to, it would text Bella that location and offer to call Bella or campus police.</a:t>
            </a:r>
          </a:p>
        </p:txBody>
      </p:sp>
    </p:spTree>
    <p:extLst>
      <p:ext uri="{BB962C8B-B14F-4D97-AF65-F5344CB8AC3E}">
        <p14:creationId xmlns:p14="http://schemas.microsoft.com/office/powerpoint/2010/main" val="3582484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childTnLst>
                                </p:cTn>
                              </p:par>
                              <p:par>
                                <p:cTn id="13" presetID="10" presetClass="entr" presetSubtype="0" fill="hold" grpId="0" nodeType="withEffect">
                                  <p:stCondLst>
                                    <p:cond delay="200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400"/>
                                        <p:tgtEl>
                                          <p:spTgt spid="4">
                                            <p:txEl>
                                              <p:pRg st="0" end="0"/>
                                            </p:txEl>
                                          </p:spTgt>
                                        </p:tgtEl>
                                      </p:cBhvr>
                                    </p:animEffect>
                                  </p:childTnLst>
                                </p:cTn>
                              </p:par>
                              <p:par>
                                <p:cTn id="16" presetID="10" presetClass="entr" presetSubtype="0" fill="hold" grpId="0" nodeType="withEffect">
                                  <p:stCondLst>
                                    <p:cond delay="200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400"/>
                                        <p:tgtEl>
                                          <p:spTgt spid="4">
                                            <p:txEl>
                                              <p:pRg st="1" end="1"/>
                                            </p:txEl>
                                          </p:spTgt>
                                        </p:tgtEl>
                                      </p:cBhvr>
                                    </p:animEffect>
                                  </p:childTnLst>
                                </p:cTn>
                              </p:par>
                              <p:par>
                                <p:cTn id="19" presetID="10" presetClass="entr" presetSubtype="0" fill="hold" grpId="0" nodeType="withEffect">
                                  <p:stCondLst>
                                    <p:cond delay="200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400"/>
                                        <p:tgtEl>
                                          <p:spTgt spid="4">
                                            <p:txEl>
                                              <p:pRg st="2" end="2"/>
                                            </p:txEl>
                                          </p:spTgt>
                                        </p:tgtEl>
                                      </p:cBhvr>
                                    </p:animEffect>
                                  </p:childTnLst>
                                </p:cTn>
                              </p:par>
                              <p:par>
                                <p:cTn id="22" presetID="10" presetClass="entr" presetSubtype="0" fill="hold" grpId="0" nodeType="withEffect">
                                  <p:stCondLst>
                                    <p:cond delay="200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400"/>
                                        <p:tgtEl>
                                          <p:spTgt spid="4">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500"/>
                                  </p:stCondLst>
                                  <p:childTnLst>
                                    <p:set>
                                      <p:cBhvr>
                                        <p:cTn id="28" dur="1" fill="hold">
                                          <p:stCondLst>
                                            <p:cond delay="0"/>
                                          </p:stCondLst>
                                        </p:cTn>
                                        <p:tgtEl>
                                          <p:spTgt spid="5">
                                            <p:txEl>
                                              <p:pRg st="0" end="0"/>
                                            </p:txEl>
                                          </p:spTgt>
                                        </p:tgtEl>
                                        <p:attrNameLst>
                                          <p:attrName>style.visibility</p:attrName>
                                        </p:attrNameLst>
                                      </p:cBhvr>
                                      <p:to>
                                        <p:strVal val="visible"/>
                                      </p:to>
                                    </p:set>
                                    <p:animEffect transition="in" filter="fade">
                                      <p:cBhvr>
                                        <p:cTn id="29" dur="400"/>
                                        <p:tgtEl>
                                          <p:spTgt spid="5">
                                            <p:txEl>
                                              <p:pRg st="0" end="0"/>
                                            </p:txEl>
                                          </p:spTgt>
                                        </p:tgtEl>
                                      </p:cBhvr>
                                    </p:animEffect>
                                  </p:childTnLst>
                                </p:cTn>
                              </p:par>
                              <p:par>
                                <p:cTn id="30" presetID="10" presetClass="entr" presetSubtype="0" fill="hold" grpId="0" nodeType="withEffect">
                                  <p:stCondLst>
                                    <p:cond delay="200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fade">
                                      <p:cBhvr>
                                        <p:cTn id="32" dur="400"/>
                                        <p:tgtEl>
                                          <p:spTgt spid="6">
                                            <p:txEl>
                                              <p:pRg st="0" end="0"/>
                                            </p:txEl>
                                          </p:spTgt>
                                        </p:tgtEl>
                                      </p:cBhvr>
                                    </p:animEffect>
                                  </p:childTnLst>
                                </p:cTn>
                              </p:par>
                              <p:par>
                                <p:cTn id="33" presetID="10" presetClass="entr" presetSubtype="0" fill="hold" grpId="0" nodeType="withEffect">
                                  <p:stCondLst>
                                    <p:cond delay="2000"/>
                                  </p:stCondLst>
                                  <p:childTnLst>
                                    <p:set>
                                      <p:cBhvr>
                                        <p:cTn id="34" dur="1" fill="hold">
                                          <p:stCondLst>
                                            <p:cond delay="0"/>
                                          </p:stCondLst>
                                        </p:cTn>
                                        <p:tgtEl>
                                          <p:spTgt spid="6">
                                            <p:txEl>
                                              <p:pRg st="1" end="1"/>
                                            </p:txEl>
                                          </p:spTgt>
                                        </p:tgtEl>
                                        <p:attrNameLst>
                                          <p:attrName>style.visibility</p:attrName>
                                        </p:attrNameLst>
                                      </p:cBhvr>
                                      <p:to>
                                        <p:strVal val="visible"/>
                                      </p:to>
                                    </p:set>
                                    <p:animEffect transition="in" filter="fade">
                                      <p:cBhvr>
                                        <p:cTn id="35" dur="400"/>
                                        <p:tgtEl>
                                          <p:spTgt spid="6">
                                            <p:txEl>
                                              <p:pRg st="1" end="1"/>
                                            </p:txEl>
                                          </p:spTgt>
                                        </p:tgtEl>
                                      </p:cBhvr>
                                    </p:animEffect>
                                  </p:childTnLst>
                                </p:cTn>
                              </p:par>
                              <p:par>
                                <p:cTn id="36" presetID="10" presetClass="entr" presetSubtype="0" fill="hold" grpId="0" nodeType="withEffect">
                                  <p:stCondLst>
                                    <p:cond delay="2000"/>
                                  </p:stCondLst>
                                  <p:childTnLst>
                                    <p:set>
                                      <p:cBhvr>
                                        <p:cTn id="37" dur="1" fill="hold">
                                          <p:stCondLst>
                                            <p:cond delay="0"/>
                                          </p:stCondLst>
                                        </p:cTn>
                                        <p:tgtEl>
                                          <p:spTgt spid="6">
                                            <p:txEl>
                                              <p:pRg st="2" end="2"/>
                                            </p:txEl>
                                          </p:spTgt>
                                        </p:tgtEl>
                                        <p:attrNameLst>
                                          <p:attrName>style.visibility</p:attrName>
                                        </p:attrNameLst>
                                      </p:cBhvr>
                                      <p:to>
                                        <p:strVal val="visible"/>
                                      </p:to>
                                    </p:set>
                                    <p:animEffect transition="in" filter="fade">
                                      <p:cBhvr>
                                        <p:cTn id="38" dur="4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P spid="5" grpId="0" build="p"/>
      <p:bldP spid="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882BD-BCAC-A4E5-E322-A43211831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9C012-AB2B-73D2-C9F3-0096891D09DB}"/>
              </a:ext>
            </a:extLst>
          </p:cNvPr>
          <p:cNvSpPr>
            <a:spLocks noGrp="1"/>
          </p:cNvSpPr>
          <p:nvPr>
            <p:ph type="title"/>
          </p:nvPr>
        </p:nvSpPr>
        <p:spPr/>
        <p:txBody>
          <a:bodyPr/>
          <a:lstStyle/>
          <a:p>
            <a:pPr algn="ctr"/>
            <a:r>
              <a:rPr lang="en-US" dirty="0"/>
              <a:t>Scenario 3</a:t>
            </a:r>
          </a:p>
        </p:txBody>
      </p:sp>
      <p:sp>
        <p:nvSpPr>
          <p:cNvPr id="3" name="Text Placeholder 2">
            <a:extLst>
              <a:ext uri="{FF2B5EF4-FFF2-40B4-BE49-F238E27FC236}">
                <a16:creationId xmlns:a16="http://schemas.microsoft.com/office/drawing/2014/main" id="{15E1A83F-6710-DDE7-0981-9D044677C77C}"/>
              </a:ext>
            </a:extLst>
          </p:cNvPr>
          <p:cNvSpPr>
            <a:spLocks noGrp="1"/>
          </p:cNvSpPr>
          <p:nvPr>
            <p:ph type="body" idx="1"/>
          </p:nvPr>
        </p:nvSpPr>
        <p:spPr/>
        <p:txBody>
          <a:bodyPr>
            <a:normAutofit/>
          </a:bodyPr>
          <a:lstStyle/>
          <a:p>
            <a:pPr algn="ctr"/>
            <a:r>
              <a:rPr lang="en-US" sz="1800" dirty="0"/>
              <a:t>AS-IS Scenario</a:t>
            </a:r>
          </a:p>
          <a:p>
            <a:endParaRPr lang="en-US" sz="1800" dirty="0"/>
          </a:p>
        </p:txBody>
      </p:sp>
      <p:sp>
        <p:nvSpPr>
          <p:cNvPr id="4" name="Content Placeholder 3">
            <a:extLst>
              <a:ext uri="{FF2B5EF4-FFF2-40B4-BE49-F238E27FC236}">
                <a16:creationId xmlns:a16="http://schemas.microsoft.com/office/drawing/2014/main" id="{8636B13F-E58E-1A81-8738-7EE7C620A289}"/>
              </a:ext>
            </a:extLst>
          </p:cNvPr>
          <p:cNvSpPr>
            <a:spLocks noGrp="1"/>
          </p:cNvSpPr>
          <p:nvPr>
            <p:ph sz="half" idx="2"/>
          </p:nvPr>
        </p:nvSpPr>
        <p:spPr/>
        <p:txBody>
          <a:bodyPr>
            <a:normAutofit/>
          </a:bodyPr>
          <a:lstStyle/>
          <a:p>
            <a:r>
              <a:rPr lang="en-US" sz="1800" dirty="0"/>
              <a:t>Mark comes out of his class with a white cane to feel around his surroundings, he needs to reach TFLO 131 from TFLO 239.</a:t>
            </a:r>
          </a:p>
          <a:p>
            <a:r>
              <a:rPr lang="en-US" sz="1800" dirty="0"/>
              <a:t>He arrives at a stairwell and is carrying heavy equipment to prepare for his upcoming class and can’t walk down with that load, he tries to find an elevator but without audio cues to navigate him, he makes 3 wrong turns at the corridor to reach the elevator call button.</a:t>
            </a:r>
          </a:p>
          <a:p>
            <a:r>
              <a:rPr lang="en-US" sz="1800" dirty="0"/>
              <a:t>He asks a nearby student to point him in the right direction between the two floors.</a:t>
            </a:r>
          </a:p>
          <a:p>
            <a:r>
              <a:rPr lang="en-US" sz="1800" dirty="0"/>
              <a:t>He arrives at his class 10 minutes late due to taking an inefficient path to reach the class.</a:t>
            </a:r>
          </a:p>
        </p:txBody>
      </p:sp>
      <p:sp>
        <p:nvSpPr>
          <p:cNvPr id="5" name="Text Placeholder 4">
            <a:extLst>
              <a:ext uri="{FF2B5EF4-FFF2-40B4-BE49-F238E27FC236}">
                <a16:creationId xmlns:a16="http://schemas.microsoft.com/office/drawing/2014/main" id="{F828B628-1050-BF38-F339-70EF6AEDBECC}"/>
              </a:ext>
            </a:extLst>
          </p:cNvPr>
          <p:cNvSpPr>
            <a:spLocks noGrp="1"/>
          </p:cNvSpPr>
          <p:nvPr>
            <p:ph type="body" sz="quarter" idx="3"/>
          </p:nvPr>
        </p:nvSpPr>
        <p:spPr/>
        <p:txBody>
          <a:bodyPr>
            <a:normAutofit/>
          </a:bodyPr>
          <a:lstStyle/>
          <a:p>
            <a:pPr algn="ctr"/>
            <a:r>
              <a:rPr lang="en-US" sz="1800" dirty="0"/>
              <a:t>TO-BE Scenario</a:t>
            </a:r>
          </a:p>
          <a:p>
            <a:pPr algn="ctr"/>
            <a:endParaRPr lang="en-US" sz="1800" dirty="0"/>
          </a:p>
        </p:txBody>
      </p:sp>
      <p:sp>
        <p:nvSpPr>
          <p:cNvPr id="6" name="Content Placeholder 5">
            <a:extLst>
              <a:ext uri="{FF2B5EF4-FFF2-40B4-BE49-F238E27FC236}">
                <a16:creationId xmlns:a16="http://schemas.microsoft.com/office/drawing/2014/main" id="{DFC35B34-EDAB-475F-7430-F1824D5E60A7}"/>
              </a:ext>
            </a:extLst>
          </p:cNvPr>
          <p:cNvSpPr>
            <a:spLocks noGrp="1"/>
          </p:cNvSpPr>
          <p:nvPr>
            <p:ph sz="quarter" idx="4"/>
          </p:nvPr>
        </p:nvSpPr>
        <p:spPr/>
        <p:txBody>
          <a:bodyPr>
            <a:normAutofit/>
          </a:bodyPr>
          <a:lstStyle/>
          <a:p>
            <a:r>
              <a:rPr lang="en-US" sz="1800" dirty="0"/>
              <a:t>Mark calls THEIA to take him to TFLO 131 stating “THEIA, lead me to TFLO 131 via elevator”</a:t>
            </a:r>
          </a:p>
          <a:p>
            <a:r>
              <a:rPr lang="en-US" sz="1800" dirty="0"/>
              <a:t>THEIA guides Mark with the fastest route, in this case fastest being considered the shortest accessible route with minimal turns and distance to reach the elevator</a:t>
            </a:r>
          </a:p>
          <a:p>
            <a:r>
              <a:rPr lang="en-US" sz="1800" dirty="0"/>
              <a:t>Audio cues is used to pinpoint Mark down to the elevator mentioning the distance before directing the next direction, and provides haptic pulses to arriving the elevator</a:t>
            </a:r>
          </a:p>
          <a:p>
            <a:r>
              <a:rPr lang="en-US" sz="1800" dirty="0"/>
              <a:t>When reached to floor 1 of TFLO, THEIA switches maps to current floor and continues to use audio cues to reach his class on time.</a:t>
            </a:r>
          </a:p>
        </p:txBody>
      </p:sp>
    </p:spTree>
    <p:extLst>
      <p:ext uri="{BB962C8B-B14F-4D97-AF65-F5344CB8AC3E}">
        <p14:creationId xmlns:p14="http://schemas.microsoft.com/office/powerpoint/2010/main" val="200486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childTnLst>
                                </p:cTn>
                              </p:par>
                              <p:par>
                                <p:cTn id="13" presetID="10" presetClass="entr" presetSubtype="0" fill="hold" grpId="0" nodeType="withEffect">
                                  <p:stCondLst>
                                    <p:cond delay="200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400"/>
                                        <p:tgtEl>
                                          <p:spTgt spid="4">
                                            <p:txEl>
                                              <p:pRg st="0" end="0"/>
                                            </p:txEl>
                                          </p:spTgt>
                                        </p:tgtEl>
                                      </p:cBhvr>
                                    </p:animEffect>
                                  </p:childTnLst>
                                </p:cTn>
                              </p:par>
                              <p:par>
                                <p:cTn id="16" presetID="10" presetClass="entr" presetSubtype="0" fill="hold" grpId="0" nodeType="withEffect">
                                  <p:stCondLst>
                                    <p:cond delay="200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400"/>
                                        <p:tgtEl>
                                          <p:spTgt spid="4">
                                            <p:txEl>
                                              <p:pRg st="1" end="1"/>
                                            </p:txEl>
                                          </p:spTgt>
                                        </p:tgtEl>
                                      </p:cBhvr>
                                    </p:animEffect>
                                  </p:childTnLst>
                                </p:cTn>
                              </p:par>
                              <p:par>
                                <p:cTn id="19" presetID="10" presetClass="entr" presetSubtype="0" fill="hold" grpId="0" nodeType="withEffect">
                                  <p:stCondLst>
                                    <p:cond delay="200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400"/>
                                        <p:tgtEl>
                                          <p:spTgt spid="4">
                                            <p:txEl>
                                              <p:pRg st="2" end="2"/>
                                            </p:txEl>
                                          </p:spTgt>
                                        </p:tgtEl>
                                      </p:cBhvr>
                                    </p:animEffect>
                                  </p:childTnLst>
                                </p:cTn>
                              </p:par>
                              <p:par>
                                <p:cTn id="22" presetID="10" presetClass="entr" presetSubtype="0" fill="hold" grpId="0" nodeType="withEffect">
                                  <p:stCondLst>
                                    <p:cond delay="200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400"/>
                                        <p:tgtEl>
                                          <p:spTgt spid="4">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500"/>
                                  </p:stCondLst>
                                  <p:childTnLst>
                                    <p:set>
                                      <p:cBhvr>
                                        <p:cTn id="28" dur="1" fill="hold">
                                          <p:stCondLst>
                                            <p:cond delay="0"/>
                                          </p:stCondLst>
                                        </p:cTn>
                                        <p:tgtEl>
                                          <p:spTgt spid="5">
                                            <p:txEl>
                                              <p:pRg st="0" end="0"/>
                                            </p:txEl>
                                          </p:spTgt>
                                        </p:tgtEl>
                                        <p:attrNameLst>
                                          <p:attrName>style.visibility</p:attrName>
                                        </p:attrNameLst>
                                      </p:cBhvr>
                                      <p:to>
                                        <p:strVal val="visible"/>
                                      </p:to>
                                    </p:set>
                                    <p:animEffect transition="in" filter="fade">
                                      <p:cBhvr>
                                        <p:cTn id="29" dur="400"/>
                                        <p:tgtEl>
                                          <p:spTgt spid="5">
                                            <p:txEl>
                                              <p:pRg st="0" end="0"/>
                                            </p:txEl>
                                          </p:spTgt>
                                        </p:tgtEl>
                                      </p:cBhvr>
                                    </p:animEffect>
                                  </p:childTnLst>
                                </p:cTn>
                              </p:par>
                              <p:par>
                                <p:cTn id="30" presetID="10" presetClass="entr" presetSubtype="0" fill="hold" grpId="0" nodeType="withEffect">
                                  <p:stCondLst>
                                    <p:cond delay="200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fade">
                                      <p:cBhvr>
                                        <p:cTn id="32" dur="400"/>
                                        <p:tgtEl>
                                          <p:spTgt spid="6">
                                            <p:txEl>
                                              <p:pRg st="0" end="0"/>
                                            </p:txEl>
                                          </p:spTgt>
                                        </p:tgtEl>
                                      </p:cBhvr>
                                    </p:animEffect>
                                  </p:childTnLst>
                                </p:cTn>
                              </p:par>
                              <p:par>
                                <p:cTn id="33" presetID="10" presetClass="entr" presetSubtype="0" fill="hold" grpId="0" nodeType="withEffect">
                                  <p:stCondLst>
                                    <p:cond delay="2000"/>
                                  </p:stCondLst>
                                  <p:childTnLst>
                                    <p:set>
                                      <p:cBhvr>
                                        <p:cTn id="34" dur="1" fill="hold">
                                          <p:stCondLst>
                                            <p:cond delay="0"/>
                                          </p:stCondLst>
                                        </p:cTn>
                                        <p:tgtEl>
                                          <p:spTgt spid="6">
                                            <p:txEl>
                                              <p:pRg st="1" end="1"/>
                                            </p:txEl>
                                          </p:spTgt>
                                        </p:tgtEl>
                                        <p:attrNameLst>
                                          <p:attrName>style.visibility</p:attrName>
                                        </p:attrNameLst>
                                      </p:cBhvr>
                                      <p:to>
                                        <p:strVal val="visible"/>
                                      </p:to>
                                    </p:set>
                                    <p:animEffect transition="in" filter="fade">
                                      <p:cBhvr>
                                        <p:cTn id="35" dur="400"/>
                                        <p:tgtEl>
                                          <p:spTgt spid="6">
                                            <p:txEl>
                                              <p:pRg st="1" end="1"/>
                                            </p:txEl>
                                          </p:spTgt>
                                        </p:tgtEl>
                                      </p:cBhvr>
                                    </p:animEffect>
                                  </p:childTnLst>
                                </p:cTn>
                              </p:par>
                              <p:par>
                                <p:cTn id="36" presetID="10" presetClass="entr" presetSubtype="0" fill="hold" grpId="0" nodeType="withEffect">
                                  <p:stCondLst>
                                    <p:cond delay="2000"/>
                                  </p:stCondLst>
                                  <p:childTnLst>
                                    <p:set>
                                      <p:cBhvr>
                                        <p:cTn id="37" dur="1" fill="hold">
                                          <p:stCondLst>
                                            <p:cond delay="0"/>
                                          </p:stCondLst>
                                        </p:cTn>
                                        <p:tgtEl>
                                          <p:spTgt spid="6">
                                            <p:txEl>
                                              <p:pRg st="2" end="2"/>
                                            </p:txEl>
                                          </p:spTgt>
                                        </p:tgtEl>
                                        <p:attrNameLst>
                                          <p:attrName>style.visibility</p:attrName>
                                        </p:attrNameLst>
                                      </p:cBhvr>
                                      <p:to>
                                        <p:strVal val="visible"/>
                                      </p:to>
                                    </p:set>
                                    <p:animEffect transition="in" filter="fade">
                                      <p:cBhvr>
                                        <p:cTn id="38" dur="400"/>
                                        <p:tgtEl>
                                          <p:spTgt spid="6">
                                            <p:txEl>
                                              <p:pRg st="2" end="2"/>
                                            </p:txEl>
                                          </p:spTgt>
                                        </p:tgtEl>
                                      </p:cBhvr>
                                    </p:animEffect>
                                  </p:childTnLst>
                                </p:cTn>
                              </p:par>
                              <p:par>
                                <p:cTn id="39" presetID="10" presetClass="entr" presetSubtype="0" fill="hold" grpId="0" nodeType="withEffect">
                                  <p:stCondLst>
                                    <p:cond delay="2000"/>
                                  </p:stCondLst>
                                  <p:childTnLst>
                                    <p:set>
                                      <p:cBhvr>
                                        <p:cTn id="40" dur="1" fill="hold">
                                          <p:stCondLst>
                                            <p:cond delay="0"/>
                                          </p:stCondLst>
                                        </p:cTn>
                                        <p:tgtEl>
                                          <p:spTgt spid="6">
                                            <p:txEl>
                                              <p:pRg st="3" end="3"/>
                                            </p:txEl>
                                          </p:spTgt>
                                        </p:tgtEl>
                                        <p:attrNameLst>
                                          <p:attrName>style.visibility</p:attrName>
                                        </p:attrNameLst>
                                      </p:cBhvr>
                                      <p:to>
                                        <p:strVal val="visible"/>
                                      </p:to>
                                    </p:set>
                                    <p:animEffect transition="in" filter="fade">
                                      <p:cBhvr>
                                        <p:cTn id="41" dur="4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P spid="5" grpId="0" build="p"/>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09613-F5ED-1452-1A1D-2609BF90A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C4DF9-074E-57F4-79A7-BBA3107239C1}"/>
              </a:ext>
            </a:extLst>
          </p:cNvPr>
          <p:cNvSpPr>
            <a:spLocks noGrp="1"/>
          </p:cNvSpPr>
          <p:nvPr>
            <p:ph type="title"/>
          </p:nvPr>
        </p:nvSpPr>
        <p:spPr/>
        <p:txBody>
          <a:bodyPr/>
          <a:lstStyle/>
          <a:p>
            <a:pPr algn="ctr"/>
            <a:r>
              <a:rPr lang="en-US" dirty="0"/>
              <a:t>Scenario 4</a:t>
            </a:r>
          </a:p>
        </p:txBody>
      </p:sp>
      <p:sp>
        <p:nvSpPr>
          <p:cNvPr id="3" name="Text Placeholder 2">
            <a:extLst>
              <a:ext uri="{FF2B5EF4-FFF2-40B4-BE49-F238E27FC236}">
                <a16:creationId xmlns:a16="http://schemas.microsoft.com/office/drawing/2014/main" id="{26C31B03-B127-61FE-1BF8-9055ED5E2236}"/>
              </a:ext>
            </a:extLst>
          </p:cNvPr>
          <p:cNvSpPr>
            <a:spLocks noGrp="1"/>
          </p:cNvSpPr>
          <p:nvPr>
            <p:ph type="body" idx="1"/>
          </p:nvPr>
        </p:nvSpPr>
        <p:spPr/>
        <p:txBody>
          <a:bodyPr>
            <a:normAutofit/>
          </a:bodyPr>
          <a:lstStyle/>
          <a:p>
            <a:pPr algn="ctr"/>
            <a:r>
              <a:rPr lang="en-US" sz="1800" dirty="0"/>
              <a:t>AS-IS Scenario</a:t>
            </a:r>
          </a:p>
          <a:p>
            <a:endParaRPr lang="en-US" sz="1800" dirty="0"/>
          </a:p>
        </p:txBody>
      </p:sp>
      <p:sp>
        <p:nvSpPr>
          <p:cNvPr id="4" name="Content Placeholder 3">
            <a:extLst>
              <a:ext uri="{FF2B5EF4-FFF2-40B4-BE49-F238E27FC236}">
                <a16:creationId xmlns:a16="http://schemas.microsoft.com/office/drawing/2014/main" id="{CADD4DE7-BC4E-0697-D6C8-3B93FAD982E7}"/>
              </a:ext>
            </a:extLst>
          </p:cNvPr>
          <p:cNvSpPr>
            <a:spLocks noGrp="1"/>
          </p:cNvSpPr>
          <p:nvPr>
            <p:ph sz="half" idx="2"/>
          </p:nvPr>
        </p:nvSpPr>
        <p:spPr/>
        <p:txBody>
          <a:bodyPr>
            <a:normAutofit lnSpcReduction="10000"/>
          </a:bodyPr>
          <a:lstStyle/>
          <a:p>
            <a:r>
              <a:rPr lang="en-US" sz="1800" dirty="0"/>
              <a:t>Elena wants to reach to the cafeteria using standard audio maps to guide her</a:t>
            </a:r>
          </a:p>
          <a:p>
            <a:r>
              <a:rPr lang="en-US" sz="1800" dirty="0"/>
              <a:t>The system of the standard audio map uses an interval of 3 seconds to produce an audio sound, but it becomes difficult to hear when there is constant background noise preventing in hearing the audio. </a:t>
            </a:r>
          </a:p>
          <a:p>
            <a:r>
              <a:rPr lang="en-US" sz="1800" dirty="0"/>
              <a:t>She wants to adjust the frequency of the interval along with being able to switch between the standard mode to high caution mode to avoid potential areas that can cause delays, but she isn’t able to due to the complexity of the application and only her caretaker is able to set it up beforehand on a different device.</a:t>
            </a:r>
          </a:p>
        </p:txBody>
      </p:sp>
      <p:sp>
        <p:nvSpPr>
          <p:cNvPr id="5" name="Text Placeholder 4">
            <a:extLst>
              <a:ext uri="{FF2B5EF4-FFF2-40B4-BE49-F238E27FC236}">
                <a16:creationId xmlns:a16="http://schemas.microsoft.com/office/drawing/2014/main" id="{D6005700-9AAA-4FB7-DD5D-E573DFA52E9D}"/>
              </a:ext>
            </a:extLst>
          </p:cNvPr>
          <p:cNvSpPr>
            <a:spLocks noGrp="1"/>
          </p:cNvSpPr>
          <p:nvPr>
            <p:ph type="body" sz="quarter" idx="3"/>
          </p:nvPr>
        </p:nvSpPr>
        <p:spPr/>
        <p:txBody>
          <a:bodyPr>
            <a:normAutofit/>
          </a:bodyPr>
          <a:lstStyle/>
          <a:p>
            <a:pPr algn="ctr"/>
            <a:r>
              <a:rPr lang="en-US" sz="1800" dirty="0"/>
              <a:t>TO-BE Scenario</a:t>
            </a:r>
          </a:p>
          <a:p>
            <a:pPr algn="ctr"/>
            <a:endParaRPr lang="en-US" sz="1800" dirty="0"/>
          </a:p>
        </p:txBody>
      </p:sp>
      <p:sp>
        <p:nvSpPr>
          <p:cNvPr id="6" name="Content Placeholder 5">
            <a:extLst>
              <a:ext uri="{FF2B5EF4-FFF2-40B4-BE49-F238E27FC236}">
                <a16:creationId xmlns:a16="http://schemas.microsoft.com/office/drawing/2014/main" id="{284DD384-5A8D-63C5-2FEF-589BBEC09155}"/>
              </a:ext>
            </a:extLst>
          </p:cNvPr>
          <p:cNvSpPr>
            <a:spLocks noGrp="1"/>
          </p:cNvSpPr>
          <p:nvPr>
            <p:ph sz="quarter" idx="4"/>
          </p:nvPr>
        </p:nvSpPr>
        <p:spPr/>
        <p:txBody>
          <a:bodyPr>
            <a:normAutofit lnSpcReduction="10000"/>
          </a:bodyPr>
          <a:lstStyle/>
          <a:p>
            <a:r>
              <a:rPr lang="en-US" sz="1800" dirty="0"/>
              <a:t>Elena asks THEIA, “I’m heading to lunch at the cafeteria”, and afterwards confirms location by tapping her phone screen twice</a:t>
            </a:r>
          </a:p>
          <a:p>
            <a:r>
              <a:rPr lang="en-US" sz="1800" dirty="0"/>
              <a:t>She then confirms comfortable mode via voice command in which increases audio frequency interval and routes a path that has less of a crowd in the hallways</a:t>
            </a:r>
          </a:p>
          <a:p>
            <a:r>
              <a:rPr lang="en-US" sz="1800" dirty="0"/>
              <a:t>THEIA balances the modes from the caretaker's primary role with setting master safety controls for Elena like emergency contacts for incidents, while Elena can customize user-level preferences on the fly with audio cue frequency, haptic feedback levels, and audio level.</a:t>
            </a:r>
          </a:p>
        </p:txBody>
      </p:sp>
    </p:spTree>
    <p:extLst>
      <p:ext uri="{BB962C8B-B14F-4D97-AF65-F5344CB8AC3E}">
        <p14:creationId xmlns:p14="http://schemas.microsoft.com/office/powerpoint/2010/main" val="3641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childTnLst>
                                </p:cTn>
                              </p:par>
                              <p:par>
                                <p:cTn id="13" presetID="10" presetClass="entr" presetSubtype="0" fill="hold" grpId="0" nodeType="withEffect">
                                  <p:stCondLst>
                                    <p:cond delay="200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400"/>
                                        <p:tgtEl>
                                          <p:spTgt spid="4">
                                            <p:txEl>
                                              <p:pRg st="0" end="0"/>
                                            </p:txEl>
                                          </p:spTgt>
                                        </p:tgtEl>
                                      </p:cBhvr>
                                    </p:animEffect>
                                  </p:childTnLst>
                                </p:cTn>
                              </p:par>
                              <p:par>
                                <p:cTn id="16" presetID="10" presetClass="entr" presetSubtype="0" fill="hold" grpId="0" nodeType="withEffect">
                                  <p:stCondLst>
                                    <p:cond delay="200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400"/>
                                        <p:tgtEl>
                                          <p:spTgt spid="4">
                                            <p:txEl>
                                              <p:pRg st="1" end="1"/>
                                            </p:txEl>
                                          </p:spTgt>
                                        </p:tgtEl>
                                      </p:cBhvr>
                                    </p:animEffect>
                                  </p:childTnLst>
                                </p:cTn>
                              </p:par>
                              <p:par>
                                <p:cTn id="19" presetID="10" presetClass="entr" presetSubtype="0" fill="hold" grpId="0" nodeType="withEffect">
                                  <p:stCondLst>
                                    <p:cond delay="200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400"/>
                                        <p:tgtEl>
                                          <p:spTgt spid="4">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50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fade">
                                      <p:cBhvr>
                                        <p:cTn id="26" dur="400"/>
                                        <p:tgtEl>
                                          <p:spTgt spid="5">
                                            <p:txEl>
                                              <p:pRg st="0" end="0"/>
                                            </p:txEl>
                                          </p:spTgt>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fade">
                                      <p:cBhvr>
                                        <p:cTn id="29" dur="400"/>
                                        <p:tgtEl>
                                          <p:spTgt spid="6">
                                            <p:txEl>
                                              <p:pRg st="0" end="0"/>
                                            </p:txEl>
                                          </p:spTgt>
                                        </p:tgtEl>
                                      </p:cBhvr>
                                    </p:animEffect>
                                  </p:childTnLst>
                                </p:cTn>
                              </p:par>
                              <p:par>
                                <p:cTn id="30" presetID="10" presetClass="entr" presetSubtype="0" fill="hold" grpId="0" nodeType="withEffect">
                                  <p:stCondLst>
                                    <p:cond delay="200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fade">
                                      <p:cBhvr>
                                        <p:cTn id="32" dur="400"/>
                                        <p:tgtEl>
                                          <p:spTgt spid="6">
                                            <p:txEl>
                                              <p:pRg st="1" end="1"/>
                                            </p:txEl>
                                          </p:spTgt>
                                        </p:tgtEl>
                                      </p:cBhvr>
                                    </p:animEffect>
                                  </p:childTnLst>
                                </p:cTn>
                              </p:par>
                              <p:par>
                                <p:cTn id="33" presetID="10" presetClass="entr" presetSubtype="0" fill="hold" grpId="0" nodeType="withEffect">
                                  <p:stCondLst>
                                    <p:cond delay="200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fade">
                                      <p:cBhvr>
                                        <p:cTn id="35" dur="4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uiExpand="1" build="p"/>
      <p:bldP spid="5" grpId="0" build="p"/>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24F778-81C0-88BB-BF15-48744463E4D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38F5530-DA31-4B62-8DF9-56A1A3B6B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AEFAF95-013F-4375-AAF4-033AC93F5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8735E28-7236-42D8-A5E1-A0F302FE8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F3642881-D4B2-4CC2-A287-0FA0006F3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01C50C6-CC43-4D9E-B2AB-F373712E4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6E7187D-0938-461D-BFC5-89EEF3506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34C951A-9754-438B-9D57-E6B93B6E4C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FCCC8FCE-0563-4147-B2A2-7C81702EB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E68FC26-41A9-4C82-BE7F-E9344CDC4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FBB336D1-2562-4680-B29B-E22C603C0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9EED3885-4010-4FBE-A045-DC59CAE782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C3D74F45-ED22-46E8-8A8C-85550ED981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F675583-78ED-4BEC-8424-37068227E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9BD9726-207D-4725-AA6E-5147080D5B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1A43941-4783-4A0B-9385-1952F9F89D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B4806F9C-3233-4FC3-B300-D5AA58A5C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70E3F9FC-BB7B-433D-8A4F-1BCFA582E0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1406F394-9D6F-4986-A3AF-6EF16DEDE6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4F98CF1-0C8F-435D-846B-D3C506378F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781ACDD-4A0F-4369-A468-3FEC355F8E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BB34D61-E762-4862-9DA8-702D97A362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EC0EC56-83C4-A9F3-53CF-50277910B4BA}"/>
              </a:ext>
            </a:extLst>
          </p:cNvPr>
          <p:cNvSpPr>
            <a:spLocks noGrp="1"/>
          </p:cNvSpPr>
          <p:nvPr>
            <p:ph type="title"/>
          </p:nvPr>
        </p:nvSpPr>
        <p:spPr>
          <a:xfrm>
            <a:off x="630936" y="630936"/>
            <a:ext cx="5465064" cy="5626947"/>
          </a:xfrm>
          <a:noFill/>
        </p:spPr>
        <p:txBody>
          <a:bodyPr anchor="ctr">
            <a:normAutofit/>
          </a:bodyPr>
          <a:lstStyle/>
          <a:p>
            <a:r>
              <a:rPr lang="en-US" sz="4800" dirty="0">
                <a:solidFill>
                  <a:schemeClr val="bg1"/>
                </a:solidFill>
              </a:rPr>
              <a:t>Top Priority Scenario</a:t>
            </a:r>
            <a:br>
              <a:rPr lang="en-US" sz="4800" dirty="0">
                <a:solidFill>
                  <a:schemeClr val="bg1"/>
                </a:solidFill>
              </a:rPr>
            </a:br>
            <a:r>
              <a:rPr lang="en-US" sz="4800" dirty="0">
                <a:solidFill>
                  <a:schemeClr val="bg1"/>
                </a:solidFill>
              </a:rPr>
              <a:t>Scenario 2</a:t>
            </a:r>
          </a:p>
        </p:txBody>
      </p:sp>
      <p:sp>
        <p:nvSpPr>
          <p:cNvPr id="3" name="Text Placeholder 2">
            <a:extLst>
              <a:ext uri="{FF2B5EF4-FFF2-40B4-BE49-F238E27FC236}">
                <a16:creationId xmlns:a16="http://schemas.microsoft.com/office/drawing/2014/main" id="{20412452-832C-323E-F4A0-23654058DE24}"/>
              </a:ext>
            </a:extLst>
          </p:cNvPr>
          <p:cNvSpPr>
            <a:spLocks noGrp="1"/>
          </p:cNvSpPr>
          <p:nvPr>
            <p:ph idx="1"/>
          </p:nvPr>
        </p:nvSpPr>
        <p:spPr>
          <a:xfrm>
            <a:off x="6502152" y="630936"/>
            <a:ext cx="4978592" cy="5626957"/>
          </a:xfrm>
          <a:noFill/>
        </p:spPr>
        <p:txBody>
          <a:bodyPr anchor="ctr">
            <a:normAutofit/>
          </a:bodyPr>
          <a:lstStyle/>
          <a:p>
            <a:pPr marL="0" indent="0">
              <a:buNone/>
            </a:pPr>
            <a:r>
              <a:rPr lang="en-US" sz="1500" dirty="0">
                <a:solidFill>
                  <a:schemeClr val="bg1"/>
                </a:solidFill>
              </a:rPr>
              <a:t>Who:</a:t>
            </a:r>
          </a:p>
          <a:p>
            <a:pPr marL="0" indent="0">
              <a:buNone/>
            </a:pPr>
            <a:r>
              <a:rPr lang="en-US" sz="1500" dirty="0">
                <a:solidFill>
                  <a:schemeClr val="bg1"/>
                </a:solidFill>
              </a:rPr>
              <a:t>Blind User</a:t>
            </a:r>
          </a:p>
          <a:p>
            <a:pPr marL="0" indent="0">
              <a:buNone/>
            </a:pPr>
            <a:r>
              <a:rPr lang="en-US" sz="1500" dirty="0">
                <a:solidFill>
                  <a:schemeClr val="bg1"/>
                </a:solidFill>
                <a:sym typeface="Wingdings" panose="05000000000000000000" pitchFamily="2" charset="2"/>
              </a:rPr>
              <a:t>What:</a:t>
            </a:r>
          </a:p>
          <a:p>
            <a:pPr marL="0" indent="0">
              <a:buNone/>
            </a:pPr>
            <a:r>
              <a:rPr lang="en-US" sz="1500" dirty="0">
                <a:solidFill>
                  <a:schemeClr val="bg1"/>
                </a:solidFill>
                <a:sym typeface="Wingdings" panose="05000000000000000000" pitchFamily="2" charset="2"/>
              </a:rPr>
              <a:t>The user deviates from planned route/becomes lost and needs assistance</a:t>
            </a:r>
          </a:p>
          <a:p>
            <a:pPr marL="0" indent="0">
              <a:buNone/>
            </a:pPr>
            <a:r>
              <a:rPr lang="en-US" sz="1500" dirty="0">
                <a:solidFill>
                  <a:schemeClr val="bg1"/>
                </a:solidFill>
                <a:sym typeface="Wingdings" panose="05000000000000000000" pitchFamily="2" charset="2"/>
              </a:rPr>
              <a:t>Why:</a:t>
            </a:r>
          </a:p>
          <a:p>
            <a:pPr marL="0" indent="0">
              <a:buNone/>
            </a:pPr>
            <a:r>
              <a:rPr lang="en-US" sz="1500" dirty="0">
                <a:solidFill>
                  <a:schemeClr val="bg1"/>
                </a:solidFill>
                <a:sym typeface="Wingdings" panose="05000000000000000000" pitchFamily="2" charset="2"/>
              </a:rPr>
              <a:t>To maintain user safety and failsafe incase original navigation fails</a:t>
            </a:r>
          </a:p>
          <a:p>
            <a:pPr marL="0" indent="0">
              <a:buNone/>
            </a:pPr>
            <a:r>
              <a:rPr lang="en-US" sz="1500" dirty="0">
                <a:solidFill>
                  <a:schemeClr val="bg1"/>
                </a:solidFill>
                <a:sym typeface="Wingdings" panose="05000000000000000000" pitchFamily="2" charset="2"/>
              </a:rPr>
              <a:t>How:</a:t>
            </a:r>
          </a:p>
          <a:p>
            <a:pPr marL="0" indent="0">
              <a:buNone/>
            </a:pPr>
            <a:r>
              <a:rPr lang="en-US" sz="1500" dirty="0">
                <a:solidFill>
                  <a:schemeClr val="bg1"/>
                </a:solidFill>
                <a:sym typeface="Wingdings" panose="05000000000000000000" pitchFamily="2" charset="2"/>
              </a:rPr>
              <a:t>THEIA attempts to resync the user's location providing voice notes and initiates a rerouting feature</a:t>
            </a:r>
          </a:p>
        </p:txBody>
      </p:sp>
    </p:spTree>
    <p:extLst>
      <p:ext uri="{BB962C8B-B14F-4D97-AF65-F5344CB8AC3E}">
        <p14:creationId xmlns:p14="http://schemas.microsoft.com/office/powerpoint/2010/main" val="312624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4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50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400"/>
                                        <p:tgtEl>
                                          <p:spTgt spid="3">
                                            <p:txEl>
                                              <p:pRg st="4" end="4"/>
                                            </p:txEl>
                                          </p:spTgt>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4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400"/>
                                        <p:tgtEl>
                                          <p:spTgt spid="3">
                                            <p:txEl>
                                              <p:pRg st="6" end="6"/>
                                            </p:txEl>
                                          </p:spTgt>
                                        </p:tgtEl>
                                      </p:cBhvr>
                                    </p:animEffect>
                                  </p:childTnLst>
                                </p:cTn>
                              </p:par>
                              <p:par>
                                <p:cTn id="37" presetID="10" presetClass="entr" presetSubtype="0" fill="hold" grpId="0" nodeType="withEffect">
                                  <p:stCondLst>
                                    <p:cond delay="50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4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9FA8A9-8C97-DD9C-2C22-03242C9A52E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38F5530-DA31-4B62-8DF9-56A1A3B6B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AEFAF95-013F-4375-AAF4-033AC93F5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8735E28-7236-42D8-A5E1-A0F302FE8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F3642881-D4B2-4CC2-A287-0FA0006F3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01C50C6-CC43-4D9E-B2AB-F373712E4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6E7187D-0938-461D-BFC5-89EEF3506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34C951A-9754-438B-9D57-E6B93B6E4C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FCCC8FCE-0563-4147-B2A2-7C81702EB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E68FC26-41A9-4C82-BE7F-E9344CDC4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FBB336D1-2562-4680-B29B-E22C603C0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9EED3885-4010-4FBE-A045-DC59CAE782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C3D74F45-ED22-46E8-8A8C-85550ED981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F675583-78ED-4BEC-8424-37068227E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9BD9726-207D-4725-AA6E-5147080D5B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1A43941-4783-4A0B-9385-1952F9F89D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B4806F9C-3233-4FC3-B300-D5AA58A5C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70E3F9FC-BB7B-433D-8A4F-1BCFA582E0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1406F394-9D6F-4986-A3AF-6EF16DEDE6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4F98CF1-0C8F-435D-846B-D3C506378F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781ACDD-4A0F-4369-A468-3FEC355F8E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BB34D61-E762-4862-9DA8-702D97A362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B780660-1156-732B-730E-66EE429A7087}"/>
              </a:ext>
            </a:extLst>
          </p:cNvPr>
          <p:cNvSpPr>
            <a:spLocks noGrp="1"/>
          </p:cNvSpPr>
          <p:nvPr>
            <p:ph type="title"/>
          </p:nvPr>
        </p:nvSpPr>
        <p:spPr>
          <a:xfrm>
            <a:off x="630936" y="630936"/>
            <a:ext cx="5465064" cy="5626947"/>
          </a:xfrm>
          <a:noFill/>
        </p:spPr>
        <p:txBody>
          <a:bodyPr anchor="ctr">
            <a:normAutofit/>
          </a:bodyPr>
          <a:lstStyle/>
          <a:p>
            <a:r>
              <a:rPr lang="en-US" sz="4800" dirty="0">
                <a:solidFill>
                  <a:schemeClr val="bg1"/>
                </a:solidFill>
              </a:rPr>
              <a:t>Why THEIA?</a:t>
            </a:r>
            <a:br>
              <a:rPr lang="en-US" sz="4800" dirty="0">
                <a:solidFill>
                  <a:schemeClr val="bg1"/>
                </a:solidFill>
              </a:rPr>
            </a:br>
            <a:r>
              <a:rPr lang="en-US" sz="4800" dirty="0">
                <a:solidFill>
                  <a:schemeClr val="bg1"/>
                </a:solidFill>
              </a:rPr>
              <a:t>Comparative Analysis</a:t>
            </a:r>
          </a:p>
        </p:txBody>
      </p:sp>
      <p:sp>
        <p:nvSpPr>
          <p:cNvPr id="3" name="Text Placeholder 2">
            <a:extLst>
              <a:ext uri="{FF2B5EF4-FFF2-40B4-BE49-F238E27FC236}">
                <a16:creationId xmlns:a16="http://schemas.microsoft.com/office/drawing/2014/main" id="{416F39CC-BC1F-8002-F12C-648C9D4212F2}"/>
              </a:ext>
            </a:extLst>
          </p:cNvPr>
          <p:cNvSpPr>
            <a:spLocks noGrp="1"/>
          </p:cNvSpPr>
          <p:nvPr>
            <p:ph idx="1"/>
          </p:nvPr>
        </p:nvSpPr>
        <p:spPr>
          <a:xfrm>
            <a:off x="6502152" y="630936"/>
            <a:ext cx="4978592" cy="5626957"/>
          </a:xfrm>
          <a:noFill/>
        </p:spPr>
        <p:txBody>
          <a:bodyPr anchor="ctr">
            <a:normAutofit/>
          </a:bodyPr>
          <a:lstStyle/>
          <a:p>
            <a:pPr>
              <a:buFont typeface="Wingdings" panose="05000000000000000000" pitchFamily="2" charset="2"/>
              <a:buChar char="q"/>
            </a:pPr>
            <a:r>
              <a:rPr lang="en-US" sz="1800" dirty="0">
                <a:solidFill>
                  <a:schemeClr val="bg1"/>
                </a:solidFill>
              </a:rPr>
              <a:t>A complimentary tool to use along with a cane or service animal</a:t>
            </a:r>
          </a:p>
          <a:p>
            <a:pPr lvl="1">
              <a:buFont typeface="Wingdings" panose="05000000000000000000" pitchFamily="2" charset="2"/>
              <a:buChar char="q"/>
            </a:pPr>
            <a:r>
              <a:rPr lang="en-US" sz="1400" dirty="0">
                <a:solidFill>
                  <a:schemeClr val="bg1"/>
                </a:solidFill>
              </a:rPr>
              <a:t>User route preferences</a:t>
            </a:r>
          </a:p>
          <a:p>
            <a:pPr lvl="1">
              <a:buFont typeface="Wingdings" panose="05000000000000000000" pitchFamily="2" charset="2"/>
              <a:buChar char="q"/>
            </a:pPr>
            <a:r>
              <a:rPr lang="en-US" sz="1400" dirty="0">
                <a:solidFill>
                  <a:schemeClr val="bg1"/>
                </a:solidFill>
              </a:rPr>
              <a:t>Caretaker safety controls</a:t>
            </a:r>
          </a:p>
          <a:p>
            <a:pPr>
              <a:buFont typeface="Wingdings" panose="05000000000000000000" pitchFamily="2" charset="2"/>
              <a:buChar char="q"/>
            </a:pPr>
            <a:r>
              <a:rPr lang="en-US" sz="1800" dirty="0">
                <a:solidFill>
                  <a:schemeClr val="bg1"/>
                </a:solidFill>
              </a:rPr>
              <a:t>When Primary User uses solely a White Cane</a:t>
            </a:r>
          </a:p>
          <a:p>
            <a:pPr lvl="1">
              <a:buFont typeface="Wingdings" panose="05000000000000000000" pitchFamily="2" charset="2"/>
              <a:buChar char="q"/>
            </a:pPr>
            <a:r>
              <a:rPr lang="en-US" sz="1400" dirty="0">
                <a:solidFill>
                  <a:schemeClr val="bg1"/>
                </a:solidFill>
              </a:rPr>
              <a:t>Strengths: Inexpensive, reliable physical ground obstacle detection</a:t>
            </a:r>
          </a:p>
          <a:p>
            <a:pPr lvl="1">
              <a:buFont typeface="Wingdings" panose="05000000000000000000" pitchFamily="2" charset="2"/>
              <a:buChar char="q"/>
            </a:pPr>
            <a:r>
              <a:rPr lang="en-US" sz="1400" dirty="0">
                <a:solidFill>
                  <a:schemeClr val="bg1"/>
                </a:solidFill>
              </a:rPr>
              <a:t>Limitations: Can’t provide context for indoor room numbers, floor plans, or destination directions</a:t>
            </a:r>
          </a:p>
          <a:p>
            <a:pPr>
              <a:buFont typeface="Wingdings" panose="05000000000000000000" pitchFamily="2" charset="2"/>
              <a:buChar char="q"/>
            </a:pPr>
            <a:r>
              <a:rPr lang="en-US" sz="1800" dirty="0">
                <a:solidFill>
                  <a:schemeClr val="bg1"/>
                </a:solidFill>
              </a:rPr>
              <a:t>When Primary User uses solely a Service Animal</a:t>
            </a:r>
          </a:p>
          <a:p>
            <a:pPr lvl="1">
              <a:buFont typeface="Wingdings" panose="05000000000000000000" pitchFamily="2" charset="2"/>
              <a:buChar char="q"/>
            </a:pPr>
            <a:r>
              <a:rPr lang="en-US" sz="1400" dirty="0">
                <a:solidFill>
                  <a:schemeClr val="bg1"/>
                </a:solidFill>
              </a:rPr>
              <a:t>Strengths: Service animals assist in navigating through crowds and drop-offs</a:t>
            </a:r>
          </a:p>
          <a:p>
            <a:pPr lvl="1">
              <a:buFont typeface="Wingdings" panose="05000000000000000000" pitchFamily="2" charset="2"/>
              <a:buChar char="q"/>
            </a:pPr>
            <a:r>
              <a:rPr lang="en-US" sz="1400" dirty="0">
                <a:solidFill>
                  <a:schemeClr val="bg1"/>
                </a:solidFill>
              </a:rPr>
              <a:t>Limitations: High maintenance costs and training, can’t identify specific classrooms, navigate complex multi-floor buildings, nor be able to dispatch emergency SMS location texts during a fall</a:t>
            </a:r>
          </a:p>
          <a:p>
            <a:pPr>
              <a:buFont typeface="Wingdings" panose="05000000000000000000" pitchFamily="2" charset="2"/>
              <a:buChar char="q"/>
            </a:pPr>
            <a:r>
              <a:rPr lang="en-US" sz="1800" dirty="0">
                <a:solidFill>
                  <a:schemeClr val="bg1"/>
                </a:solidFill>
              </a:rPr>
              <a:t>Using Project THEIA</a:t>
            </a:r>
          </a:p>
          <a:p>
            <a:pPr lvl="1">
              <a:buFont typeface="Wingdings" panose="05000000000000000000" pitchFamily="2" charset="2"/>
              <a:buChar char="q"/>
            </a:pPr>
            <a:r>
              <a:rPr lang="en-US" sz="1400" dirty="0">
                <a:solidFill>
                  <a:schemeClr val="bg1"/>
                </a:solidFill>
              </a:rPr>
              <a:t>Combines hands-free 3D spatial audio, room-level indoor navigation within multiple floors, elevator guidance, and automated fall/emergency escalation</a:t>
            </a:r>
          </a:p>
          <a:p>
            <a:pPr marL="0" indent="0">
              <a:buNone/>
            </a:pPr>
            <a:endParaRPr lang="en-US" sz="1800" dirty="0">
              <a:solidFill>
                <a:schemeClr val="bg1"/>
              </a:solidFill>
            </a:endParaRPr>
          </a:p>
        </p:txBody>
      </p:sp>
    </p:spTree>
    <p:extLst>
      <p:ext uri="{BB962C8B-B14F-4D97-AF65-F5344CB8AC3E}">
        <p14:creationId xmlns:p14="http://schemas.microsoft.com/office/powerpoint/2010/main" val="297628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childTnLst>
                                </p:cTn>
                              </p:par>
                              <p:par>
                                <p:cTn id="13" presetID="10" presetClass="entr" presetSubtype="0" fill="hold" grpId="0" nodeType="withEffect">
                                  <p:stCondLst>
                                    <p:cond delay="200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par>
                                <p:cTn id="16" presetID="10" presetClass="entr" presetSubtype="0" fill="hold" grpId="0" nodeType="withEffect">
                                  <p:stCondLst>
                                    <p:cond delay="200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4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50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400"/>
                                        <p:tgtEl>
                                          <p:spTgt spid="3">
                                            <p:txEl>
                                              <p:pRg st="3" end="3"/>
                                            </p:txEl>
                                          </p:spTgt>
                                        </p:tgtEl>
                                      </p:cBhvr>
                                    </p:animEffect>
                                  </p:childTnLst>
                                </p:cTn>
                              </p:par>
                              <p:par>
                                <p:cTn id="24" presetID="10" presetClass="entr" presetSubtype="0" fill="hold" grpId="0" nodeType="withEffect">
                                  <p:stCondLst>
                                    <p:cond delay="200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400"/>
                                        <p:tgtEl>
                                          <p:spTgt spid="3">
                                            <p:txEl>
                                              <p:pRg st="4" end="4"/>
                                            </p:txEl>
                                          </p:spTgt>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4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50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400"/>
                                        <p:tgtEl>
                                          <p:spTgt spid="3">
                                            <p:txEl>
                                              <p:pRg st="6" end="6"/>
                                            </p:txEl>
                                          </p:spTgt>
                                        </p:tgtEl>
                                      </p:cBhvr>
                                    </p:animEffect>
                                  </p:childTnLst>
                                </p:cTn>
                              </p:par>
                              <p:par>
                                <p:cTn id="35" presetID="10" presetClass="entr" presetSubtype="0" fill="hold" grpId="0" nodeType="withEffect">
                                  <p:stCondLst>
                                    <p:cond delay="200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400"/>
                                        <p:tgtEl>
                                          <p:spTgt spid="3">
                                            <p:txEl>
                                              <p:pRg st="7" end="7"/>
                                            </p:txEl>
                                          </p:spTgt>
                                        </p:tgtEl>
                                      </p:cBhvr>
                                    </p:animEffect>
                                  </p:childTnLst>
                                </p:cTn>
                              </p:par>
                              <p:par>
                                <p:cTn id="38" presetID="10" presetClass="entr" presetSubtype="0" fill="hold" grpId="0" nodeType="withEffect">
                                  <p:stCondLst>
                                    <p:cond delay="200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400"/>
                                        <p:tgtEl>
                                          <p:spTgt spid="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50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fade">
                                      <p:cBhvr>
                                        <p:cTn id="45" dur="400"/>
                                        <p:tgtEl>
                                          <p:spTgt spid="3">
                                            <p:txEl>
                                              <p:pRg st="9" end="9"/>
                                            </p:txEl>
                                          </p:spTgt>
                                        </p:tgtEl>
                                      </p:cBhvr>
                                    </p:animEffect>
                                  </p:childTnLst>
                                </p:cTn>
                              </p:par>
                              <p:par>
                                <p:cTn id="46" presetID="10" presetClass="entr" presetSubtype="0" fill="hold" grpId="0" nodeType="withEffect">
                                  <p:stCondLst>
                                    <p:cond delay="2000"/>
                                  </p:stCondLst>
                                  <p:childTnLst>
                                    <p:set>
                                      <p:cBhvr>
                                        <p:cTn id="47" dur="1" fill="hold">
                                          <p:stCondLst>
                                            <p:cond delay="0"/>
                                          </p:stCondLst>
                                        </p:cTn>
                                        <p:tgtEl>
                                          <p:spTgt spid="3">
                                            <p:txEl>
                                              <p:pRg st="10" end="10"/>
                                            </p:txEl>
                                          </p:spTgt>
                                        </p:tgtEl>
                                        <p:attrNameLst>
                                          <p:attrName>style.visibility</p:attrName>
                                        </p:attrNameLst>
                                      </p:cBhvr>
                                      <p:to>
                                        <p:strVal val="visible"/>
                                      </p:to>
                                    </p:set>
                                    <p:animEffect transition="in" filter="fade">
                                      <p:cBhvr>
                                        <p:cTn id="48" dur="4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423</TotalTime>
  <Words>871</Words>
  <Application>Microsoft Office PowerPoint</Application>
  <PresentationFormat>Widescreen</PresentationFormat>
  <Paragraphs>62</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Wingdings</vt:lpstr>
      <vt:lpstr>Office Theme</vt:lpstr>
      <vt:lpstr>Phase I System Presentation</vt:lpstr>
      <vt:lpstr>Scenario 1</vt:lpstr>
      <vt:lpstr>Scenario 2</vt:lpstr>
      <vt:lpstr>Scenario 3</vt:lpstr>
      <vt:lpstr>Scenario 4</vt:lpstr>
      <vt:lpstr>Top Priority Scenario Scenario 2</vt:lpstr>
      <vt:lpstr>Why THEIA? Comparative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Kirthy Kolluri</dc:creator>
  <cp:lastModifiedBy>Zuniga, James</cp:lastModifiedBy>
  <cp:revision>29</cp:revision>
  <dcterms:created xsi:type="dcterms:W3CDTF">2018-08-29T02:01:45Z</dcterms:created>
  <dcterms:modified xsi:type="dcterms:W3CDTF">2026-10-12T22:09:30Z</dcterms:modified>
</cp:coreProperties>
</file>