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4"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484" autoAdjust="0"/>
  </p:normalViewPr>
  <p:slideViewPr>
    <p:cSldViewPr snapToGrid="0">
      <p:cViewPr>
        <p:scale>
          <a:sx n="72" d="100"/>
          <a:sy n="72" d="100"/>
        </p:scale>
        <p:origin x="432" y="-1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1E147-C8A0-4BC6-976C-8EAA43EDA5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BF3227-9478-4C52-AA73-6319424D28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A9542B-8975-4A12-AD77-67429A3C3BD4}"/>
              </a:ext>
            </a:extLst>
          </p:cNvPr>
          <p:cNvSpPr>
            <a:spLocks noGrp="1"/>
          </p:cNvSpPr>
          <p:nvPr>
            <p:ph type="dt" sz="half" idx="10"/>
          </p:nvPr>
        </p:nvSpPr>
        <p:spPr/>
        <p:txBody>
          <a:bodyPr/>
          <a:lstStyle/>
          <a:p>
            <a:fld id="{B19FC151-C95F-4B97-8B73-E5BFB448A7CA}" type="datetimeFigureOut">
              <a:rPr lang="en-US" smtClean="0"/>
              <a:t>10/15/2026</a:t>
            </a:fld>
            <a:endParaRPr lang="en-US"/>
          </a:p>
        </p:txBody>
      </p:sp>
      <p:sp>
        <p:nvSpPr>
          <p:cNvPr id="5" name="Footer Placeholder 4">
            <a:extLst>
              <a:ext uri="{FF2B5EF4-FFF2-40B4-BE49-F238E27FC236}">
                <a16:creationId xmlns:a16="http://schemas.microsoft.com/office/drawing/2014/main" id="{028D904B-4391-43CD-A7AA-3824F2C109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BFDD9A-8941-4511-8C61-6673FC0690A9}"/>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2232785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C906D-56D6-4B8F-87C5-B0EE1CE574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5CF03C-1CAC-4554-97C3-DF7AD8C3CEA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10C7BB-5EDD-41DD-831D-12E53C1D6534}"/>
              </a:ext>
            </a:extLst>
          </p:cNvPr>
          <p:cNvSpPr>
            <a:spLocks noGrp="1"/>
          </p:cNvSpPr>
          <p:nvPr>
            <p:ph type="dt" sz="half" idx="10"/>
          </p:nvPr>
        </p:nvSpPr>
        <p:spPr/>
        <p:txBody>
          <a:bodyPr/>
          <a:lstStyle/>
          <a:p>
            <a:fld id="{B19FC151-C95F-4B97-8B73-E5BFB448A7CA}" type="datetimeFigureOut">
              <a:rPr lang="en-US" smtClean="0"/>
              <a:t>10/15/2026</a:t>
            </a:fld>
            <a:endParaRPr lang="en-US"/>
          </a:p>
        </p:txBody>
      </p:sp>
      <p:sp>
        <p:nvSpPr>
          <p:cNvPr id="5" name="Footer Placeholder 4">
            <a:extLst>
              <a:ext uri="{FF2B5EF4-FFF2-40B4-BE49-F238E27FC236}">
                <a16:creationId xmlns:a16="http://schemas.microsoft.com/office/drawing/2014/main" id="{39B0C739-34B4-49D4-8F87-43555C336A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890C07-C203-46D1-A9A9-2A278959715A}"/>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4106349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9F9BD-F333-480E-8CBF-2576F003CA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7D85C8-A58E-4D0C-96E1-49F452E929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1F543B-5C9D-4309-B49A-568CE1883714}"/>
              </a:ext>
            </a:extLst>
          </p:cNvPr>
          <p:cNvSpPr>
            <a:spLocks noGrp="1"/>
          </p:cNvSpPr>
          <p:nvPr>
            <p:ph type="dt" sz="half" idx="10"/>
          </p:nvPr>
        </p:nvSpPr>
        <p:spPr/>
        <p:txBody>
          <a:bodyPr/>
          <a:lstStyle/>
          <a:p>
            <a:fld id="{B19FC151-C95F-4B97-8B73-E5BFB448A7CA}" type="datetimeFigureOut">
              <a:rPr lang="en-US" smtClean="0"/>
              <a:t>10/15/2026</a:t>
            </a:fld>
            <a:endParaRPr lang="en-US"/>
          </a:p>
        </p:txBody>
      </p:sp>
      <p:sp>
        <p:nvSpPr>
          <p:cNvPr id="5" name="Footer Placeholder 4">
            <a:extLst>
              <a:ext uri="{FF2B5EF4-FFF2-40B4-BE49-F238E27FC236}">
                <a16:creationId xmlns:a16="http://schemas.microsoft.com/office/drawing/2014/main" id="{E74CE2B0-E7A4-457D-BEAA-2BE86224E5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2587F0-5F44-42E4-958A-D61C983530FD}"/>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2446737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C1B2E-0F83-4B3F-8736-1782CF15F7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DC77F3-7F52-4699-98BC-F5CDD835E4D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E70FF8E-CB09-41A9-BA43-70B505DB96A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C8000E-3AAB-4E34-85A2-22F28B8A45F6}"/>
              </a:ext>
            </a:extLst>
          </p:cNvPr>
          <p:cNvSpPr>
            <a:spLocks noGrp="1"/>
          </p:cNvSpPr>
          <p:nvPr>
            <p:ph type="dt" sz="half" idx="10"/>
          </p:nvPr>
        </p:nvSpPr>
        <p:spPr/>
        <p:txBody>
          <a:bodyPr/>
          <a:lstStyle/>
          <a:p>
            <a:fld id="{B19FC151-C95F-4B97-8B73-E5BFB448A7CA}" type="datetimeFigureOut">
              <a:rPr lang="en-US" smtClean="0"/>
              <a:t>10/15/2026</a:t>
            </a:fld>
            <a:endParaRPr lang="en-US"/>
          </a:p>
        </p:txBody>
      </p:sp>
      <p:sp>
        <p:nvSpPr>
          <p:cNvPr id="6" name="Footer Placeholder 5">
            <a:extLst>
              <a:ext uri="{FF2B5EF4-FFF2-40B4-BE49-F238E27FC236}">
                <a16:creationId xmlns:a16="http://schemas.microsoft.com/office/drawing/2014/main" id="{A239A5A7-F8BC-4CE7-9AFB-B7F24E9DD4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2D875C-2EED-412F-835A-8D9AD47858B5}"/>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347381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418B9-F5FD-430F-A486-D0A4EF4A93D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09A873D-46AB-489F-93A5-703A9428A3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4F73EAB-7738-4218-8320-BAF5B88ED75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DB9B05-5412-4BA5-9B92-556AC2BA24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F9F8B3F-FDF1-466F-A684-6668B08C212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7F1379-FEB2-4232-A97B-4A9854F81CE9}"/>
              </a:ext>
            </a:extLst>
          </p:cNvPr>
          <p:cNvSpPr>
            <a:spLocks noGrp="1"/>
          </p:cNvSpPr>
          <p:nvPr>
            <p:ph type="dt" sz="half" idx="10"/>
          </p:nvPr>
        </p:nvSpPr>
        <p:spPr/>
        <p:txBody>
          <a:bodyPr/>
          <a:lstStyle/>
          <a:p>
            <a:fld id="{B19FC151-C95F-4B97-8B73-E5BFB448A7CA}" type="datetimeFigureOut">
              <a:rPr lang="en-US" smtClean="0"/>
              <a:t>10/15/2026</a:t>
            </a:fld>
            <a:endParaRPr lang="en-US"/>
          </a:p>
        </p:txBody>
      </p:sp>
      <p:sp>
        <p:nvSpPr>
          <p:cNvPr id="8" name="Footer Placeholder 7">
            <a:extLst>
              <a:ext uri="{FF2B5EF4-FFF2-40B4-BE49-F238E27FC236}">
                <a16:creationId xmlns:a16="http://schemas.microsoft.com/office/drawing/2014/main" id="{6883ADD5-6DE6-4F90-9F48-23CF2FDEDFB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5D40F2-AC8A-4686-915A-3A4598825217}"/>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2606402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C7AAF-1469-414A-8493-0CA826FFC2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D0EDA4-27B8-49D9-9CDC-EC94D6DD62DE}"/>
              </a:ext>
            </a:extLst>
          </p:cNvPr>
          <p:cNvSpPr>
            <a:spLocks noGrp="1"/>
          </p:cNvSpPr>
          <p:nvPr>
            <p:ph type="dt" sz="half" idx="10"/>
          </p:nvPr>
        </p:nvSpPr>
        <p:spPr/>
        <p:txBody>
          <a:bodyPr/>
          <a:lstStyle/>
          <a:p>
            <a:fld id="{B19FC151-C95F-4B97-8B73-E5BFB448A7CA}" type="datetimeFigureOut">
              <a:rPr lang="en-US" smtClean="0"/>
              <a:t>10/15/2026</a:t>
            </a:fld>
            <a:endParaRPr lang="en-US"/>
          </a:p>
        </p:txBody>
      </p:sp>
      <p:sp>
        <p:nvSpPr>
          <p:cNvPr id="4" name="Footer Placeholder 3">
            <a:extLst>
              <a:ext uri="{FF2B5EF4-FFF2-40B4-BE49-F238E27FC236}">
                <a16:creationId xmlns:a16="http://schemas.microsoft.com/office/drawing/2014/main" id="{043BB72E-178F-465C-BAC7-372CB6F8EB5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D2BE6B-1F95-4225-BB77-01B2BC22044B}"/>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2589930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E200F2-9C97-4485-97B8-43AF0DD70CDC}"/>
              </a:ext>
            </a:extLst>
          </p:cNvPr>
          <p:cNvSpPr>
            <a:spLocks noGrp="1"/>
          </p:cNvSpPr>
          <p:nvPr>
            <p:ph type="dt" sz="half" idx="10"/>
          </p:nvPr>
        </p:nvSpPr>
        <p:spPr/>
        <p:txBody>
          <a:bodyPr/>
          <a:lstStyle/>
          <a:p>
            <a:fld id="{B19FC151-C95F-4B97-8B73-E5BFB448A7CA}" type="datetimeFigureOut">
              <a:rPr lang="en-US" smtClean="0"/>
              <a:t>10/15/2026</a:t>
            </a:fld>
            <a:endParaRPr lang="en-US"/>
          </a:p>
        </p:txBody>
      </p:sp>
      <p:sp>
        <p:nvSpPr>
          <p:cNvPr id="3" name="Footer Placeholder 2">
            <a:extLst>
              <a:ext uri="{FF2B5EF4-FFF2-40B4-BE49-F238E27FC236}">
                <a16:creationId xmlns:a16="http://schemas.microsoft.com/office/drawing/2014/main" id="{FC314FCC-17D0-4070-87DE-01A740525D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0375113-BE05-4973-B2F8-5D8DEC179D12}"/>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4208470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A1825-4DE0-4612-BBDD-192DEAA9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B66D902-ED54-4D39-8D2E-25F1B53046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FE6202-835A-4D10-8696-5F9C93985E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E2197CC-931A-42AB-86EB-33B7388062E0}"/>
              </a:ext>
            </a:extLst>
          </p:cNvPr>
          <p:cNvSpPr>
            <a:spLocks noGrp="1"/>
          </p:cNvSpPr>
          <p:nvPr>
            <p:ph type="dt" sz="half" idx="10"/>
          </p:nvPr>
        </p:nvSpPr>
        <p:spPr/>
        <p:txBody>
          <a:bodyPr/>
          <a:lstStyle/>
          <a:p>
            <a:fld id="{B19FC151-C95F-4B97-8B73-E5BFB448A7CA}" type="datetimeFigureOut">
              <a:rPr lang="en-US" smtClean="0"/>
              <a:t>10/15/2026</a:t>
            </a:fld>
            <a:endParaRPr lang="en-US"/>
          </a:p>
        </p:txBody>
      </p:sp>
      <p:sp>
        <p:nvSpPr>
          <p:cNvPr id="6" name="Footer Placeholder 5">
            <a:extLst>
              <a:ext uri="{FF2B5EF4-FFF2-40B4-BE49-F238E27FC236}">
                <a16:creationId xmlns:a16="http://schemas.microsoft.com/office/drawing/2014/main" id="{C9E62F2B-A80B-466F-ADA7-487AA65D4C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F3C4D0-1C4A-48F9-92DD-F530E7183606}"/>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451485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3BAD3-7D59-44A6-A4A3-D1BA8F249D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1F77753-3940-4A5F-B934-46E478EE29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FBCA91-3E11-4F2F-977B-92EE8E593B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245E498-0231-44B8-8715-5D426B7EA026}"/>
              </a:ext>
            </a:extLst>
          </p:cNvPr>
          <p:cNvSpPr>
            <a:spLocks noGrp="1"/>
          </p:cNvSpPr>
          <p:nvPr>
            <p:ph type="dt" sz="half" idx="10"/>
          </p:nvPr>
        </p:nvSpPr>
        <p:spPr/>
        <p:txBody>
          <a:bodyPr/>
          <a:lstStyle/>
          <a:p>
            <a:fld id="{B19FC151-C95F-4B97-8B73-E5BFB448A7CA}" type="datetimeFigureOut">
              <a:rPr lang="en-US" smtClean="0"/>
              <a:t>10/15/2026</a:t>
            </a:fld>
            <a:endParaRPr lang="en-US"/>
          </a:p>
        </p:txBody>
      </p:sp>
      <p:sp>
        <p:nvSpPr>
          <p:cNvPr id="6" name="Footer Placeholder 5">
            <a:extLst>
              <a:ext uri="{FF2B5EF4-FFF2-40B4-BE49-F238E27FC236}">
                <a16:creationId xmlns:a16="http://schemas.microsoft.com/office/drawing/2014/main" id="{EE0B7981-F7C7-4422-96D1-0A4D53E5E7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33C5BF-2633-4B2F-8306-3C459740543B}"/>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437884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CAD2B-6A45-493C-ADEC-1D523816085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274B83-74CC-4244-8433-B802CC661C6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FDAA2F-BC68-4BC4-9935-F2FBD7229757}"/>
              </a:ext>
            </a:extLst>
          </p:cNvPr>
          <p:cNvSpPr>
            <a:spLocks noGrp="1"/>
          </p:cNvSpPr>
          <p:nvPr>
            <p:ph type="dt" sz="half" idx="10"/>
          </p:nvPr>
        </p:nvSpPr>
        <p:spPr/>
        <p:txBody>
          <a:bodyPr/>
          <a:lstStyle/>
          <a:p>
            <a:fld id="{B19FC151-C95F-4B97-8B73-E5BFB448A7CA}" type="datetimeFigureOut">
              <a:rPr lang="en-US" smtClean="0"/>
              <a:t>10/15/2026</a:t>
            </a:fld>
            <a:endParaRPr lang="en-US"/>
          </a:p>
        </p:txBody>
      </p:sp>
      <p:sp>
        <p:nvSpPr>
          <p:cNvPr id="5" name="Footer Placeholder 4">
            <a:extLst>
              <a:ext uri="{FF2B5EF4-FFF2-40B4-BE49-F238E27FC236}">
                <a16:creationId xmlns:a16="http://schemas.microsoft.com/office/drawing/2014/main" id="{B8D9C779-E871-4A96-8FCC-DDC9AC83F7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632DCE-5E52-42CB-B97F-27362C548122}"/>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79519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1553D9-22F0-49A8-98CD-81B98818FB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CBA776-CFB8-4F0F-8F19-D1832E2793C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D45A7A-289F-4728-8B9C-915564DC8F79}"/>
              </a:ext>
            </a:extLst>
          </p:cNvPr>
          <p:cNvSpPr>
            <a:spLocks noGrp="1"/>
          </p:cNvSpPr>
          <p:nvPr>
            <p:ph type="dt" sz="half" idx="10"/>
          </p:nvPr>
        </p:nvSpPr>
        <p:spPr/>
        <p:txBody>
          <a:bodyPr/>
          <a:lstStyle/>
          <a:p>
            <a:fld id="{B19FC151-C95F-4B97-8B73-E5BFB448A7CA}" type="datetimeFigureOut">
              <a:rPr lang="en-US" smtClean="0"/>
              <a:t>10/15/2026</a:t>
            </a:fld>
            <a:endParaRPr lang="en-US"/>
          </a:p>
        </p:txBody>
      </p:sp>
      <p:sp>
        <p:nvSpPr>
          <p:cNvPr id="5" name="Footer Placeholder 4">
            <a:extLst>
              <a:ext uri="{FF2B5EF4-FFF2-40B4-BE49-F238E27FC236}">
                <a16:creationId xmlns:a16="http://schemas.microsoft.com/office/drawing/2014/main" id="{CA86D427-E821-44AE-9199-68D2B686C4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24E30-9118-4896-8D27-4648AE7A0FCE}"/>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1076232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BD2AB3-0AA5-46A1-A17E-CC3249007A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9E5A1A-920F-49DA-803B-E908B462E0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B3C4B-E9B9-464E-B854-C9736BD7B7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9FC151-C95F-4B97-8B73-E5BFB448A7CA}" type="datetimeFigureOut">
              <a:rPr lang="en-US" smtClean="0"/>
              <a:t>10/15/2026</a:t>
            </a:fld>
            <a:endParaRPr lang="en-US"/>
          </a:p>
        </p:txBody>
      </p:sp>
      <p:sp>
        <p:nvSpPr>
          <p:cNvPr id="5" name="Footer Placeholder 4">
            <a:extLst>
              <a:ext uri="{FF2B5EF4-FFF2-40B4-BE49-F238E27FC236}">
                <a16:creationId xmlns:a16="http://schemas.microsoft.com/office/drawing/2014/main" id="{D90264A9-6D41-4537-A210-0F87B15250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A9A312F-6625-4CD9-82BE-98585C3951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664BD-2E9A-452D-8DCB-A5C1F6FA5F2C}" type="slidenum">
              <a:rPr lang="en-US" smtClean="0"/>
              <a:t>‹#›</a:t>
            </a:fld>
            <a:endParaRPr lang="en-US"/>
          </a:p>
        </p:txBody>
      </p:sp>
    </p:spTree>
    <p:extLst>
      <p:ext uri="{BB962C8B-B14F-4D97-AF65-F5344CB8AC3E}">
        <p14:creationId xmlns:p14="http://schemas.microsoft.com/office/powerpoint/2010/main" val="39624689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1"/>
            <a:ext cx="12191990" cy="37425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468C6E-964B-AF50-E729-29A15AB79843}"/>
              </a:ext>
            </a:extLst>
          </p:cNvPr>
          <p:cNvSpPr>
            <a:spLocks noGrp="1"/>
          </p:cNvSpPr>
          <p:nvPr>
            <p:ph type="ctrTitle"/>
          </p:nvPr>
        </p:nvSpPr>
        <p:spPr>
          <a:xfrm>
            <a:off x="1155558" y="637763"/>
            <a:ext cx="9889797" cy="2874471"/>
          </a:xfrm>
        </p:spPr>
        <p:txBody>
          <a:bodyPr anchor="ctr">
            <a:normAutofit/>
          </a:bodyPr>
          <a:lstStyle/>
          <a:p>
            <a:pPr algn="l"/>
            <a:r>
              <a:rPr lang="en-US" sz="8000" dirty="0">
                <a:solidFill>
                  <a:schemeClr val="bg1"/>
                </a:solidFill>
                <a:latin typeface="Times New Roman" panose="02020603050405020304" pitchFamily="18" charset="0"/>
                <a:cs typeface="Times New Roman" panose="02020603050405020304" pitchFamily="18" charset="0"/>
              </a:rPr>
              <a:t>Phase I System Presentation</a:t>
            </a:r>
          </a:p>
        </p:txBody>
      </p:sp>
      <p:sp>
        <p:nvSpPr>
          <p:cNvPr id="25" name="Rectangle 24">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3742597"/>
            <a:ext cx="12191990" cy="31154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91440C3C-9794-6B3D-429E-D85A27E7DE08}"/>
              </a:ext>
            </a:extLst>
          </p:cNvPr>
          <p:cNvSpPr>
            <a:spLocks noGrp="1"/>
          </p:cNvSpPr>
          <p:nvPr>
            <p:ph type="subTitle" idx="1"/>
          </p:nvPr>
        </p:nvSpPr>
        <p:spPr>
          <a:xfrm>
            <a:off x="1155558" y="4307684"/>
            <a:ext cx="9544153" cy="1906846"/>
          </a:xfrm>
        </p:spPr>
        <p:txBody>
          <a:bodyPr anchor="t">
            <a:normAutofit/>
          </a:bodyPr>
          <a:lstStyle/>
          <a:p>
            <a:pPr algn="l"/>
            <a:r>
              <a:rPr lang="en-US" sz="3200" dirty="0">
                <a:latin typeface="Times New Roman" panose="02020603050405020304" pitchFamily="18" charset="0"/>
                <a:cs typeface="Times New Roman" panose="02020603050405020304" pitchFamily="18" charset="0"/>
              </a:rPr>
              <a:t>Team EV</a:t>
            </a:r>
          </a:p>
          <a:p>
            <a:pPr algn="l"/>
            <a:r>
              <a:rPr lang="en-US" sz="1800" dirty="0">
                <a:latin typeface="Times New Roman" panose="02020603050405020304" pitchFamily="18" charset="0"/>
                <a:cs typeface="Times New Roman" panose="02020603050405020304" pitchFamily="18" charset="0"/>
              </a:rPr>
              <a:t>Members: Zichuo Wang, James Zuniga, Austin Aragon, Justus Jones, Young Kim</a:t>
            </a:r>
          </a:p>
        </p:txBody>
      </p:sp>
      <p:sp>
        <p:nvSpPr>
          <p:cNvPr id="27" name="Rectangle 26">
            <a:extLst>
              <a:ext uri="{FF2B5EF4-FFF2-40B4-BE49-F238E27FC236}">
                <a16:creationId xmlns:a16="http://schemas.microsoft.com/office/drawing/2014/main" id="{6832F003-FCA6-4CFB-A2EA-308F3AA257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1180" y="41010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0860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33400" y="1638300"/>
            <a:ext cx="5429250" cy="4800600"/>
          </a:xfrm>
          <a:prstGeom prst="roundRect">
            <a:avLst>
              <a:gd name="adj" fmla="val 238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6229350" y="1638300"/>
            <a:ext cx="5429250" cy="4800600"/>
          </a:xfrm>
          <a:prstGeom prst="roundRect">
            <a:avLst>
              <a:gd name="adj" fmla="val 2380"/>
            </a:avLst>
          </a:prstGeom>
          <a:solidFill>
            <a:srgbClr val="F0F9FF"/>
          </a:solidFill>
          <a:ln w="9525">
            <a:solidFill>
              <a:srgbClr val="BAE6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p:cNvSpPr/>
          <p:nvPr/>
        </p:nvSpPr>
        <p:spPr>
          <a:xfrm>
            <a:off x="533400" y="1104900"/>
            <a:ext cx="2905125" cy="266700"/>
          </a:xfrm>
          <a:prstGeom prst="roundRect">
            <a:avLst>
              <a:gd name="adj" fmla="val 2142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3552825" y="1104900"/>
            <a:ext cx="1981200" cy="266700"/>
          </a:xfrm>
          <a:prstGeom prst="roundRect">
            <a:avLst>
              <a:gd name="adj" fmla="val 2142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6" name="Picture 5" descr="image.png"/>
          <p:cNvPicPr>
            <a:picLocks noChangeAspect="1"/>
          </p:cNvPicPr>
          <p:nvPr/>
        </p:nvPicPr>
        <p:blipFill>
          <a:blip r:embed="rId2"/>
          <a:stretch>
            <a:fillRect/>
          </a:stretch>
        </p:blipFill>
        <p:spPr>
          <a:xfrm>
            <a:off x="657225" y="1171575"/>
            <a:ext cx="152400" cy="133350"/>
          </a:xfrm>
          <a:prstGeom prst="rect">
            <a:avLst/>
          </a:prstGeom>
        </p:spPr>
      </p:pic>
      <p:pic>
        <p:nvPicPr>
          <p:cNvPr id="7" name="Picture 6" descr="image.png"/>
          <p:cNvPicPr>
            <a:picLocks noChangeAspect="1"/>
          </p:cNvPicPr>
          <p:nvPr/>
        </p:nvPicPr>
        <p:blipFill>
          <a:blip r:embed="rId3"/>
          <a:stretch>
            <a:fillRect/>
          </a:stretch>
        </p:blipFill>
        <p:spPr>
          <a:xfrm>
            <a:off x="3676650" y="1171575"/>
            <a:ext cx="114300" cy="133350"/>
          </a:xfrm>
          <a:prstGeom prst="rect">
            <a:avLst/>
          </a:prstGeom>
        </p:spPr>
      </p:pic>
      <p:pic>
        <p:nvPicPr>
          <p:cNvPr id="8" name="Picture 7" descr="image.png"/>
          <p:cNvPicPr>
            <a:picLocks noChangeAspect="1"/>
          </p:cNvPicPr>
          <p:nvPr/>
        </p:nvPicPr>
        <p:blipFill>
          <a:blip r:embed="rId4"/>
          <a:stretch>
            <a:fillRect/>
          </a:stretch>
        </p:blipFill>
        <p:spPr>
          <a:xfrm>
            <a:off x="809625" y="1900237"/>
            <a:ext cx="161925" cy="152400"/>
          </a:xfrm>
          <a:prstGeom prst="rect">
            <a:avLst/>
          </a:prstGeom>
        </p:spPr>
      </p:pic>
      <p:pic>
        <p:nvPicPr>
          <p:cNvPr id="9" name="Picture 8" descr="image.png"/>
          <p:cNvPicPr>
            <a:picLocks noChangeAspect="1"/>
          </p:cNvPicPr>
          <p:nvPr/>
        </p:nvPicPr>
        <p:blipFill>
          <a:blip r:embed="rId5"/>
          <a:stretch>
            <a:fillRect/>
          </a:stretch>
        </p:blipFill>
        <p:spPr>
          <a:xfrm>
            <a:off x="6505575" y="1900237"/>
            <a:ext cx="161925" cy="152400"/>
          </a:xfrm>
          <a:prstGeom prst="rect">
            <a:avLst/>
          </a:prstGeom>
        </p:spPr>
      </p:pic>
      <p:sp>
        <p:nvSpPr>
          <p:cNvPr id="10" name="TextBox 9"/>
          <p:cNvSpPr txBox="1"/>
          <p:nvPr/>
        </p:nvSpPr>
        <p:spPr>
          <a:xfrm>
            <a:off x="533400" y="419100"/>
            <a:ext cx="814325" cy="161583"/>
          </a:xfrm>
          <a:prstGeom prst="rect">
            <a:avLst/>
          </a:prstGeom>
          <a:noFill/>
        </p:spPr>
        <p:txBody>
          <a:bodyPr wrap="none" lIns="0" tIns="0" rIns="0" bIns="0" anchor="t">
            <a:spAutoFit/>
          </a:bodyPr>
          <a:lstStyle/>
          <a:p>
            <a:pPr algn="l"/>
            <a:r>
              <a:rPr sz="1050" b="1" i="0" u="none" dirty="0">
                <a:solidFill>
                  <a:srgbClr val="0284C7"/>
                </a:solidFill>
                <a:latin typeface="Times New Roman" panose="02020603050405020304" pitchFamily="18" charset="0"/>
                <a:cs typeface="Times New Roman" panose="02020603050405020304" pitchFamily="18" charset="0"/>
              </a:rPr>
              <a:t>SCENARIO 1</a:t>
            </a:r>
          </a:p>
        </p:txBody>
      </p:sp>
      <p:sp>
        <p:nvSpPr>
          <p:cNvPr id="11" name="TextBox 10"/>
          <p:cNvSpPr txBox="1"/>
          <p:nvPr/>
        </p:nvSpPr>
        <p:spPr>
          <a:xfrm>
            <a:off x="533400" y="666750"/>
            <a:ext cx="3574697" cy="346249"/>
          </a:xfrm>
          <a:prstGeom prst="rect">
            <a:avLst/>
          </a:prstGeom>
          <a:noFill/>
        </p:spPr>
        <p:txBody>
          <a:bodyPr wrap="none" lIns="0" tIns="0" rIns="0" bIns="0" anchor="t">
            <a:spAutoFit/>
          </a:bodyPr>
          <a:lstStyle/>
          <a:p>
            <a:pPr algn="l">
              <a:lnSpc>
                <a:spcPts val="2700"/>
              </a:lnSpc>
            </a:pPr>
            <a:r>
              <a:rPr sz="2250" b="1" i="0" u="none" dirty="0">
                <a:solidFill>
                  <a:srgbClr val="0F172A"/>
                </a:solidFill>
                <a:latin typeface="Times New Roman" panose="02020603050405020304" pitchFamily="18" charset="0"/>
                <a:cs typeface="Times New Roman" panose="02020603050405020304" pitchFamily="18" charset="0"/>
              </a:rPr>
              <a:t>Basic Step-by-Step Guidance</a:t>
            </a:r>
          </a:p>
        </p:txBody>
      </p:sp>
      <p:sp>
        <p:nvSpPr>
          <p:cNvPr id="12" name="TextBox 11"/>
          <p:cNvSpPr txBox="1"/>
          <p:nvPr/>
        </p:nvSpPr>
        <p:spPr>
          <a:xfrm>
            <a:off x="866775" y="1152525"/>
            <a:ext cx="3059906" cy="161583"/>
          </a:xfrm>
          <a:prstGeom prst="rect">
            <a:avLst/>
          </a:prstGeom>
          <a:noFill/>
        </p:spPr>
        <p:txBody>
          <a:bodyPr wrap="square" lIns="0" tIns="0" rIns="0" bIns="0" anchor="t">
            <a:spAutoFit/>
          </a:bodyPr>
          <a:lstStyle/>
          <a:p>
            <a:pPr algn="l"/>
            <a:r>
              <a:rPr sz="1050" b="1" i="0" u="none" dirty="0">
                <a:solidFill>
                  <a:srgbClr val="475569"/>
                </a:solidFill>
                <a:latin typeface="Times New Roman" panose="02020603050405020304" pitchFamily="18" charset="0"/>
                <a:cs typeface="Times New Roman" panose="02020603050405020304" pitchFamily="18" charset="0"/>
              </a:rPr>
              <a:t>Feature: Basic step-by-step guidance</a:t>
            </a:r>
          </a:p>
        </p:txBody>
      </p:sp>
      <p:sp>
        <p:nvSpPr>
          <p:cNvPr id="13" name="TextBox 12"/>
          <p:cNvSpPr txBox="1"/>
          <p:nvPr/>
        </p:nvSpPr>
        <p:spPr>
          <a:xfrm>
            <a:off x="3848100" y="1152525"/>
            <a:ext cx="1527662" cy="161583"/>
          </a:xfrm>
          <a:prstGeom prst="rect">
            <a:avLst/>
          </a:prstGeom>
          <a:noFill/>
        </p:spPr>
        <p:txBody>
          <a:bodyPr wrap="none" lIns="0" tIns="0" rIns="0" bIns="0" anchor="t">
            <a:spAutoFit/>
          </a:bodyPr>
          <a:lstStyle/>
          <a:p>
            <a:pPr algn="l"/>
            <a:r>
              <a:rPr sz="1050" b="1" i="0" u="none" dirty="0">
                <a:solidFill>
                  <a:srgbClr val="475569"/>
                </a:solidFill>
                <a:latin typeface="Times New Roman" panose="02020603050405020304" pitchFamily="18" charset="0"/>
                <a:cs typeface="Times New Roman" panose="02020603050405020304" pitchFamily="18" charset="0"/>
              </a:rPr>
              <a:t>User Group: Primary user</a:t>
            </a:r>
          </a:p>
        </p:txBody>
      </p:sp>
      <p:sp>
        <p:nvSpPr>
          <p:cNvPr id="14" name="TextBox 13"/>
          <p:cNvSpPr txBox="1"/>
          <p:nvPr/>
        </p:nvSpPr>
        <p:spPr>
          <a:xfrm>
            <a:off x="1066800" y="1876425"/>
            <a:ext cx="1239122" cy="184666"/>
          </a:xfrm>
          <a:prstGeom prst="rect">
            <a:avLst/>
          </a:prstGeom>
          <a:noFill/>
        </p:spPr>
        <p:txBody>
          <a:bodyPr wrap="none" lIns="0" tIns="0" rIns="0" bIns="0" anchor="t">
            <a:spAutoFit/>
          </a:bodyPr>
          <a:lstStyle/>
          <a:p>
            <a:pPr algn="l"/>
            <a:r>
              <a:rPr sz="1200" b="1" i="0" u="none">
                <a:solidFill>
                  <a:srgbClr val="B91C1C"/>
                </a:solidFill>
                <a:latin typeface="Times New Roman" panose="02020603050405020304" pitchFamily="18" charset="0"/>
                <a:cs typeface="Times New Roman" panose="02020603050405020304" pitchFamily="18" charset="0"/>
              </a:rPr>
              <a:t>AS-IS SCENARIO</a:t>
            </a:r>
          </a:p>
        </p:txBody>
      </p:sp>
      <p:sp>
        <p:nvSpPr>
          <p:cNvPr id="15" name="TextBox 14"/>
          <p:cNvSpPr txBox="1"/>
          <p:nvPr/>
        </p:nvSpPr>
        <p:spPr>
          <a:xfrm>
            <a:off x="809625" y="2228850"/>
            <a:ext cx="4972050" cy="1441677"/>
          </a:xfrm>
          <a:prstGeom prst="rect">
            <a:avLst/>
          </a:prstGeom>
          <a:noFill/>
        </p:spPr>
        <p:txBody>
          <a:bodyPr wrap="square" lIns="0" tIns="0" rIns="0" bIns="0" anchor="t">
            <a:spAutoFit/>
          </a:bodyPr>
          <a:lstStyle/>
          <a:p>
            <a:pPr marL="171450" indent="-171450" algn="l">
              <a:lnSpc>
                <a:spcPts val="1860"/>
              </a:lnSpc>
              <a:buFont typeface="Arial" panose="020B0604020202020204" pitchFamily="34" charset="0"/>
              <a:buChar char="•"/>
            </a:pPr>
            <a:r>
              <a:rPr sz="1200" b="0" i="0" u="none" dirty="0">
                <a:solidFill>
                  <a:srgbClr val="334155"/>
                </a:solidFill>
                <a:latin typeface="Times New Roman" panose="02020603050405020304" pitchFamily="18" charset="0"/>
                <a:cs typeface="Times New Roman" panose="02020603050405020304" pitchFamily="18" charset="0"/>
              </a:rPr>
              <a:t>Stevie is attempting to reach his next classroom independently. He knows he must walk forward a few paces and turn left at the corridor corner.</a:t>
            </a:r>
            <a:endParaRPr lang="en-US" sz="1200" dirty="0">
              <a:solidFill>
                <a:srgbClr val="334155"/>
              </a:solidFill>
              <a:latin typeface="Times New Roman" panose="02020603050405020304" pitchFamily="18" charset="0"/>
              <a:cs typeface="Times New Roman" panose="02020603050405020304" pitchFamily="18" charset="0"/>
            </a:endParaRPr>
          </a:p>
          <a:p>
            <a:pPr marL="171450" indent="-171450">
              <a:lnSpc>
                <a:spcPts val="1860"/>
              </a:lnSpc>
              <a:buFont typeface="Arial" panose="020B0604020202020204" pitchFamily="34" charset="0"/>
              <a:buChar char="•"/>
            </a:pPr>
            <a:r>
              <a:rPr lang="en-US" sz="1200" dirty="0">
                <a:solidFill>
                  <a:srgbClr val="334155"/>
                </a:solidFill>
                <a:latin typeface="Times New Roman" panose="02020603050405020304" pitchFamily="18" charset="0"/>
                <a:cs typeface="Times New Roman" panose="02020603050405020304" pitchFamily="18" charset="0"/>
              </a:rPr>
              <a:t>Lacking distance confirmation, he is unsure of the exact turning threshold. He guesses the turn prematurely, runs into the corridor corner, and sustains a minor head injury.</a:t>
            </a:r>
          </a:p>
          <a:p>
            <a:pPr algn="l">
              <a:lnSpc>
                <a:spcPts val="1860"/>
              </a:lnSpc>
            </a:pPr>
            <a:endParaRPr sz="1200" b="0" i="0" u="none" dirty="0">
              <a:solidFill>
                <a:srgbClr val="334155"/>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6762750" y="1876425"/>
            <a:ext cx="1324530" cy="184666"/>
          </a:xfrm>
          <a:prstGeom prst="rect">
            <a:avLst/>
          </a:prstGeom>
          <a:noFill/>
        </p:spPr>
        <p:txBody>
          <a:bodyPr wrap="none" lIns="0" tIns="0" rIns="0" bIns="0" anchor="t">
            <a:spAutoFit/>
          </a:bodyPr>
          <a:lstStyle/>
          <a:p>
            <a:pPr algn="l"/>
            <a:r>
              <a:rPr sz="1200" b="1" i="0" u="none" dirty="0">
                <a:solidFill>
                  <a:srgbClr val="0369A1"/>
                </a:solidFill>
                <a:latin typeface="Times New Roman" panose="02020603050405020304" pitchFamily="18" charset="0"/>
                <a:cs typeface="Times New Roman" panose="02020603050405020304" pitchFamily="18" charset="0"/>
              </a:rPr>
              <a:t>TO-BE SCENARIO</a:t>
            </a:r>
          </a:p>
        </p:txBody>
      </p:sp>
      <p:sp>
        <p:nvSpPr>
          <p:cNvPr id="18" name="TextBox 17"/>
          <p:cNvSpPr txBox="1"/>
          <p:nvPr/>
        </p:nvSpPr>
        <p:spPr>
          <a:xfrm>
            <a:off x="6505575" y="2228850"/>
            <a:ext cx="4972050" cy="1441677"/>
          </a:xfrm>
          <a:prstGeom prst="rect">
            <a:avLst/>
          </a:prstGeom>
          <a:noFill/>
        </p:spPr>
        <p:txBody>
          <a:bodyPr wrap="square" lIns="0" tIns="0" rIns="0" bIns="0" anchor="t">
            <a:spAutoFit/>
          </a:bodyPr>
          <a:lstStyle/>
          <a:p>
            <a:pPr marL="171450" indent="-171450" algn="l">
              <a:lnSpc>
                <a:spcPts val="1860"/>
              </a:lnSpc>
              <a:buFont typeface="Arial" panose="020B0604020202020204" pitchFamily="34" charset="0"/>
              <a:buChar char="•"/>
            </a:pPr>
            <a:r>
              <a:rPr sz="1200" b="0" i="0" u="none" dirty="0">
                <a:solidFill>
                  <a:srgbClr val="334155"/>
                </a:solidFill>
                <a:latin typeface="Times New Roman" panose="02020603050405020304" pitchFamily="18" charset="0"/>
                <a:cs typeface="Times New Roman" panose="02020603050405020304" pitchFamily="18" charset="0"/>
              </a:rPr>
              <a:t>THEIA prompts Stevie to enter or dictate his current starting point and intended destination.</a:t>
            </a:r>
            <a:endParaRPr lang="en-US" sz="1200" dirty="0">
              <a:solidFill>
                <a:srgbClr val="334155"/>
              </a:solidFill>
              <a:latin typeface="Times New Roman" panose="02020603050405020304" pitchFamily="18" charset="0"/>
              <a:cs typeface="Times New Roman" panose="02020603050405020304" pitchFamily="18" charset="0"/>
            </a:endParaRPr>
          </a:p>
          <a:p>
            <a:pPr marL="171450" indent="-171450">
              <a:lnSpc>
                <a:spcPts val="1860"/>
              </a:lnSpc>
              <a:buFont typeface="Arial" panose="020B0604020202020204" pitchFamily="34" charset="0"/>
              <a:buChar char="•"/>
            </a:pPr>
            <a:r>
              <a:rPr lang="en-US" sz="1200" dirty="0">
                <a:solidFill>
                  <a:srgbClr val="334155"/>
                </a:solidFill>
                <a:latin typeface="Times New Roman" panose="02020603050405020304" pitchFamily="18" charset="0"/>
                <a:cs typeface="Times New Roman" panose="02020603050405020304" pitchFamily="18" charset="0"/>
              </a:rPr>
              <a:t>THEIA calculates an optimal, hazard-free route and provides clear cadence: </a:t>
            </a:r>
            <a:r>
              <a:rPr lang="en-US" sz="1200" i="1" dirty="0">
                <a:solidFill>
                  <a:srgbClr val="334155"/>
                </a:solidFill>
                <a:latin typeface="Times New Roman" panose="02020603050405020304" pitchFamily="18" charset="0"/>
                <a:cs typeface="Times New Roman" panose="02020603050405020304" pitchFamily="18" charset="0"/>
              </a:rPr>
              <a:t>“Walk ahead 10 steps, then turn left.”</a:t>
            </a:r>
            <a:endParaRPr lang="en-US" sz="1200" b="0" i="0" u="none" dirty="0">
              <a:solidFill>
                <a:srgbClr val="334155"/>
              </a:solidFill>
              <a:latin typeface="Times New Roman" panose="02020603050405020304" pitchFamily="18" charset="0"/>
              <a:cs typeface="Times New Roman" panose="02020603050405020304" pitchFamily="18" charset="0"/>
            </a:endParaRPr>
          </a:p>
          <a:p>
            <a:pPr marL="171450" indent="-171450">
              <a:lnSpc>
                <a:spcPts val="1860"/>
              </a:lnSpc>
              <a:buFont typeface="Arial" panose="020B0604020202020204" pitchFamily="34" charset="0"/>
              <a:buChar char="•"/>
            </a:pPr>
            <a:r>
              <a:rPr lang="en-US" sz="1200" dirty="0">
                <a:solidFill>
                  <a:srgbClr val="334155"/>
                </a:solidFill>
                <a:latin typeface="Times New Roman" panose="02020603050405020304" pitchFamily="18" charset="0"/>
                <a:cs typeface="Times New Roman" panose="02020603050405020304" pitchFamily="18" charset="0"/>
              </a:rPr>
              <a:t>Precise distance pacing prevents premature turns and protects Stevie from structural impacts.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400"/>
                                        <p:tgtEl>
                                          <p:spTgt spid="1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xEl>
                                              <p:pRg st="0" end="0"/>
                                            </p:txEl>
                                          </p:spTgt>
                                        </p:tgtEl>
                                        <p:attrNameLst>
                                          <p:attrName>style.visibility</p:attrName>
                                        </p:attrNameLst>
                                      </p:cBhvr>
                                      <p:to>
                                        <p:strVal val="visible"/>
                                      </p:to>
                                    </p:set>
                                    <p:animEffect transition="in" filter="fade">
                                      <p:cBhvr>
                                        <p:cTn id="10" dur="400"/>
                                        <p:tgtEl>
                                          <p:spTgt spid="11">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400"/>
                                        <p:tgtEl>
                                          <p:spTgt spid="5"/>
                                        </p:tgtEl>
                                      </p:cBhvr>
                                    </p:animEffect>
                                  </p:childTnLst>
                                </p:cTn>
                              </p:par>
                              <p:par>
                                <p:cTn id="23" presetID="10"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4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400"/>
                                        <p:tgtEl>
                                          <p:spTgt spid="2"/>
                                        </p:tgtEl>
                                      </p:cBhvr>
                                    </p:animEffect>
                                  </p:childTnLst>
                                </p:cTn>
                              </p:par>
                              <p:par>
                                <p:cTn id="34" presetID="10" presetClass="entr" presetSubtype="0" fill="hold"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400"/>
                                        <p:tgtEl>
                                          <p:spTgt spid="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nodeType="with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400"/>
                                        <p:tgtEl>
                                          <p:spTgt spid="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4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
                                        </p:tgtEl>
                                        <p:attrNameLst>
                                          <p:attrName>style.visibility</p:attrName>
                                        </p:attrNameLst>
                                      </p:cBhvr>
                                      <p:to>
                                        <p:strVal val="visible"/>
                                      </p:to>
                                    </p:set>
                                    <p:animEffect transition="in" filter="fade">
                                      <p:cBhvr>
                                        <p:cTn id="56"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12" grpId="0"/>
      <p:bldP spid="13" grpId="0"/>
      <p:bldP spid="14" grpId="0"/>
      <p:bldP spid="15" grpId="0"/>
      <p:bldP spid="17" grpId="0"/>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33400" y="1638300"/>
            <a:ext cx="5429250" cy="4800600"/>
          </a:xfrm>
          <a:prstGeom prst="roundRect">
            <a:avLst>
              <a:gd name="adj" fmla="val 238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6229350" y="1638300"/>
            <a:ext cx="5429250" cy="4800600"/>
          </a:xfrm>
          <a:prstGeom prst="roundRect">
            <a:avLst>
              <a:gd name="adj" fmla="val 2380"/>
            </a:avLst>
          </a:prstGeom>
          <a:solidFill>
            <a:srgbClr val="F0F9FF"/>
          </a:solidFill>
          <a:ln w="9525">
            <a:solidFill>
              <a:srgbClr val="BAE6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p:cNvSpPr/>
          <p:nvPr/>
        </p:nvSpPr>
        <p:spPr>
          <a:xfrm>
            <a:off x="533400" y="1104900"/>
            <a:ext cx="3438525" cy="266700"/>
          </a:xfrm>
          <a:prstGeom prst="roundRect">
            <a:avLst>
              <a:gd name="adj" fmla="val 2142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4086225" y="1104900"/>
            <a:ext cx="3695700" cy="266700"/>
          </a:xfrm>
          <a:prstGeom prst="roundRect">
            <a:avLst>
              <a:gd name="adj" fmla="val 2142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6" name="Picture 5" descr="image.png"/>
          <p:cNvPicPr>
            <a:picLocks noChangeAspect="1"/>
          </p:cNvPicPr>
          <p:nvPr/>
        </p:nvPicPr>
        <p:blipFill>
          <a:blip r:embed="rId2"/>
          <a:stretch>
            <a:fillRect/>
          </a:stretch>
        </p:blipFill>
        <p:spPr>
          <a:xfrm>
            <a:off x="657225" y="1171575"/>
            <a:ext cx="152400" cy="133350"/>
          </a:xfrm>
          <a:prstGeom prst="rect">
            <a:avLst/>
          </a:prstGeom>
        </p:spPr>
      </p:pic>
      <p:pic>
        <p:nvPicPr>
          <p:cNvPr id="7" name="Picture 6" descr="image.png"/>
          <p:cNvPicPr>
            <a:picLocks noChangeAspect="1"/>
          </p:cNvPicPr>
          <p:nvPr/>
        </p:nvPicPr>
        <p:blipFill>
          <a:blip r:embed="rId3"/>
          <a:stretch>
            <a:fillRect/>
          </a:stretch>
        </p:blipFill>
        <p:spPr>
          <a:xfrm>
            <a:off x="4210050" y="1171575"/>
            <a:ext cx="171450" cy="133350"/>
          </a:xfrm>
          <a:prstGeom prst="rect">
            <a:avLst/>
          </a:prstGeom>
        </p:spPr>
      </p:pic>
      <p:pic>
        <p:nvPicPr>
          <p:cNvPr id="8" name="Picture 7" descr="image.png"/>
          <p:cNvPicPr>
            <a:picLocks noChangeAspect="1"/>
          </p:cNvPicPr>
          <p:nvPr/>
        </p:nvPicPr>
        <p:blipFill>
          <a:blip r:embed="rId4"/>
          <a:stretch>
            <a:fillRect/>
          </a:stretch>
        </p:blipFill>
        <p:spPr>
          <a:xfrm>
            <a:off x="809625" y="1900237"/>
            <a:ext cx="161925" cy="152400"/>
          </a:xfrm>
          <a:prstGeom prst="rect">
            <a:avLst/>
          </a:prstGeom>
        </p:spPr>
      </p:pic>
      <p:pic>
        <p:nvPicPr>
          <p:cNvPr id="9" name="Picture 8" descr="image.png"/>
          <p:cNvPicPr>
            <a:picLocks noChangeAspect="1"/>
          </p:cNvPicPr>
          <p:nvPr/>
        </p:nvPicPr>
        <p:blipFill>
          <a:blip r:embed="rId5"/>
          <a:stretch>
            <a:fillRect/>
          </a:stretch>
        </p:blipFill>
        <p:spPr>
          <a:xfrm>
            <a:off x="6505575" y="1900237"/>
            <a:ext cx="161925" cy="152400"/>
          </a:xfrm>
          <a:prstGeom prst="rect">
            <a:avLst/>
          </a:prstGeom>
        </p:spPr>
      </p:pic>
      <p:sp>
        <p:nvSpPr>
          <p:cNvPr id="10" name="TextBox 9"/>
          <p:cNvSpPr txBox="1"/>
          <p:nvPr/>
        </p:nvSpPr>
        <p:spPr>
          <a:xfrm>
            <a:off x="533400" y="419100"/>
            <a:ext cx="814325" cy="161583"/>
          </a:xfrm>
          <a:prstGeom prst="rect">
            <a:avLst/>
          </a:prstGeom>
          <a:noFill/>
        </p:spPr>
        <p:txBody>
          <a:bodyPr wrap="none" lIns="0" tIns="0" rIns="0" bIns="0" anchor="t">
            <a:spAutoFit/>
          </a:bodyPr>
          <a:lstStyle/>
          <a:p>
            <a:pPr algn="l"/>
            <a:r>
              <a:rPr sz="1050" b="1" i="0" u="none" dirty="0">
                <a:solidFill>
                  <a:srgbClr val="0284C7"/>
                </a:solidFill>
                <a:latin typeface="Times New Roman" panose="02020603050405020304" pitchFamily="18" charset="0"/>
                <a:cs typeface="Times New Roman" panose="02020603050405020304" pitchFamily="18" charset="0"/>
              </a:rPr>
              <a:t>SCENARIO 2</a:t>
            </a:r>
          </a:p>
        </p:txBody>
      </p:sp>
      <p:sp>
        <p:nvSpPr>
          <p:cNvPr id="11" name="TextBox 10"/>
          <p:cNvSpPr txBox="1"/>
          <p:nvPr/>
        </p:nvSpPr>
        <p:spPr>
          <a:xfrm>
            <a:off x="533400" y="666750"/>
            <a:ext cx="5610510" cy="346249"/>
          </a:xfrm>
          <a:prstGeom prst="rect">
            <a:avLst/>
          </a:prstGeom>
          <a:noFill/>
        </p:spPr>
        <p:txBody>
          <a:bodyPr wrap="none" lIns="0" tIns="0" rIns="0" bIns="0" anchor="t">
            <a:spAutoFit/>
          </a:bodyPr>
          <a:lstStyle/>
          <a:p>
            <a:pPr algn="l">
              <a:lnSpc>
                <a:spcPts val="2700"/>
              </a:lnSpc>
            </a:pPr>
            <a:r>
              <a:rPr sz="2250" b="1" i="0" u="none" dirty="0">
                <a:solidFill>
                  <a:srgbClr val="0F172A"/>
                </a:solidFill>
                <a:latin typeface="Times New Roman" panose="02020603050405020304" pitchFamily="18" charset="0"/>
                <a:cs typeface="Times New Roman" panose="02020603050405020304" pitchFamily="18" charset="0"/>
              </a:rPr>
              <a:t>Off-Route Recovery &amp; Emergency Escalation</a:t>
            </a:r>
          </a:p>
        </p:txBody>
      </p:sp>
      <p:sp>
        <p:nvSpPr>
          <p:cNvPr id="12" name="TextBox 11"/>
          <p:cNvSpPr txBox="1"/>
          <p:nvPr/>
        </p:nvSpPr>
        <p:spPr>
          <a:xfrm>
            <a:off x="866775" y="1152525"/>
            <a:ext cx="2646558" cy="161583"/>
          </a:xfrm>
          <a:prstGeom prst="rect">
            <a:avLst/>
          </a:prstGeom>
          <a:noFill/>
        </p:spPr>
        <p:txBody>
          <a:bodyPr wrap="none" lIns="0" tIns="0" rIns="0" bIns="0" anchor="t">
            <a:spAutoFit/>
          </a:bodyPr>
          <a:lstStyle/>
          <a:p>
            <a:pPr algn="l"/>
            <a:r>
              <a:rPr sz="1050" b="1" i="0" u="none" dirty="0">
                <a:solidFill>
                  <a:srgbClr val="475569"/>
                </a:solidFill>
                <a:latin typeface="Times New Roman" panose="02020603050405020304" pitchFamily="18" charset="0"/>
                <a:cs typeface="Times New Roman" panose="02020603050405020304" pitchFamily="18" charset="0"/>
              </a:rPr>
              <a:t>Feature: Off-route recovery + emergency help</a:t>
            </a:r>
          </a:p>
        </p:txBody>
      </p:sp>
      <p:sp>
        <p:nvSpPr>
          <p:cNvPr id="13" name="TextBox 12"/>
          <p:cNvSpPr txBox="1"/>
          <p:nvPr/>
        </p:nvSpPr>
        <p:spPr>
          <a:xfrm>
            <a:off x="4438650" y="1152525"/>
            <a:ext cx="3024867" cy="161583"/>
          </a:xfrm>
          <a:prstGeom prst="rect">
            <a:avLst/>
          </a:prstGeom>
          <a:noFill/>
        </p:spPr>
        <p:txBody>
          <a:bodyPr wrap="none" lIns="0" tIns="0" rIns="0" bIns="0" anchor="t">
            <a:spAutoFit/>
          </a:bodyPr>
          <a:lstStyle/>
          <a:p>
            <a:pPr algn="l"/>
            <a:r>
              <a:rPr sz="1050" b="1" i="0" u="none">
                <a:solidFill>
                  <a:srgbClr val="475569"/>
                </a:solidFill>
                <a:latin typeface="Times New Roman" panose="02020603050405020304" pitchFamily="18" charset="0"/>
                <a:cs typeface="Times New Roman" panose="02020603050405020304" pitchFamily="18" charset="0"/>
              </a:rPr>
              <a:t>User Group: Primary user, caretaker, campus police</a:t>
            </a:r>
          </a:p>
        </p:txBody>
      </p:sp>
      <p:sp>
        <p:nvSpPr>
          <p:cNvPr id="14" name="TextBox 13"/>
          <p:cNvSpPr txBox="1"/>
          <p:nvPr/>
        </p:nvSpPr>
        <p:spPr>
          <a:xfrm>
            <a:off x="1066800" y="1876425"/>
            <a:ext cx="1239122" cy="184666"/>
          </a:xfrm>
          <a:prstGeom prst="rect">
            <a:avLst/>
          </a:prstGeom>
          <a:noFill/>
        </p:spPr>
        <p:txBody>
          <a:bodyPr wrap="none" lIns="0" tIns="0" rIns="0" bIns="0" anchor="t">
            <a:spAutoFit/>
          </a:bodyPr>
          <a:lstStyle/>
          <a:p>
            <a:pPr algn="l"/>
            <a:r>
              <a:rPr sz="1200" b="1" i="0" u="none" dirty="0">
                <a:solidFill>
                  <a:srgbClr val="B91C1C"/>
                </a:solidFill>
                <a:latin typeface="Times New Roman" panose="02020603050405020304" pitchFamily="18" charset="0"/>
                <a:cs typeface="Times New Roman" panose="02020603050405020304" pitchFamily="18" charset="0"/>
              </a:rPr>
              <a:t>AS-IS SCENARIO</a:t>
            </a:r>
          </a:p>
        </p:txBody>
      </p:sp>
      <p:sp>
        <p:nvSpPr>
          <p:cNvPr id="15" name="TextBox 14"/>
          <p:cNvSpPr txBox="1"/>
          <p:nvPr/>
        </p:nvSpPr>
        <p:spPr>
          <a:xfrm>
            <a:off x="809625" y="2228850"/>
            <a:ext cx="4972050" cy="1685333"/>
          </a:xfrm>
          <a:prstGeom prst="rect">
            <a:avLst/>
          </a:prstGeom>
          <a:noFill/>
        </p:spPr>
        <p:txBody>
          <a:bodyPr wrap="square" lIns="0" tIns="0" rIns="0" bIns="0" anchor="t">
            <a:spAutoFit/>
          </a:bodyPr>
          <a:lstStyle/>
          <a:p>
            <a:pPr marL="171450" indent="-171450" algn="l">
              <a:lnSpc>
                <a:spcPts val="1860"/>
              </a:lnSpc>
              <a:buFont typeface="Arial" panose="020B0604020202020204" pitchFamily="34" charset="0"/>
              <a:buChar char="•"/>
            </a:pPr>
            <a:r>
              <a:rPr sz="1200" b="0" i="0" u="none" dirty="0">
                <a:solidFill>
                  <a:srgbClr val="334155"/>
                </a:solidFill>
                <a:latin typeface="Times New Roman" panose="02020603050405020304" pitchFamily="18" charset="0"/>
                <a:cs typeface="Times New Roman" panose="02020603050405020304" pitchFamily="18" charset="0"/>
              </a:rPr>
              <a:t>Alfred heads toward the 3rd-floor elevator after an evening lab when construction barricades block his standard path.</a:t>
            </a:r>
            <a:endParaRPr lang="en-US" sz="1200" b="0" i="0" u="none" dirty="0">
              <a:solidFill>
                <a:srgbClr val="334155"/>
              </a:solidFill>
              <a:latin typeface="Times New Roman" panose="02020603050405020304" pitchFamily="18" charset="0"/>
              <a:cs typeface="Times New Roman" panose="02020603050405020304" pitchFamily="18" charset="0"/>
            </a:endParaRPr>
          </a:p>
          <a:p>
            <a:pPr marL="171450" indent="-171450">
              <a:lnSpc>
                <a:spcPts val="1860"/>
              </a:lnSpc>
              <a:buFont typeface="Arial" panose="020B0604020202020204" pitchFamily="34" charset="0"/>
              <a:buChar char="•"/>
            </a:pPr>
            <a:r>
              <a:rPr lang="en-US" sz="1200" dirty="0">
                <a:solidFill>
                  <a:srgbClr val="334155"/>
                </a:solidFill>
                <a:latin typeface="Times New Roman" panose="02020603050405020304" pitchFamily="18" charset="0"/>
                <a:cs typeface="Times New Roman" panose="02020603050405020304" pitchFamily="18" charset="0"/>
              </a:rPr>
              <a:t>After detouring, Alfred becomes disoriented on the empty floor. Alfred calls caretaker Bella but can only state he is “somewhere on the 3rd floor.” Bella must search the entire floor manually to locate Alfred.</a:t>
            </a:r>
          </a:p>
          <a:p>
            <a:pPr algn="l">
              <a:lnSpc>
                <a:spcPts val="1860"/>
              </a:lnSpc>
            </a:pPr>
            <a:endParaRPr lang="en-US" sz="1200" b="0" i="0" u="none" dirty="0">
              <a:solidFill>
                <a:srgbClr val="334155"/>
              </a:solidFill>
              <a:latin typeface="Times New Roman" panose="02020603050405020304" pitchFamily="18" charset="0"/>
              <a:cs typeface="Times New Roman" panose="02020603050405020304" pitchFamily="18" charset="0"/>
            </a:endParaRPr>
          </a:p>
          <a:p>
            <a:pPr algn="l">
              <a:lnSpc>
                <a:spcPts val="1860"/>
              </a:lnSpc>
            </a:pPr>
            <a:endParaRPr sz="1200" b="0" i="0" u="none" dirty="0">
              <a:solidFill>
                <a:srgbClr val="334155"/>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6762750" y="1876425"/>
            <a:ext cx="1324530" cy="184666"/>
          </a:xfrm>
          <a:prstGeom prst="rect">
            <a:avLst/>
          </a:prstGeom>
          <a:noFill/>
        </p:spPr>
        <p:txBody>
          <a:bodyPr wrap="none" lIns="0" tIns="0" rIns="0" bIns="0" anchor="t">
            <a:spAutoFit/>
          </a:bodyPr>
          <a:lstStyle/>
          <a:p>
            <a:pPr algn="l"/>
            <a:r>
              <a:rPr sz="1200" b="1" i="0" u="none">
                <a:solidFill>
                  <a:srgbClr val="0369A1"/>
                </a:solidFill>
                <a:latin typeface="Times New Roman" panose="02020603050405020304" pitchFamily="18" charset="0"/>
                <a:cs typeface="Times New Roman" panose="02020603050405020304" pitchFamily="18" charset="0"/>
              </a:rPr>
              <a:t>TO-BE SCENARIO</a:t>
            </a:r>
          </a:p>
        </p:txBody>
      </p:sp>
      <p:sp>
        <p:nvSpPr>
          <p:cNvPr id="18" name="TextBox 17"/>
          <p:cNvSpPr txBox="1"/>
          <p:nvPr/>
        </p:nvSpPr>
        <p:spPr>
          <a:xfrm>
            <a:off x="6505575" y="2228850"/>
            <a:ext cx="4972050" cy="1924373"/>
          </a:xfrm>
          <a:prstGeom prst="rect">
            <a:avLst/>
          </a:prstGeom>
          <a:noFill/>
        </p:spPr>
        <p:txBody>
          <a:bodyPr wrap="square" lIns="0" tIns="0" rIns="0" bIns="0" anchor="t">
            <a:spAutoFit/>
          </a:bodyPr>
          <a:lstStyle/>
          <a:p>
            <a:pPr marL="171450" indent="-171450" algn="l">
              <a:lnSpc>
                <a:spcPts val="1860"/>
              </a:lnSpc>
              <a:buFont typeface="Arial" panose="020B0604020202020204" pitchFamily="34" charset="0"/>
              <a:buChar char="•"/>
            </a:pPr>
            <a:r>
              <a:rPr sz="1200" b="0" i="0" u="none" dirty="0">
                <a:solidFill>
                  <a:srgbClr val="334155"/>
                </a:solidFill>
                <a:latin typeface="Times New Roman" panose="02020603050405020304" pitchFamily="18" charset="0"/>
                <a:cs typeface="Times New Roman" panose="02020603050405020304" pitchFamily="18" charset="0"/>
              </a:rPr>
              <a:t>Alfred tells THEIA “this way is blocked” and immediately receives an alternate path. When a missed beacon indicates deviation, THEIA warns </a:t>
            </a:r>
            <a:r>
              <a:rPr lang="en-US" sz="1200" dirty="0">
                <a:solidFill>
                  <a:srgbClr val="334155"/>
                </a:solidFill>
                <a:latin typeface="Times New Roman" panose="02020603050405020304" pitchFamily="18" charset="0"/>
                <a:cs typeface="Times New Roman" panose="02020603050405020304" pitchFamily="18" charset="0"/>
              </a:rPr>
              <a:t>Alfred that he</a:t>
            </a:r>
            <a:r>
              <a:rPr sz="1200" b="0" i="0" u="none" dirty="0">
                <a:solidFill>
                  <a:srgbClr val="334155"/>
                </a:solidFill>
                <a:latin typeface="Times New Roman" panose="02020603050405020304" pitchFamily="18" charset="0"/>
                <a:cs typeface="Times New Roman" panose="02020603050405020304" pitchFamily="18" charset="0"/>
              </a:rPr>
              <a:t> may be off route and guides him back to last known </a:t>
            </a:r>
            <a:r>
              <a:rPr lang="en-US" sz="1200" dirty="0">
                <a:solidFill>
                  <a:srgbClr val="334155"/>
                </a:solidFill>
                <a:latin typeface="Times New Roman" panose="02020603050405020304" pitchFamily="18" charset="0"/>
                <a:cs typeface="Times New Roman" panose="02020603050405020304" pitchFamily="18" charset="0"/>
              </a:rPr>
              <a:t>beacon</a:t>
            </a:r>
            <a:r>
              <a:rPr sz="1200" b="0" i="0" u="none" dirty="0">
                <a:solidFill>
                  <a:srgbClr val="334155"/>
                </a:solidFill>
                <a:latin typeface="Times New Roman" panose="02020603050405020304" pitchFamily="18" charset="0"/>
                <a:cs typeface="Times New Roman" panose="02020603050405020304" pitchFamily="18" charset="0"/>
              </a:rPr>
              <a:t> (Spark 233).</a:t>
            </a:r>
            <a:endParaRPr lang="en-US" sz="1200" b="0" i="0" u="none" dirty="0">
              <a:solidFill>
                <a:srgbClr val="334155"/>
              </a:solidFill>
              <a:latin typeface="Times New Roman" panose="02020603050405020304" pitchFamily="18" charset="0"/>
              <a:cs typeface="Times New Roman" panose="02020603050405020304" pitchFamily="18" charset="0"/>
            </a:endParaRPr>
          </a:p>
          <a:p>
            <a:pPr marL="171450" indent="-171450">
              <a:lnSpc>
                <a:spcPts val="1860"/>
              </a:lnSpc>
              <a:buFont typeface="Arial" panose="020B0604020202020204" pitchFamily="34" charset="0"/>
              <a:buChar char="•"/>
            </a:pPr>
            <a:r>
              <a:rPr lang="en-US" sz="1200" dirty="0">
                <a:solidFill>
                  <a:srgbClr val="334155"/>
                </a:solidFill>
                <a:latin typeface="Times New Roman" panose="02020603050405020304" pitchFamily="18" charset="0"/>
                <a:cs typeface="Times New Roman" panose="02020603050405020304" pitchFamily="18" charset="0"/>
              </a:rPr>
              <a:t>If Alfred speaks “Help” or an unresponsive fall is detected, THEIA dispatches an automated SMS alert with his exact location to Bella, offering escalation to campus police.</a:t>
            </a:r>
          </a:p>
          <a:p>
            <a:pPr algn="l">
              <a:lnSpc>
                <a:spcPts val="1860"/>
              </a:lnSpc>
            </a:pPr>
            <a:endParaRPr sz="1200" b="0" i="0" u="none" dirty="0">
              <a:solidFill>
                <a:srgbClr val="334155"/>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400"/>
                                        <p:tgtEl>
                                          <p:spTgt spid="1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xEl>
                                              <p:pRg st="0" end="0"/>
                                            </p:txEl>
                                          </p:spTgt>
                                        </p:tgtEl>
                                        <p:attrNameLst>
                                          <p:attrName>style.visibility</p:attrName>
                                        </p:attrNameLst>
                                      </p:cBhvr>
                                      <p:to>
                                        <p:strVal val="visible"/>
                                      </p:to>
                                    </p:set>
                                    <p:animEffect transition="in" filter="fade">
                                      <p:cBhvr>
                                        <p:cTn id="10" dur="400"/>
                                        <p:tgtEl>
                                          <p:spTgt spid="11">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400"/>
                                        <p:tgtEl>
                                          <p:spTgt spid="5"/>
                                        </p:tgtEl>
                                      </p:cBhvr>
                                    </p:animEffect>
                                  </p:childTnLst>
                                </p:cTn>
                              </p:par>
                              <p:par>
                                <p:cTn id="23" presetID="10"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4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400"/>
                                        <p:tgtEl>
                                          <p:spTgt spid="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fade">
                                      <p:cBhvr>
                                        <p:cTn id="39" dur="400"/>
                                        <p:tgtEl>
                                          <p:spTgt spid="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400"/>
                                        <p:tgtEl>
                                          <p:spTgt spid="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
                                        </p:tgtEl>
                                        <p:attrNameLst>
                                          <p:attrName>style.visibility</p:attrName>
                                        </p:attrNameLst>
                                      </p:cBhvr>
                                      <p:to>
                                        <p:strVal val="visible"/>
                                      </p:to>
                                    </p:set>
                                    <p:animEffect transition="in" filter="fade">
                                      <p:cBhvr>
                                        <p:cTn id="53" dur="400"/>
                                        <p:tgtEl>
                                          <p:spTgt spid="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12" grpId="0"/>
      <p:bldP spid="13" grpId="0"/>
      <p:bldP spid="14" grpId="0"/>
      <p:bldP spid="15" grpId="0"/>
      <p:bldP spid="17"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33400" y="1638300"/>
            <a:ext cx="5429250" cy="4800600"/>
          </a:xfrm>
          <a:prstGeom prst="roundRect">
            <a:avLst>
              <a:gd name="adj" fmla="val 238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6229350" y="1638300"/>
            <a:ext cx="5429250" cy="4800600"/>
          </a:xfrm>
          <a:prstGeom prst="roundRect">
            <a:avLst>
              <a:gd name="adj" fmla="val 2380"/>
            </a:avLst>
          </a:prstGeom>
          <a:solidFill>
            <a:srgbClr val="F0F9FF"/>
          </a:solidFill>
          <a:ln w="9525">
            <a:solidFill>
              <a:srgbClr val="BAE6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p:cNvSpPr/>
          <p:nvPr/>
        </p:nvSpPr>
        <p:spPr>
          <a:xfrm>
            <a:off x="533400" y="1104900"/>
            <a:ext cx="3143250" cy="266700"/>
          </a:xfrm>
          <a:prstGeom prst="roundRect">
            <a:avLst>
              <a:gd name="adj" fmla="val 2142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3790950" y="1104900"/>
            <a:ext cx="1981200" cy="266700"/>
          </a:xfrm>
          <a:prstGeom prst="roundRect">
            <a:avLst>
              <a:gd name="adj" fmla="val 2142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6" name="Picture 5" descr="image.png"/>
          <p:cNvPicPr>
            <a:picLocks noChangeAspect="1"/>
          </p:cNvPicPr>
          <p:nvPr/>
        </p:nvPicPr>
        <p:blipFill>
          <a:blip r:embed="rId2"/>
          <a:stretch>
            <a:fillRect/>
          </a:stretch>
        </p:blipFill>
        <p:spPr>
          <a:xfrm>
            <a:off x="657225" y="1171575"/>
            <a:ext cx="152400" cy="133350"/>
          </a:xfrm>
          <a:prstGeom prst="rect">
            <a:avLst/>
          </a:prstGeom>
        </p:spPr>
      </p:pic>
      <p:pic>
        <p:nvPicPr>
          <p:cNvPr id="7" name="Picture 6" descr="image.png"/>
          <p:cNvPicPr>
            <a:picLocks noChangeAspect="1"/>
          </p:cNvPicPr>
          <p:nvPr/>
        </p:nvPicPr>
        <p:blipFill>
          <a:blip r:embed="rId3"/>
          <a:stretch>
            <a:fillRect/>
          </a:stretch>
        </p:blipFill>
        <p:spPr>
          <a:xfrm>
            <a:off x="3914775" y="1171575"/>
            <a:ext cx="114300" cy="133350"/>
          </a:xfrm>
          <a:prstGeom prst="rect">
            <a:avLst/>
          </a:prstGeom>
        </p:spPr>
      </p:pic>
      <p:pic>
        <p:nvPicPr>
          <p:cNvPr id="8" name="Picture 7" descr="image.png"/>
          <p:cNvPicPr>
            <a:picLocks noChangeAspect="1"/>
          </p:cNvPicPr>
          <p:nvPr/>
        </p:nvPicPr>
        <p:blipFill>
          <a:blip r:embed="rId4"/>
          <a:stretch>
            <a:fillRect/>
          </a:stretch>
        </p:blipFill>
        <p:spPr>
          <a:xfrm>
            <a:off x="809625" y="1900237"/>
            <a:ext cx="161925" cy="152400"/>
          </a:xfrm>
          <a:prstGeom prst="rect">
            <a:avLst/>
          </a:prstGeom>
        </p:spPr>
      </p:pic>
      <p:pic>
        <p:nvPicPr>
          <p:cNvPr id="9" name="Picture 8" descr="image.png"/>
          <p:cNvPicPr>
            <a:picLocks noChangeAspect="1"/>
          </p:cNvPicPr>
          <p:nvPr/>
        </p:nvPicPr>
        <p:blipFill>
          <a:blip r:embed="rId5"/>
          <a:stretch>
            <a:fillRect/>
          </a:stretch>
        </p:blipFill>
        <p:spPr>
          <a:xfrm>
            <a:off x="6505575" y="1900237"/>
            <a:ext cx="161925" cy="152400"/>
          </a:xfrm>
          <a:prstGeom prst="rect">
            <a:avLst/>
          </a:prstGeom>
        </p:spPr>
      </p:pic>
      <p:sp>
        <p:nvSpPr>
          <p:cNvPr id="10" name="TextBox 9"/>
          <p:cNvSpPr txBox="1"/>
          <p:nvPr/>
        </p:nvSpPr>
        <p:spPr>
          <a:xfrm>
            <a:off x="533400" y="419100"/>
            <a:ext cx="814325" cy="161583"/>
          </a:xfrm>
          <a:prstGeom prst="rect">
            <a:avLst/>
          </a:prstGeom>
          <a:noFill/>
        </p:spPr>
        <p:txBody>
          <a:bodyPr wrap="none" lIns="0" tIns="0" rIns="0" bIns="0" anchor="t">
            <a:spAutoFit/>
          </a:bodyPr>
          <a:lstStyle/>
          <a:p>
            <a:pPr algn="l"/>
            <a:r>
              <a:rPr sz="1050" b="1" i="0" u="none" dirty="0">
                <a:solidFill>
                  <a:srgbClr val="0284C7"/>
                </a:solidFill>
                <a:latin typeface="Times New Roman" panose="02020603050405020304" pitchFamily="18" charset="0"/>
                <a:cs typeface="Times New Roman" panose="02020603050405020304" pitchFamily="18" charset="0"/>
              </a:rPr>
              <a:t>SCENARIO 3</a:t>
            </a:r>
          </a:p>
        </p:txBody>
      </p:sp>
      <p:sp>
        <p:nvSpPr>
          <p:cNvPr id="11" name="TextBox 10"/>
          <p:cNvSpPr txBox="1"/>
          <p:nvPr/>
        </p:nvSpPr>
        <p:spPr>
          <a:xfrm>
            <a:off x="533400" y="666750"/>
            <a:ext cx="4379019" cy="346249"/>
          </a:xfrm>
          <a:prstGeom prst="rect">
            <a:avLst/>
          </a:prstGeom>
          <a:noFill/>
        </p:spPr>
        <p:txBody>
          <a:bodyPr wrap="none" lIns="0" tIns="0" rIns="0" bIns="0" anchor="t">
            <a:spAutoFit/>
          </a:bodyPr>
          <a:lstStyle/>
          <a:p>
            <a:pPr algn="l">
              <a:lnSpc>
                <a:spcPts val="2700"/>
              </a:lnSpc>
            </a:pPr>
            <a:r>
              <a:rPr sz="2250" b="1" i="0" u="none" dirty="0">
                <a:solidFill>
                  <a:srgbClr val="0F172A"/>
                </a:solidFill>
                <a:latin typeface="Times New Roman" panose="02020603050405020304" pitchFamily="18" charset="0"/>
                <a:cs typeface="Times New Roman" panose="02020603050405020304" pitchFamily="18" charset="0"/>
              </a:rPr>
              <a:t>Multi-Floor Navigation by Elevator</a:t>
            </a:r>
          </a:p>
        </p:txBody>
      </p:sp>
      <p:sp>
        <p:nvSpPr>
          <p:cNvPr id="12" name="TextBox 11"/>
          <p:cNvSpPr txBox="1"/>
          <p:nvPr/>
        </p:nvSpPr>
        <p:spPr>
          <a:xfrm>
            <a:off x="866775" y="1152525"/>
            <a:ext cx="2478243" cy="161583"/>
          </a:xfrm>
          <a:prstGeom prst="rect">
            <a:avLst/>
          </a:prstGeom>
          <a:noFill/>
        </p:spPr>
        <p:txBody>
          <a:bodyPr wrap="none" lIns="0" tIns="0" rIns="0" bIns="0" anchor="t">
            <a:spAutoFit/>
          </a:bodyPr>
          <a:lstStyle/>
          <a:p>
            <a:pPr algn="l"/>
            <a:r>
              <a:rPr sz="1050" b="1" i="0" u="none">
                <a:solidFill>
                  <a:srgbClr val="475569"/>
                </a:solidFill>
                <a:latin typeface="Times New Roman" panose="02020603050405020304" pitchFamily="18" charset="0"/>
                <a:cs typeface="Times New Roman" panose="02020603050405020304" pitchFamily="18" charset="0"/>
              </a:rPr>
              <a:t>Feature: Multi-floor navigation by elevator</a:t>
            </a:r>
          </a:p>
        </p:txBody>
      </p:sp>
      <p:sp>
        <p:nvSpPr>
          <p:cNvPr id="13" name="TextBox 12"/>
          <p:cNvSpPr txBox="1"/>
          <p:nvPr/>
        </p:nvSpPr>
        <p:spPr>
          <a:xfrm>
            <a:off x="4086225" y="1152525"/>
            <a:ext cx="1527662" cy="161583"/>
          </a:xfrm>
          <a:prstGeom prst="rect">
            <a:avLst/>
          </a:prstGeom>
          <a:noFill/>
        </p:spPr>
        <p:txBody>
          <a:bodyPr wrap="none" lIns="0" tIns="0" rIns="0" bIns="0" anchor="t">
            <a:spAutoFit/>
          </a:bodyPr>
          <a:lstStyle/>
          <a:p>
            <a:pPr algn="l"/>
            <a:r>
              <a:rPr sz="1050" b="1" i="0" u="none">
                <a:solidFill>
                  <a:srgbClr val="475569"/>
                </a:solidFill>
                <a:latin typeface="Times New Roman" panose="02020603050405020304" pitchFamily="18" charset="0"/>
                <a:cs typeface="Times New Roman" panose="02020603050405020304" pitchFamily="18" charset="0"/>
              </a:rPr>
              <a:t>User Group: Primary user</a:t>
            </a:r>
          </a:p>
        </p:txBody>
      </p:sp>
      <p:sp>
        <p:nvSpPr>
          <p:cNvPr id="14" name="TextBox 13"/>
          <p:cNvSpPr txBox="1"/>
          <p:nvPr/>
        </p:nvSpPr>
        <p:spPr>
          <a:xfrm>
            <a:off x="1066800" y="1876425"/>
            <a:ext cx="1239122" cy="184666"/>
          </a:xfrm>
          <a:prstGeom prst="rect">
            <a:avLst/>
          </a:prstGeom>
          <a:noFill/>
        </p:spPr>
        <p:txBody>
          <a:bodyPr wrap="none" lIns="0" tIns="0" rIns="0" bIns="0" anchor="t">
            <a:spAutoFit/>
          </a:bodyPr>
          <a:lstStyle/>
          <a:p>
            <a:pPr algn="l"/>
            <a:r>
              <a:rPr sz="1200" b="1" i="0" u="none">
                <a:solidFill>
                  <a:srgbClr val="B91C1C"/>
                </a:solidFill>
                <a:latin typeface="Times New Roman" panose="02020603050405020304" pitchFamily="18" charset="0"/>
                <a:cs typeface="Times New Roman" panose="02020603050405020304" pitchFamily="18" charset="0"/>
              </a:rPr>
              <a:t>AS-IS SCENARIO</a:t>
            </a:r>
          </a:p>
        </p:txBody>
      </p:sp>
      <p:sp>
        <p:nvSpPr>
          <p:cNvPr id="15" name="TextBox 14"/>
          <p:cNvSpPr txBox="1"/>
          <p:nvPr/>
        </p:nvSpPr>
        <p:spPr>
          <a:xfrm>
            <a:off x="809625" y="2228850"/>
            <a:ext cx="4972050" cy="1441677"/>
          </a:xfrm>
          <a:prstGeom prst="rect">
            <a:avLst/>
          </a:prstGeom>
          <a:noFill/>
        </p:spPr>
        <p:txBody>
          <a:bodyPr wrap="square" lIns="0" tIns="0" rIns="0" bIns="0" anchor="t">
            <a:spAutoFit/>
          </a:bodyPr>
          <a:lstStyle/>
          <a:p>
            <a:pPr marL="171450" indent="-171450" algn="l">
              <a:lnSpc>
                <a:spcPts val="1860"/>
              </a:lnSpc>
              <a:buFont typeface="Arial" panose="020B0604020202020204" pitchFamily="34" charset="0"/>
              <a:buChar char="•"/>
            </a:pPr>
            <a:r>
              <a:rPr sz="1200" b="0" i="0" u="none" dirty="0">
                <a:solidFill>
                  <a:srgbClr val="334155"/>
                </a:solidFill>
                <a:latin typeface="Times New Roman" panose="02020603050405020304" pitchFamily="18" charset="0"/>
                <a:cs typeface="Times New Roman" panose="02020603050405020304" pitchFamily="18" charset="0"/>
              </a:rPr>
              <a:t>Mark exits TFLO 239 carrying heavy equipment. He needs to reach TFLO 131 but cannot safely take the stairs under load.</a:t>
            </a:r>
            <a:endParaRPr lang="en-US" sz="1200" b="0" i="0" u="none" dirty="0">
              <a:solidFill>
                <a:srgbClr val="334155"/>
              </a:solidFill>
              <a:latin typeface="Times New Roman" panose="02020603050405020304" pitchFamily="18" charset="0"/>
              <a:cs typeface="Times New Roman" panose="02020603050405020304" pitchFamily="18" charset="0"/>
            </a:endParaRPr>
          </a:p>
          <a:p>
            <a:pPr marL="171450" indent="-171450">
              <a:lnSpc>
                <a:spcPts val="1860"/>
              </a:lnSpc>
              <a:buFont typeface="Arial" panose="020B0604020202020204" pitchFamily="34" charset="0"/>
              <a:buChar char="•"/>
            </a:pPr>
            <a:r>
              <a:rPr lang="en-US" sz="1200" dirty="0">
                <a:solidFill>
                  <a:srgbClr val="334155"/>
                </a:solidFill>
                <a:latin typeface="Times New Roman" panose="02020603050405020304" pitchFamily="18" charset="0"/>
                <a:cs typeface="Times New Roman" panose="02020603050405020304" pitchFamily="18" charset="0"/>
              </a:rPr>
              <a:t>Without dedicated audio navigation to find the elevator, Mark makes 3 wrong turns in the corridor trying to reach the call button, finally relying on a student for directions and arriving 10 minutes late.</a:t>
            </a:r>
          </a:p>
          <a:p>
            <a:pPr algn="l">
              <a:lnSpc>
                <a:spcPts val="1860"/>
              </a:lnSpc>
            </a:pPr>
            <a:endParaRPr sz="1200" b="0" i="0" u="none" dirty="0">
              <a:solidFill>
                <a:srgbClr val="334155"/>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6762750" y="1876425"/>
            <a:ext cx="1324530" cy="184666"/>
          </a:xfrm>
          <a:prstGeom prst="rect">
            <a:avLst/>
          </a:prstGeom>
          <a:noFill/>
        </p:spPr>
        <p:txBody>
          <a:bodyPr wrap="none" lIns="0" tIns="0" rIns="0" bIns="0" anchor="t">
            <a:spAutoFit/>
          </a:bodyPr>
          <a:lstStyle/>
          <a:p>
            <a:pPr algn="l"/>
            <a:r>
              <a:rPr sz="1200" b="1" i="0" u="none">
                <a:solidFill>
                  <a:srgbClr val="0369A1"/>
                </a:solidFill>
                <a:latin typeface="Times New Roman" panose="02020603050405020304" pitchFamily="18" charset="0"/>
                <a:cs typeface="Times New Roman" panose="02020603050405020304" pitchFamily="18" charset="0"/>
              </a:rPr>
              <a:t>TO-BE SCENARIO</a:t>
            </a:r>
          </a:p>
        </p:txBody>
      </p:sp>
      <p:sp>
        <p:nvSpPr>
          <p:cNvPr id="18" name="TextBox 17"/>
          <p:cNvSpPr txBox="1"/>
          <p:nvPr/>
        </p:nvSpPr>
        <p:spPr>
          <a:xfrm>
            <a:off x="6505575" y="2228850"/>
            <a:ext cx="4972050" cy="2172646"/>
          </a:xfrm>
          <a:prstGeom prst="rect">
            <a:avLst/>
          </a:prstGeom>
          <a:noFill/>
        </p:spPr>
        <p:txBody>
          <a:bodyPr wrap="square" lIns="0" tIns="0" rIns="0" bIns="0" anchor="t">
            <a:spAutoFit/>
          </a:bodyPr>
          <a:lstStyle/>
          <a:p>
            <a:pPr marL="171450" indent="-171450" algn="l">
              <a:lnSpc>
                <a:spcPts val="1860"/>
              </a:lnSpc>
              <a:buFont typeface="Arial" panose="020B0604020202020204" pitchFamily="34" charset="0"/>
              <a:buChar char="•"/>
            </a:pPr>
            <a:r>
              <a:rPr sz="1200" b="0" i="0" u="none" dirty="0">
                <a:solidFill>
                  <a:srgbClr val="334155"/>
                </a:solidFill>
                <a:latin typeface="Times New Roman" panose="02020603050405020304" pitchFamily="18" charset="0"/>
                <a:cs typeface="Times New Roman" panose="02020603050405020304" pitchFamily="18" charset="0"/>
              </a:rPr>
              <a:t>Mark commands: </a:t>
            </a:r>
            <a:r>
              <a:rPr sz="1200" b="0" i="1" u="none" dirty="0">
                <a:solidFill>
                  <a:srgbClr val="334155"/>
                </a:solidFill>
                <a:latin typeface="Times New Roman" panose="02020603050405020304" pitchFamily="18" charset="0"/>
                <a:cs typeface="Times New Roman" panose="02020603050405020304" pitchFamily="18" charset="0"/>
              </a:rPr>
              <a:t>“THEIA, lead me to TFLO 131 via elevator.”</a:t>
            </a:r>
            <a:r>
              <a:rPr sz="1200" b="0" i="0" u="none" dirty="0">
                <a:solidFill>
                  <a:srgbClr val="334155"/>
                </a:solidFill>
                <a:latin typeface="Times New Roman" panose="02020603050405020304" pitchFamily="18" charset="0"/>
                <a:cs typeface="Times New Roman" panose="02020603050405020304" pitchFamily="18" charset="0"/>
              </a:rPr>
              <a:t> The app generates the shortest accessible route with minimal turns directly to the elevator bank.</a:t>
            </a:r>
            <a:endParaRPr lang="en-US" sz="1200" b="0" i="0" u="none" dirty="0">
              <a:solidFill>
                <a:srgbClr val="334155"/>
              </a:solidFill>
              <a:latin typeface="Times New Roman" panose="02020603050405020304" pitchFamily="18" charset="0"/>
              <a:cs typeface="Times New Roman" panose="02020603050405020304" pitchFamily="18" charset="0"/>
            </a:endParaRPr>
          </a:p>
          <a:p>
            <a:pPr marL="171450" indent="-171450">
              <a:lnSpc>
                <a:spcPts val="1860"/>
              </a:lnSpc>
              <a:buFont typeface="Arial" panose="020B0604020202020204" pitchFamily="34" charset="0"/>
              <a:buChar char="•"/>
            </a:pPr>
            <a:r>
              <a:rPr lang="en-US" sz="1200" dirty="0">
                <a:solidFill>
                  <a:srgbClr val="334155"/>
                </a:solidFill>
                <a:latin typeface="Times New Roman" panose="02020603050405020304" pitchFamily="18" charset="0"/>
                <a:cs typeface="Times New Roman" panose="02020603050405020304" pitchFamily="18" charset="0"/>
              </a:rPr>
              <a:t>Audio cues are used to direct Mark toward the elevator doors, and haptic pulses when arriving at the elevator confirm exact arrival.</a:t>
            </a:r>
          </a:p>
          <a:p>
            <a:pPr marL="171450" indent="-171450">
              <a:lnSpc>
                <a:spcPts val="1860"/>
              </a:lnSpc>
              <a:buFont typeface="Arial" panose="020B0604020202020204" pitchFamily="34" charset="0"/>
              <a:buChar char="•"/>
            </a:pPr>
            <a:r>
              <a:rPr lang="en-US" sz="1200" dirty="0">
                <a:solidFill>
                  <a:srgbClr val="334155"/>
                </a:solidFill>
                <a:latin typeface="Times New Roman" panose="02020603050405020304" pitchFamily="18" charset="0"/>
                <a:cs typeface="Times New Roman" panose="02020603050405020304" pitchFamily="18" charset="0"/>
              </a:rPr>
              <a:t>Upon reaching floor 1, THEIA auto-switches floor plans and continues seamless turn guidance to his classroom.</a:t>
            </a:r>
          </a:p>
          <a:p>
            <a:pPr>
              <a:lnSpc>
                <a:spcPts val="1860"/>
              </a:lnSpc>
            </a:pPr>
            <a:endParaRPr lang="en-US" sz="1200" dirty="0">
              <a:solidFill>
                <a:srgbClr val="334155"/>
              </a:solidFill>
              <a:latin typeface="Times New Roman" panose="02020603050405020304" pitchFamily="18" charset="0"/>
              <a:cs typeface="Times New Roman" panose="02020603050405020304" pitchFamily="18" charset="0"/>
            </a:endParaRPr>
          </a:p>
          <a:p>
            <a:pPr algn="l">
              <a:lnSpc>
                <a:spcPts val="1860"/>
              </a:lnSpc>
            </a:pPr>
            <a:endParaRPr sz="1200" b="0" i="0" u="none" dirty="0">
              <a:solidFill>
                <a:srgbClr val="334155"/>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400"/>
                                        <p:tgtEl>
                                          <p:spTgt spid="1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xEl>
                                              <p:pRg st="0" end="0"/>
                                            </p:txEl>
                                          </p:spTgt>
                                        </p:tgtEl>
                                        <p:attrNameLst>
                                          <p:attrName>style.visibility</p:attrName>
                                        </p:attrNameLst>
                                      </p:cBhvr>
                                      <p:to>
                                        <p:strVal val="visible"/>
                                      </p:to>
                                    </p:set>
                                    <p:animEffect transition="in" filter="fade">
                                      <p:cBhvr>
                                        <p:cTn id="10" dur="400"/>
                                        <p:tgtEl>
                                          <p:spTgt spid="11">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00"/>
                                        <p:tgtEl>
                                          <p:spTgt spid="5"/>
                                        </p:tgtEl>
                                      </p:cBhvr>
                                    </p:animEffect>
                                  </p:childTnLst>
                                </p:cTn>
                              </p:par>
                              <p:par>
                                <p:cTn id="17" presetID="10"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00"/>
                                        <p:tgtEl>
                                          <p:spTgt spid="6"/>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400"/>
                                        <p:tgtEl>
                                          <p:spTgt spid="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fade">
                                      <p:cBhvr>
                                        <p:cTn id="39" dur="400"/>
                                        <p:tgtEl>
                                          <p:spTgt spid="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400"/>
                                        <p:tgtEl>
                                          <p:spTgt spid="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
                                        </p:tgtEl>
                                        <p:attrNameLst>
                                          <p:attrName>style.visibility</p:attrName>
                                        </p:attrNameLst>
                                      </p:cBhvr>
                                      <p:to>
                                        <p:strVal val="visible"/>
                                      </p:to>
                                    </p:set>
                                    <p:animEffect transition="in" filter="fade">
                                      <p:cBhvr>
                                        <p:cTn id="53" dur="400"/>
                                        <p:tgtEl>
                                          <p:spTgt spid="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12" grpId="0"/>
      <p:bldP spid="13" grpId="0"/>
      <p:bldP spid="14" grpId="0"/>
      <p:bldP spid="15" grpId="0"/>
      <p:bldP spid="17"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33400" y="1638300"/>
            <a:ext cx="5429250" cy="4800600"/>
          </a:xfrm>
          <a:prstGeom prst="roundRect">
            <a:avLst>
              <a:gd name="adj" fmla="val 238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6229350" y="1638300"/>
            <a:ext cx="5429250" cy="4800600"/>
          </a:xfrm>
          <a:prstGeom prst="roundRect">
            <a:avLst>
              <a:gd name="adj" fmla="val 2380"/>
            </a:avLst>
          </a:prstGeom>
          <a:solidFill>
            <a:srgbClr val="F0F9FF"/>
          </a:solidFill>
          <a:ln w="9525">
            <a:solidFill>
              <a:srgbClr val="BAE6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p:cNvSpPr/>
          <p:nvPr/>
        </p:nvSpPr>
        <p:spPr>
          <a:xfrm>
            <a:off x="533400" y="1104900"/>
            <a:ext cx="3381375" cy="266700"/>
          </a:xfrm>
          <a:prstGeom prst="roundRect">
            <a:avLst>
              <a:gd name="adj" fmla="val 2142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4029075" y="1104900"/>
            <a:ext cx="2724150" cy="266700"/>
          </a:xfrm>
          <a:prstGeom prst="roundRect">
            <a:avLst>
              <a:gd name="adj" fmla="val 2142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6" name="Picture 5" descr="image.png"/>
          <p:cNvPicPr>
            <a:picLocks noChangeAspect="1"/>
          </p:cNvPicPr>
          <p:nvPr/>
        </p:nvPicPr>
        <p:blipFill>
          <a:blip r:embed="rId2"/>
          <a:stretch>
            <a:fillRect/>
          </a:stretch>
        </p:blipFill>
        <p:spPr>
          <a:xfrm>
            <a:off x="657225" y="1171575"/>
            <a:ext cx="152400" cy="133350"/>
          </a:xfrm>
          <a:prstGeom prst="rect">
            <a:avLst/>
          </a:prstGeom>
        </p:spPr>
      </p:pic>
      <p:pic>
        <p:nvPicPr>
          <p:cNvPr id="7" name="Picture 6" descr="image.png"/>
          <p:cNvPicPr>
            <a:picLocks noChangeAspect="1"/>
          </p:cNvPicPr>
          <p:nvPr/>
        </p:nvPicPr>
        <p:blipFill>
          <a:blip r:embed="rId3"/>
          <a:stretch>
            <a:fillRect/>
          </a:stretch>
        </p:blipFill>
        <p:spPr>
          <a:xfrm>
            <a:off x="4152900" y="1171575"/>
            <a:ext cx="171450" cy="133350"/>
          </a:xfrm>
          <a:prstGeom prst="rect">
            <a:avLst/>
          </a:prstGeom>
        </p:spPr>
      </p:pic>
      <p:pic>
        <p:nvPicPr>
          <p:cNvPr id="8" name="Picture 7" descr="image.png"/>
          <p:cNvPicPr>
            <a:picLocks noChangeAspect="1"/>
          </p:cNvPicPr>
          <p:nvPr/>
        </p:nvPicPr>
        <p:blipFill>
          <a:blip r:embed="rId4"/>
          <a:stretch>
            <a:fillRect/>
          </a:stretch>
        </p:blipFill>
        <p:spPr>
          <a:xfrm>
            <a:off x="809625" y="1900237"/>
            <a:ext cx="161925" cy="152400"/>
          </a:xfrm>
          <a:prstGeom prst="rect">
            <a:avLst/>
          </a:prstGeom>
        </p:spPr>
      </p:pic>
      <p:pic>
        <p:nvPicPr>
          <p:cNvPr id="9" name="Picture 8" descr="image.png"/>
          <p:cNvPicPr>
            <a:picLocks noChangeAspect="1"/>
          </p:cNvPicPr>
          <p:nvPr/>
        </p:nvPicPr>
        <p:blipFill>
          <a:blip r:embed="rId5"/>
          <a:stretch>
            <a:fillRect/>
          </a:stretch>
        </p:blipFill>
        <p:spPr>
          <a:xfrm>
            <a:off x="6505575" y="1900237"/>
            <a:ext cx="161925" cy="152400"/>
          </a:xfrm>
          <a:prstGeom prst="rect">
            <a:avLst/>
          </a:prstGeom>
        </p:spPr>
      </p:pic>
      <p:sp>
        <p:nvSpPr>
          <p:cNvPr id="10" name="TextBox 9"/>
          <p:cNvSpPr txBox="1"/>
          <p:nvPr/>
        </p:nvSpPr>
        <p:spPr>
          <a:xfrm>
            <a:off x="533400" y="419100"/>
            <a:ext cx="814325" cy="161583"/>
          </a:xfrm>
          <a:prstGeom prst="rect">
            <a:avLst/>
          </a:prstGeom>
          <a:noFill/>
        </p:spPr>
        <p:txBody>
          <a:bodyPr wrap="none" lIns="0" tIns="0" rIns="0" bIns="0" anchor="t">
            <a:spAutoFit/>
          </a:bodyPr>
          <a:lstStyle/>
          <a:p>
            <a:pPr algn="l"/>
            <a:r>
              <a:rPr sz="1050" b="1" i="0" u="none" dirty="0">
                <a:solidFill>
                  <a:srgbClr val="0284C7"/>
                </a:solidFill>
                <a:latin typeface="Times New Roman" panose="02020603050405020304" pitchFamily="18" charset="0"/>
                <a:cs typeface="Times New Roman" panose="02020603050405020304" pitchFamily="18" charset="0"/>
              </a:rPr>
              <a:t>SCENARIO 4</a:t>
            </a:r>
          </a:p>
        </p:txBody>
      </p:sp>
      <p:sp>
        <p:nvSpPr>
          <p:cNvPr id="11" name="TextBox 10"/>
          <p:cNvSpPr txBox="1"/>
          <p:nvPr/>
        </p:nvSpPr>
        <p:spPr>
          <a:xfrm>
            <a:off x="533400" y="666750"/>
            <a:ext cx="4744889" cy="346249"/>
          </a:xfrm>
          <a:prstGeom prst="rect">
            <a:avLst/>
          </a:prstGeom>
          <a:noFill/>
        </p:spPr>
        <p:txBody>
          <a:bodyPr wrap="none" lIns="0" tIns="0" rIns="0" bIns="0" anchor="t">
            <a:spAutoFit/>
          </a:bodyPr>
          <a:lstStyle/>
          <a:p>
            <a:pPr algn="l">
              <a:lnSpc>
                <a:spcPts val="2700"/>
              </a:lnSpc>
            </a:pPr>
            <a:r>
              <a:rPr sz="2250" b="1" i="0" u="none" dirty="0">
                <a:solidFill>
                  <a:srgbClr val="0F172A"/>
                </a:solidFill>
                <a:latin typeface="Times New Roman" panose="02020603050405020304" pitchFamily="18" charset="0"/>
                <a:cs typeface="Times New Roman" panose="02020603050405020304" pitchFamily="18" charset="0"/>
              </a:rPr>
              <a:t>Personal Settings &amp; Navigation Modes</a:t>
            </a:r>
          </a:p>
        </p:txBody>
      </p:sp>
      <p:sp>
        <p:nvSpPr>
          <p:cNvPr id="12" name="TextBox 11"/>
          <p:cNvSpPr txBox="1"/>
          <p:nvPr/>
        </p:nvSpPr>
        <p:spPr>
          <a:xfrm>
            <a:off x="866775" y="1152525"/>
            <a:ext cx="2644955" cy="161583"/>
          </a:xfrm>
          <a:prstGeom prst="rect">
            <a:avLst/>
          </a:prstGeom>
          <a:noFill/>
        </p:spPr>
        <p:txBody>
          <a:bodyPr wrap="none" lIns="0" tIns="0" rIns="0" bIns="0" anchor="t">
            <a:spAutoFit/>
          </a:bodyPr>
          <a:lstStyle/>
          <a:p>
            <a:pPr algn="l"/>
            <a:r>
              <a:rPr sz="1050" b="1" i="0" u="none">
                <a:solidFill>
                  <a:srgbClr val="475569"/>
                </a:solidFill>
                <a:latin typeface="Times New Roman" panose="02020603050405020304" pitchFamily="18" charset="0"/>
                <a:cs typeface="Times New Roman" panose="02020603050405020304" pitchFamily="18" charset="0"/>
              </a:rPr>
              <a:t>Feature: Personal settings + navigation modes</a:t>
            </a:r>
          </a:p>
        </p:txBody>
      </p:sp>
      <p:sp>
        <p:nvSpPr>
          <p:cNvPr id="13" name="TextBox 12"/>
          <p:cNvSpPr txBox="1"/>
          <p:nvPr/>
        </p:nvSpPr>
        <p:spPr>
          <a:xfrm>
            <a:off x="4381500" y="1152525"/>
            <a:ext cx="2146421" cy="161583"/>
          </a:xfrm>
          <a:prstGeom prst="rect">
            <a:avLst/>
          </a:prstGeom>
          <a:noFill/>
        </p:spPr>
        <p:txBody>
          <a:bodyPr wrap="none" lIns="0" tIns="0" rIns="0" bIns="0" anchor="t">
            <a:spAutoFit/>
          </a:bodyPr>
          <a:lstStyle/>
          <a:p>
            <a:pPr algn="l"/>
            <a:r>
              <a:rPr sz="1050" b="1" i="0" u="none">
                <a:solidFill>
                  <a:srgbClr val="475569"/>
                </a:solidFill>
                <a:latin typeface="Times New Roman" panose="02020603050405020304" pitchFamily="18" charset="0"/>
                <a:cs typeface="Times New Roman" panose="02020603050405020304" pitchFamily="18" charset="0"/>
              </a:rPr>
              <a:t>User Group: Primary user, caretaker</a:t>
            </a:r>
          </a:p>
        </p:txBody>
      </p:sp>
      <p:sp>
        <p:nvSpPr>
          <p:cNvPr id="14" name="TextBox 13"/>
          <p:cNvSpPr txBox="1"/>
          <p:nvPr/>
        </p:nvSpPr>
        <p:spPr>
          <a:xfrm>
            <a:off x="1066800" y="1876425"/>
            <a:ext cx="1239122" cy="184666"/>
          </a:xfrm>
          <a:prstGeom prst="rect">
            <a:avLst/>
          </a:prstGeom>
          <a:noFill/>
        </p:spPr>
        <p:txBody>
          <a:bodyPr wrap="none" lIns="0" tIns="0" rIns="0" bIns="0" anchor="t">
            <a:spAutoFit/>
          </a:bodyPr>
          <a:lstStyle/>
          <a:p>
            <a:pPr algn="l"/>
            <a:r>
              <a:rPr sz="1200" b="1" i="0" u="none">
                <a:solidFill>
                  <a:srgbClr val="B91C1C"/>
                </a:solidFill>
                <a:latin typeface="Times New Roman" panose="02020603050405020304" pitchFamily="18" charset="0"/>
                <a:cs typeface="Times New Roman" panose="02020603050405020304" pitchFamily="18" charset="0"/>
              </a:rPr>
              <a:t>AS-IS SCENARIO</a:t>
            </a:r>
          </a:p>
        </p:txBody>
      </p:sp>
      <p:sp>
        <p:nvSpPr>
          <p:cNvPr id="15" name="TextBox 14"/>
          <p:cNvSpPr txBox="1"/>
          <p:nvPr/>
        </p:nvSpPr>
        <p:spPr>
          <a:xfrm>
            <a:off x="809625" y="2228850"/>
            <a:ext cx="4972050" cy="1441677"/>
          </a:xfrm>
          <a:prstGeom prst="rect">
            <a:avLst/>
          </a:prstGeom>
          <a:noFill/>
        </p:spPr>
        <p:txBody>
          <a:bodyPr wrap="square" lIns="0" tIns="0" rIns="0" bIns="0" anchor="t">
            <a:spAutoFit/>
          </a:bodyPr>
          <a:lstStyle/>
          <a:p>
            <a:pPr marL="171450" indent="-171450" algn="l">
              <a:lnSpc>
                <a:spcPts val="1860"/>
              </a:lnSpc>
              <a:buFont typeface="Arial" panose="020B0604020202020204" pitchFamily="34" charset="0"/>
              <a:buChar char="•"/>
            </a:pPr>
            <a:r>
              <a:rPr sz="1200" b="0" i="0" u="none" dirty="0">
                <a:solidFill>
                  <a:srgbClr val="334155"/>
                </a:solidFill>
                <a:latin typeface="Times New Roman" panose="02020603050405020304" pitchFamily="18" charset="0"/>
                <a:cs typeface="Times New Roman" panose="02020603050405020304" pitchFamily="18" charset="0"/>
              </a:rPr>
              <a:t>Elena attempts to reach the cafeteria using standard audio maps with a rigid 3-second interval, which is drowned out by ambient noise.</a:t>
            </a:r>
            <a:endParaRPr lang="en-US" sz="1200" b="0" i="0" u="none" dirty="0">
              <a:solidFill>
                <a:srgbClr val="334155"/>
              </a:solidFill>
              <a:latin typeface="Times New Roman" panose="02020603050405020304" pitchFamily="18" charset="0"/>
              <a:cs typeface="Times New Roman" panose="02020603050405020304" pitchFamily="18" charset="0"/>
            </a:endParaRPr>
          </a:p>
          <a:p>
            <a:pPr marL="171450" indent="-171450">
              <a:lnSpc>
                <a:spcPts val="1860"/>
              </a:lnSpc>
              <a:buFont typeface="Arial" panose="020B0604020202020204" pitchFamily="34" charset="0"/>
              <a:buChar char="•"/>
            </a:pPr>
            <a:r>
              <a:rPr lang="en-US" sz="1200" dirty="0">
                <a:solidFill>
                  <a:srgbClr val="334155"/>
                </a:solidFill>
                <a:latin typeface="Times New Roman" panose="02020603050405020304" pitchFamily="18" charset="0"/>
                <a:cs typeface="Times New Roman" panose="02020603050405020304" pitchFamily="18" charset="0"/>
              </a:rPr>
              <a:t>She wants to increase cue frequency and choose calmer hallways but cannot modify complex settings on her own device which requires her caretaker to reconfigure beforehand.</a:t>
            </a:r>
          </a:p>
          <a:p>
            <a:pPr algn="l">
              <a:lnSpc>
                <a:spcPts val="1860"/>
              </a:lnSpc>
            </a:pPr>
            <a:endParaRPr sz="1200" b="0" i="0" u="none" dirty="0">
              <a:solidFill>
                <a:srgbClr val="334155"/>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6762750" y="1876425"/>
            <a:ext cx="1324530" cy="184666"/>
          </a:xfrm>
          <a:prstGeom prst="rect">
            <a:avLst/>
          </a:prstGeom>
          <a:noFill/>
        </p:spPr>
        <p:txBody>
          <a:bodyPr wrap="none" lIns="0" tIns="0" rIns="0" bIns="0" anchor="t">
            <a:spAutoFit/>
          </a:bodyPr>
          <a:lstStyle/>
          <a:p>
            <a:pPr algn="l"/>
            <a:r>
              <a:rPr sz="1200" b="1" i="0" u="none">
                <a:solidFill>
                  <a:srgbClr val="0369A1"/>
                </a:solidFill>
                <a:latin typeface="Times New Roman" panose="02020603050405020304" pitchFamily="18" charset="0"/>
                <a:cs typeface="Times New Roman" panose="02020603050405020304" pitchFamily="18" charset="0"/>
              </a:rPr>
              <a:t>TO-BE SCENARIO</a:t>
            </a:r>
          </a:p>
        </p:txBody>
      </p:sp>
      <p:sp>
        <p:nvSpPr>
          <p:cNvPr id="18" name="TextBox 17"/>
          <p:cNvSpPr txBox="1"/>
          <p:nvPr/>
        </p:nvSpPr>
        <p:spPr>
          <a:xfrm>
            <a:off x="6505575" y="2228850"/>
            <a:ext cx="4972050" cy="2172646"/>
          </a:xfrm>
          <a:prstGeom prst="rect">
            <a:avLst/>
          </a:prstGeom>
          <a:noFill/>
        </p:spPr>
        <p:txBody>
          <a:bodyPr wrap="square" lIns="0" tIns="0" rIns="0" bIns="0" anchor="t">
            <a:spAutoFit/>
          </a:bodyPr>
          <a:lstStyle/>
          <a:p>
            <a:pPr marL="171450" indent="-171450" algn="l">
              <a:lnSpc>
                <a:spcPts val="1860"/>
              </a:lnSpc>
              <a:buFont typeface="Arial" panose="020B0604020202020204" pitchFamily="34" charset="0"/>
              <a:buChar char="•"/>
            </a:pPr>
            <a:r>
              <a:rPr sz="1200" b="0" i="0" u="none" dirty="0">
                <a:solidFill>
                  <a:srgbClr val="334155"/>
                </a:solidFill>
                <a:latin typeface="Times New Roman" panose="02020603050405020304" pitchFamily="18" charset="0"/>
                <a:cs typeface="Times New Roman" panose="02020603050405020304" pitchFamily="18" charset="0"/>
              </a:rPr>
              <a:t>Elena states, </a:t>
            </a:r>
            <a:r>
              <a:rPr sz="1200" b="0" i="1" u="none" dirty="0">
                <a:solidFill>
                  <a:srgbClr val="334155"/>
                </a:solidFill>
                <a:latin typeface="Times New Roman" panose="02020603050405020304" pitchFamily="18" charset="0"/>
                <a:cs typeface="Times New Roman" panose="02020603050405020304" pitchFamily="18" charset="0"/>
              </a:rPr>
              <a:t>“I’m heading to lunch at the cafeteria,”</a:t>
            </a:r>
            <a:r>
              <a:rPr sz="1200" b="0" i="0" u="none" dirty="0">
                <a:solidFill>
                  <a:srgbClr val="334155"/>
                </a:solidFill>
                <a:latin typeface="Times New Roman" panose="02020603050405020304" pitchFamily="18" charset="0"/>
                <a:cs typeface="Times New Roman" panose="02020603050405020304" pitchFamily="18" charset="0"/>
              </a:rPr>
              <a:t> and double-taps the screen to confirm.</a:t>
            </a:r>
            <a:endParaRPr lang="en-US" sz="1200" b="0" i="0" u="none" dirty="0">
              <a:solidFill>
                <a:srgbClr val="334155"/>
              </a:solidFill>
              <a:latin typeface="Times New Roman" panose="02020603050405020304" pitchFamily="18" charset="0"/>
              <a:cs typeface="Times New Roman" panose="02020603050405020304" pitchFamily="18" charset="0"/>
            </a:endParaRPr>
          </a:p>
          <a:p>
            <a:pPr marL="171450" indent="-171450">
              <a:lnSpc>
                <a:spcPts val="1860"/>
              </a:lnSpc>
              <a:buFont typeface="Arial" panose="020B0604020202020204" pitchFamily="34" charset="0"/>
              <a:buChar char="•"/>
            </a:pPr>
            <a:r>
              <a:rPr lang="en-US" sz="1200" dirty="0">
                <a:solidFill>
                  <a:srgbClr val="334155"/>
                </a:solidFill>
                <a:latin typeface="Times New Roman" panose="02020603050405020304" pitchFamily="18" charset="0"/>
                <a:cs typeface="Times New Roman" panose="02020603050405020304" pitchFamily="18" charset="0"/>
              </a:rPr>
              <a:t>Elena says </a:t>
            </a:r>
            <a:r>
              <a:rPr lang="en-US" sz="1200" i="1" dirty="0">
                <a:solidFill>
                  <a:srgbClr val="334155"/>
                </a:solidFill>
                <a:latin typeface="Times New Roman" panose="02020603050405020304" pitchFamily="18" charset="0"/>
                <a:cs typeface="Times New Roman" panose="02020603050405020304" pitchFamily="18" charset="0"/>
              </a:rPr>
              <a:t>“THEIA, louder”</a:t>
            </a:r>
            <a:r>
              <a:rPr lang="en-US" sz="1200" dirty="0">
                <a:solidFill>
                  <a:srgbClr val="334155"/>
                </a:solidFill>
                <a:latin typeface="Times New Roman" panose="02020603050405020304" pitchFamily="18" charset="0"/>
                <a:cs typeface="Times New Roman" panose="02020603050405020304" pitchFamily="18" charset="0"/>
              </a:rPr>
              <a:t> and </a:t>
            </a:r>
            <a:r>
              <a:rPr lang="en-US" sz="1200" i="1" dirty="0">
                <a:solidFill>
                  <a:srgbClr val="334155"/>
                </a:solidFill>
                <a:latin typeface="Times New Roman" panose="02020603050405020304" pitchFamily="18" charset="0"/>
                <a:cs typeface="Times New Roman" panose="02020603050405020304" pitchFamily="18" charset="0"/>
              </a:rPr>
              <a:t>“instructions every 10 seconds”</a:t>
            </a:r>
            <a:r>
              <a:rPr lang="en-US" sz="1200" dirty="0">
                <a:solidFill>
                  <a:srgbClr val="334155"/>
                </a:solidFill>
                <a:latin typeface="Times New Roman" panose="02020603050405020304" pitchFamily="18" charset="0"/>
                <a:cs typeface="Times New Roman" panose="02020603050405020304" pitchFamily="18" charset="0"/>
              </a:rPr>
              <a:t>; THEIA confirms each adjustment aloud and gives instructions more often.</a:t>
            </a:r>
          </a:p>
          <a:p>
            <a:pPr marL="171450" indent="-171450">
              <a:lnSpc>
                <a:spcPts val="1860"/>
              </a:lnSpc>
              <a:buFont typeface="Arial" panose="020B0604020202020204" pitchFamily="34" charset="0"/>
              <a:buChar char="•"/>
            </a:pPr>
            <a:r>
              <a:rPr lang="en-US" sz="1200" dirty="0">
                <a:solidFill>
                  <a:srgbClr val="334155"/>
                </a:solidFill>
                <a:latin typeface="Times New Roman" panose="02020603050405020304" pitchFamily="18" charset="0"/>
                <a:cs typeface="Times New Roman" panose="02020603050405020304" pitchFamily="18" charset="0"/>
              </a:rPr>
              <a:t>THEIA selects a route that avoids areas the map marks as busy, like the main lobby, while emergency contacts set by her caretaker remain locked and secure.</a:t>
            </a:r>
          </a:p>
          <a:p>
            <a:pPr>
              <a:lnSpc>
                <a:spcPts val="1860"/>
              </a:lnSpc>
            </a:pPr>
            <a:endParaRPr lang="en-US" sz="1200" dirty="0">
              <a:solidFill>
                <a:srgbClr val="334155"/>
              </a:solidFill>
              <a:latin typeface="Times New Roman" panose="02020603050405020304" pitchFamily="18" charset="0"/>
              <a:cs typeface="Times New Roman" panose="02020603050405020304" pitchFamily="18" charset="0"/>
            </a:endParaRPr>
          </a:p>
          <a:p>
            <a:pPr algn="l">
              <a:lnSpc>
                <a:spcPts val="1860"/>
              </a:lnSpc>
            </a:pPr>
            <a:endParaRPr sz="1200" b="0" i="0" u="none" dirty="0">
              <a:solidFill>
                <a:srgbClr val="334155"/>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400"/>
                                        <p:tgtEl>
                                          <p:spTgt spid="1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xEl>
                                              <p:pRg st="0" end="0"/>
                                            </p:txEl>
                                          </p:spTgt>
                                        </p:tgtEl>
                                        <p:attrNameLst>
                                          <p:attrName>style.visibility</p:attrName>
                                        </p:attrNameLst>
                                      </p:cBhvr>
                                      <p:to>
                                        <p:strVal val="visible"/>
                                      </p:to>
                                    </p:set>
                                    <p:animEffect transition="in" filter="fade">
                                      <p:cBhvr>
                                        <p:cTn id="10" dur="400"/>
                                        <p:tgtEl>
                                          <p:spTgt spid="11">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00"/>
                                        <p:tgtEl>
                                          <p:spTgt spid="5"/>
                                        </p:tgtEl>
                                      </p:cBhvr>
                                    </p:animEffect>
                                  </p:childTnLst>
                                </p:cTn>
                              </p:par>
                              <p:par>
                                <p:cTn id="17" presetID="10"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00"/>
                                        <p:tgtEl>
                                          <p:spTgt spid="6"/>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400"/>
                                        <p:tgtEl>
                                          <p:spTgt spid="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fade">
                                      <p:cBhvr>
                                        <p:cTn id="39" dur="400"/>
                                        <p:tgtEl>
                                          <p:spTgt spid="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400"/>
                                        <p:tgtEl>
                                          <p:spTgt spid="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
                                        </p:tgtEl>
                                        <p:attrNameLst>
                                          <p:attrName>style.visibility</p:attrName>
                                        </p:attrNameLst>
                                      </p:cBhvr>
                                      <p:to>
                                        <p:strVal val="visible"/>
                                      </p:to>
                                    </p:set>
                                    <p:animEffect transition="in" filter="fade">
                                      <p:cBhvr>
                                        <p:cTn id="53" dur="400"/>
                                        <p:tgtEl>
                                          <p:spTgt spid="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12" grpId="0"/>
      <p:bldP spid="13" grpId="0"/>
      <p:bldP spid="14" grpId="0"/>
      <p:bldP spid="15" grpId="0"/>
      <p:bldP spid="17"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33400" y="3545085"/>
            <a:ext cx="11125200" cy="514350"/>
          </a:xfrm>
          <a:prstGeom prst="roundRect">
            <a:avLst>
              <a:gd name="adj" fmla="val 14814"/>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533400" y="5181600"/>
            <a:ext cx="11125200" cy="1295400"/>
          </a:xfrm>
          <a:prstGeom prst="roundRect">
            <a:avLst>
              <a:gd name="adj" fmla="val 5882"/>
            </a:avLst>
          </a:prstGeom>
          <a:solidFill>
            <a:srgbClr val="FEFCE8"/>
          </a:solidFill>
          <a:ln w="9525">
            <a:solidFill>
              <a:srgbClr val="FEF0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p:cNvSpPr/>
          <p:nvPr/>
        </p:nvSpPr>
        <p:spPr>
          <a:xfrm>
            <a:off x="533400" y="1123950"/>
            <a:ext cx="2555378" cy="1298971"/>
          </a:xfrm>
          <a:prstGeom prst="roundRect">
            <a:avLst>
              <a:gd name="adj" fmla="val 586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3241178" y="1123950"/>
            <a:ext cx="2555378" cy="1298971"/>
          </a:xfrm>
          <a:prstGeom prst="roundRect">
            <a:avLst>
              <a:gd name="adj" fmla="val 586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Rounded Rectangle 5"/>
          <p:cNvSpPr/>
          <p:nvPr/>
        </p:nvSpPr>
        <p:spPr>
          <a:xfrm>
            <a:off x="5948957" y="1123950"/>
            <a:ext cx="2555378" cy="1298971"/>
          </a:xfrm>
          <a:prstGeom prst="roundRect">
            <a:avLst>
              <a:gd name="adj" fmla="val 586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ounded Rectangle 6"/>
          <p:cNvSpPr/>
          <p:nvPr/>
        </p:nvSpPr>
        <p:spPr>
          <a:xfrm>
            <a:off x="8656736" y="1123950"/>
            <a:ext cx="3001714" cy="1298971"/>
          </a:xfrm>
          <a:prstGeom prst="roundRect">
            <a:avLst>
              <a:gd name="adj" fmla="val 5866"/>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Rounded Rectangle 7"/>
          <p:cNvSpPr/>
          <p:nvPr/>
        </p:nvSpPr>
        <p:spPr>
          <a:xfrm>
            <a:off x="1238250" y="3678435"/>
            <a:ext cx="1085850" cy="247650"/>
          </a:xfrm>
          <a:prstGeom prst="roundRect">
            <a:avLst>
              <a:gd name="adj" fmla="val 15384"/>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Rounded Rectangle 8"/>
          <p:cNvSpPr/>
          <p:nvPr/>
        </p:nvSpPr>
        <p:spPr>
          <a:xfrm>
            <a:off x="2988468" y="3678435"/>
            <a:ext cx="1552575" cy="247650"/>
          </a:xfrm>
          <a:prstGeom prst="roundRect">
            <a:avLst>
              <a:gd name="adj" fmla="val 15384"/>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Rounded Rectangle 9"/>
          <p:cNvSpPr/>
          <p:nvPr/>
        </p:nvSpPr>
        <p:spPr>
          <a:xfrm>
            <a:off x="5205412" y="3678435"/>
            <a:ext cx="1800225" cy="247650"/>
          </a:xfrm>
          <a:prstGeom prst="roundRect">
            <a:avLst>
              <a:gd name="adj" fmla="val 15384"/>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Rounded Rectangle 10"/>
          <p:cNvSpPr/>
          <p:nvPr/>
        </p:nvSpPr>
        <p:spPr>
          <a:xfrm>
            <a:off x="7670006" y="3678435"/>
            <a:ext cx="1476375" cy="247650"/>
          </a:xfrm>
          <a:prstGeom prst="roundRect">
            <a:avLst>
              <a:gd name="adj" fmla="val 15384"/>
            </a:avLst>
          </a:prstGeom>
          <a:solidFill>
            <a:srgbClr val="FEE2E2"/>
          </a:solidFill>
          <a:ln w="9525">
            <a:solidFill>
              <a:srgbClr val="FC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Rounded Rectangle 11"/>
          <p:cNvSpPr/>
          <p:nvPr/>
        </p:nvSpPr>
        <p:spPr>
          <a:xfrm>
            <a:off x="9810750" y="3678435"/>
            <a:ext cx="1657350" cy="247650"/>
          </a:xfrm>
          <a:prstGeom prst="roundRect">
            <a:avLst>
              <a:gd name="adj" fmla="val 15384"/>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13" name="Picture 12" descr="image.png"/>
          <p:cNvPicPr>
            <a:picLocks noChangeAspect="1"/>
          </p:cNvPicPr>
          <p:nvPr/>
        </p:nvPicPr>
        <p:blipFill>
          <a:blip r:embed="rId2"/>
          <a:stretch>
            <a:fillRect/>
          </a:stretch>
        </p:blipFill>
        <p:spPr>
          <a:xfrm>
            <a:off x="2603896" y="3745110"/>
            <a:ext cx="104775" cy="114300"/>
          </a:xfrm>
          <a:prstGeom prst="rect">
            <a:avLst/>
          </a:prstGeom>
        </p:spPr>
      </p:pic>
      <p:pic>
        <p:nvPicPr>
          <p:cNvPr id="14" name="Picture 13" descr="image.png"/>
          <p:cNvPicPr>
            <a:picLocks noChangeAspect="1"/>
          </p:cNvPicPr>
          <p:nvPr/>
        </p:nvPicPr>
        <p:blipFill>
          <a:blip r:embed="rId2"/>
          <a:stretch>
            <a:fillRect/>
          </a:stretch>
        </p:blipFill>
        <p:spPr>
          <a:xfrm>
            <a:off x="4820840" y="3745110"/>
            <a:ext cx="104775" cy="114300"/>
          </a:xfrm>
          <a:prstGeom prst="rect">
            <a:avLst/>
          </a:prstGeom>
        </p:spPr>
      </p:pic>
      <p:pic>
        <p:nvPicPr>
          <p:cNvPr id="15" name="Picture 14" descr="image.png"/>
          <p:cNvPicPr>
            <a:picLocks noChangeAspect="1"/>
          </p:cNvPicPr>
          <p:nvPr/>
        </p:nvPicPr>
        <p:blipFill>
          <a:blip r:embed="rId3"/>
          <a:stretch>
            <a:fillRect/>
          </a:stretch>
        </p:blipFill>
        <p:spPr>
          <a:xfrm>
            <a:off x="7285434" y="3745110"/>
            <a:ext cx="104775" cy="114300"/>
          </a:xfrm>
          <a:prstGeom prst="rect">
            <a:avLst/>
          </a:prstGeom>
        </p:spPr>
      </p:pic>
      <p:pic>
        <p:nvPicPr>
          <p:cNvPr id="16" name="Picture 15" descr="image.png"/>
          <p:cNvPicPr>
            <a:picLocks noChangeAspect="1"/>
          </p:cNvPicPr>
          <p:nvPr/>
        </p:nvPicPr>
        <p:blipFill>
          <a:blip r:embed="rId3"/>
          <a:stretch>
            <a:fillRect/>
          </a:stretch>
        </p:blipFill>
        <p:spPr>
          <a:xfrm>
            <a:off x="9426178" y="3745110"/>
            <a:ext cx="104775" cy="114300"/>
          </a:xfrm>
          <a:prstGeom prst="rect">
            <a:avLst/>
          </a:prstGeom>
        </p:spPr>
      </p:pic>
      <p:sp>
        <p:nvSpPr>
          <p:cNvPr id="18" name="TextBox 17"/>
          <p:cNvSpPr txBox="1"/>
          <p:nvPr/>
        </p:nvSpPr>
        <p:spPr>
          <a:xfrm>
            <a:off x="533400" y="666750"/>
            <a:ext cx="6818470" cy="346249"/>
          </a:xfrm>
          <a:prstGeom prst="rect">
            <a:avLst/>
          </a:prstGeom>
          <a:noFill/>
        </p:spPr>
        <p:txBody>
          <a:bodyPr wrap="none" lIns="0" tIns="0" rIns="0" bIns="0" anchor="t">
            <a:spAutoFit/>
          </a:bodyPr>
          <a:lstStyle/>
          <a:p>
            <a:pPr algn="l">
              <a:lnSpc>
                <a:spcPts val="2700"/>
              </a:lnSpc>
            </a:pPr>
            <a:r>
              <a:rPr sz="2250" b="1" i="0" u="none" dirty="0">
                <a:solidFill>
                  <a:srgbClr val="0F172A"/>
                </a:solidFill>
                <a:latin typeface="Times New Roman" panose="02020603050405020304" pitchFamily="18" charset="0"/>
                <a:cs typeface="Times New Roman" panose="02020603050405020304" pitchFamily="18" charset="0"/>
              </a:rPr>
              <a:t>Top Priority Analysis: Off-Route Recovery (Scenario 2)</a:t>
            </a:r>
          </a:p>
        </p:txBody>
      </p:sp>
      <p:sp>
        <p:nvSpPr>
          <p:cNvPr id="19" name="TextBox 18"/>
          <p:cNvSpPr txBox="1"/>
          <p:nvPr/>
        </p:nvSpPr>
        <p:spPr>
          <a:xfrm>
            <a:off x="723900" y="3716535"/>
            <a:ext cx="387927" cy="161583"/>
          </a:xfrm>
          <a:prstGeom prst="rect">
            <a:avLst/>
          </a:prstGeom>
          <a:noFill/>
        </p:spPr>
        <p:txBody>
          <a:bodyPr wrap="none" lIns="0" tIns="0" rIns="0" bIns="0" anchor="t">
            <a:spAutoFit/>
          </a:bodyPr>
          <a:lstStyle/>
          <a:p>
            <a:pPr algn="l"/>
            <a:r>
              <a:rPr sz="1050" b="1" i="0" u="none">
                <a:solidFill>
                  <a:srgbClr val="0F172A"/>
                </a:solidFill>
                <a:latin typeface="Times New Roman" panose="02020603050405020304" pitchFamily="18" charset="0"/>
                <a:cs typeface="Times New Roman" panose="02020603050405020304" pitchFamily="18" charset="0"/>
              </a:rPr>
              <a:t>HOW:</a:t>
            </a:r>
          </a:p>
        </p:txBody>
      </p:sp>
      <p:sp>
        <p:nvSpPr>
          <p:cNvPr id="20" name="TextBox 19"/>
          <p:cNvSpPr txBox="1"/>
          <p:nvPr/>
        </p:nvSpPr>
        <p:spPr>
          <a:xfrm>
            <a:off x="733425" y="5343525"/>
            <a:ext cx="3315010" cy="161583"/>
          </a:xfrm>
          <a:prstGeom prst="rect">
            <a:avLst/>
          </a:prstGeom>
          <a:noFill/>
        </p:spPr>
        <p:txBody>
          <a:bodyPr wrap="none" lIns="0" tIns="0" rIns="0" bIns="0" anchor="t">
            <a:spAutoFit/>
          </a:bodyPr>
          <a:lstStyle/>
          <a:p>
            <a:pPr algn="l"/>
            <a:r>
              <a:rPr sz="1050" b="1" i="0" u="none">
                <a:solidFill>
                  <a:srgbClr val="854D0E"/>
                </a:solidFill>
                <a:latin typeface="Times New Roman" panose="02020603050405020304" pitchFamily="18" charset="0"/>
                <a:cs typeface="Times New Roman" panose="02020603050405020304" pitchFamily="18" charset="0"/>
              </a:rPr>
              <a:t>WHAT-IF EDGE CASES (LESSON 6 REQUIREMENT)</a:t>
            </a:r>
          </a:p>
        </p:txBody>
      </p:sp>
      <p:sp>
        <p:nvSpPr>
          <p:cNvPr id="21" name="TextBox 20"/>
          <p:cNvSpPr txBox="1"/>
          <p:nvPr/>
        </p:nvSpPr>
        <p:spPr>
          <a:xfrm>
            <a:off x="695325" y="1285875"/>
            <a:ext cx="343043" cy="161583"/>
          </a:xfrm>
          <a:prstGeom prst="rect">
            <a:avLst/>
          </a:prstGeom>
          <a:noFill/>
        </p:spPr>
        <p:txBody>
          <a:bodyPr wrap="none" lIns="0" tIns="0" rIns="0" bIns="0" anchor="t">
            <a:spAutoFit/>
          </a:bodyPr>
          <a:lstStyle/>
          <a:p>
            <a:pPr algn="l"/>
            <a:r>
              <a:rPr sz="1050" b="1" i="0" u="none">
                <a:solidFill>
                  <a:srgbClr val="0284C7"/>
                </a:solidFill>
                <a:latin typeface="Times New Roman" panose="02020603050405020304" pitchFamily="18" charset="0"/>
                <a:cs typeface="Times New Roman" panose="02020603050405020304" pitchFamily="18" charset="0"/>
              </a:rPr>
              <a:t>WHO</a:t>
            </a:r>
          </a:p>
        </p:txBody>
      </p:sp>
      <p:sp>
        <p:nvSpPr>
          <p:cNvPr id="22" name="TextBox 21"/>
          <p:cNvSpPr txBox="1"/>
          <p:nvPr/>
        </p:nvSpPr>
        <p:spPr>
          <a:xfrm>
            <a:off x="695325" y="1514475"/>
            <a:ext cx="2326778" cy="560538"/>
          </a:xfrm>
          <a:prstGeom prst="rect">
            <a:avLst/>
          </a:prstGeom>
          <a:noFill/>
        </p:spPr>
        <p:txBody>
          <a:bodyPr wrap="square" lIns="0" tIns="0" rIns="0" bIns="0" anchor="t">
            <a:spAutoFit/>
          </a:bodyPr>
          <a:lstStyle/>
          <a:p>
            <a:pPr algn="l">
              <a:lnSpc>
                <a:spcPts val="1470"/>
              </a:lnSpc>
            </a:pPr>
            <a:r>
              <a:rPr sz="1050" i="0" u="none" dirty="0">
                <a:solidFill>
                  <a:srgbClr val="334155"/>
                </a:solidFill>
                <a:latin typeface="Times New Roman" panose="02020603050405020304" pitchFamily="18" charset="0"/>
                <a:cs typeface="Times New Roman" panose="02020603050405020304" pitchFamily="18" charset="0"/>
              </a:rPr>
              <a:t>Alfred </a:t>
            </a:r>
            <a:r>
              <a:rPr lang="en-US" sz="1050" dirty="0">
                <a:solidFill>
                  <a:srgbClr val="334155"/>
                </a:solidFill>
                <a:latin typeface="Times New Roman" panose="02020603050405020304" pitchFamily="18" charset="0"/>
                <a:cs typeface="Times New Roman" panose="02020603050405020304" pitchFamily="18" charset="0"/>
              </a:rPr>
              <a:t>as primary user</a:t>
            </a:r>
            <a:r>
              <a:rPr sz="1050" i="0" u="none" dirty="0">
                <a:solidFill>
                  <a:srgbClr val="334155"/>
                </a:solidFill>
                <a:latin typeface="Times New Roman" panose="02020603050405020304" pitchFamily="18" charset="0"/>
                <a:cs typeface="Times New Roman" panose="02020603050405020304" pitchFamily="18" charset="0"/>
              </a:rPr>
              <a:t>, Bella </a:t>
            </a:r>
            <a:r>
              <a:rPr lang="en-US" sz="1050" i="0" u="none" dirty="0">
                <a:solidFill>
                  <a:srgbClr val="334155"/>
                </a:solidFill>
                <a:latin typeface="Times New Roman" panose="02020603050405020304" pitchFamily="18" charset="0"/>
                <a:cs typeface="Times New Roman" panose="02020603050405020304" pitchFamily="18" charset="0"/>
              </a:rPr>
              <a:t>as 1</a:t>
            </a:r>
            <a:r>
              <a:rPr lang="en-US" sz="1050" i="0" u="none" baseline="30000" dirty="0">
                <a:solidFill>
                  <a:srgbClr val="334155"/>
                </a:solidFill>
                <a:latin typeface="Times New Roman" panose="02020603050405020304" pitchFamily="18" charset="0"/>
                <a:cs typeface="Times New Roman" panose="02020603050405020304" pitchFamily="18" charset="0"/>
              </a:rPr>
              <a:t>st</a:t>
            </a:r>
            <a:r>
              <a:rPr lang="en-US" sz="1050" i="0" u="none" dirty="0">
                <a:solidFill>
                  <a:srgbClr val="334155"/>
                </a:solidFill>
                <a:latin typeface="Times New Roman" panose="02020603050405020304" pitchFamily="18" charset="0"/>
                <a:cs typeface="Times New Roman" panose="02020603050405020304" pitchFamily="18" charset="0"/>
              </a:rPr>
              <a:t> </a:t>
            </a:r>
            <a:r>
              <a:rPr lang="en-US" sz="1050" dirty="0">
                <a:solidFill>
                  <a:srgbClr val="334155"/>
                </a:solidFill>
                <a:latin typeface="Times New Roman" panose="02020603050405020304" pitchFamily="18" charset="0"/>
                <a:cs typeface="Times New Roman" panose="02020603050405020304" pitchFamily="18" charset="0"/>
              </a:rPr>
              <a:t>secondary user (</a:t>
            </a:r>
            <a:r>
              <a:rPr sz="1050" i="0" u="none" dirty="0">
                <a:solidFill>
                  <a:srgbClr val="334155"/>
                </a:solidFill>
                <a:latin typeface="Times New Roman" panose="02020603050405020304" pitchFamily="18" charset="0"/>
                <a:cs typeface="Times New Roman" panose="02020603050405020304" pitchFamily="18" charset="0"/>
              </a:rPr>
              <a:t>caretaker</a:t>
            </a:r>
            <a:r>
              <a:rPr lang="en-US" sz="1050" i="0" u="none" dirty="0">
                <a:solidFill>
                  <a:srgbClr val="334155"/>
                </a:solidFill>
                <a:latin typeface="Times New Roman" panose="02020603050405020304" pitchFamily="18" charset="0"/>
                <a:cs typeface="Times New Roman" panose="02020603050405020304" pitchFamily="18" charset="0"/>
              </a:rPr>
              <a:t>)</a:t>
            </a:r>
            <a:r>
              <a:rPr sz="1050" i="0" u="none" dirty="0">
                <a:solidFill>
                  <a:srgbClr val="334155"/>
                </a:solidFill>
                <a:latin typeface="Times New Roman" panose="02020603050405020304" pitchFamily="18" charset="0"/>
                <a:cs typeface="Times New Roman" panose="02020603050405020304" pitchFamily="18" charset="0"/>
              </a:rPr>
              <a:t>, with Campus Police as </a:t>
            </a:r>
            <a:r>
              <a:rPr lang="en-US" sz="1050" i="0" u="none" dirty="0">
                <a:solidFill>
                  <a:srgbClr val="334155"/>
                </a:solidFill>
                <a:latin typeface="Times New Roman" panose="02020603050405020304" pitchFamily="18" charset="0"/>
                <a:cs typeface="Times New Roman" panose="02020603050405020304" pitchFamily="18" charset="0"/>
              </a:rPr>
              <a:t>2</a:t>
            </a:r>
            <a:r>
              <a:rPr lang="en-US" sz="1050" i="0" u="none" baseline="30000" dirty="0">
                <a:solidFill>
                  <a:srgbClr val="334155"/>
                </a:solidFill>
                <a:latin typeface="Times New Roman" panose="02020603050405020304" pitchFamily="18" charset="0"/>
                <a:cs typeface="Times New Roman" panose="02020603050405020304" pitchFamily="18" charset="0"/>
              </a:rPr>
              <a:t>nd</a:t>
            </a:r>
            <a:r>
              <a:rPr lang="en-US" sz="1050" i="0" u="none" dirty="0">
                <a:solidFill>
                  <a:srgbClr val="334155"/>
                </a:solidFill>
                <a:latin typeface="Times New Roman" panose="02020603050405020304" pitchFamily="18" charset="0"/>
                <a:cs typeface="Times New Roman" panose="02020603050405020304" pitchFamily="18" charset="0"/>
              </a:rPr>
              <a:t> secondary user (</a:t>
            </a:r>
            <a:r>
              <a:rPr sz="1050" i="0" u="none" dirty="0">
                <a:solidFill>
                  <a:srgbClr val="334155"/>
                </a:solidFill>
                <a:latin typeface="Times New Roman" panose="02020603050405020304" pitchFamily="18" charset="0"/>
                <a:cs typeface="Times New Roman" panose="02020603050405020304" pitchFamily="18" charset="0"/>
              </a:rPr>
              <a:t>backup</a:t>
            </a:r>
            <a:r>
              <a:rPr lang="en-US" sz="1050" i="0" u="none" dirty="0">
                <a:solidFill>
                  <a:srgbClr val="334155"/>
                </a:solidFill>
                <a:latin typeface="Times New Roman" panose="02020603050405020304" pitchFamily="18" charset="0"/>
                <a:cs typeface="Times New Roman" panose="02020603050405020304" pitchFamily="18" charset="0"/>
              </a:rPr>
              <a:t>)</a:t>
            </a:r>
            <a:r>
              <a:rPr sz="1050" i="0" u="none" dirty="0">
                <a:solidFill>
                  <a:srgbClr val="334155"/>
                </a:solidFill>
                <a:latin typeface="Times New Roman" panose="02020603050405020304" pitchFamily="18" charset="0"/>
                <a:cs typeface="Times New Roman" panose="02020603050405020304" pitchFamily="18" charset="0"/>
              </a:rPr>
              <a:t>.</a:t>
            </a:r>
          </a:p>
        </p:txBody>
      </p:sp>
      <p:sp>
        <p:nvSpPr>
          <p:cNvPr id="23" name="TextBox 22"/>
          <p:cNvSpPr txBox="1"/>
          <p:nvPr/>
        </p:nvSpPr>
        <p:spPr>
          <a:xfrm>
            <a:off x="3403103" y="1285875"/>
            <a:ext cx="426399" cy="161583"/>
          </a:xfrm>
          <a:prstGeom prst="rect">
            <a:avLst/>
          </a:prstGeom>
          <a:noFill/>
        </p:spPr>
        <p:txBody>
          <a:bodyPr wrap="none" lIns="0" tIns="0" rIns="0" bIns="0" anchor="t">
            <a:spAutoFit/>
          </a:bodyPr>
          <a:lstStyle/>
          <a:p>
            <a:pPr algn="l"/>
            <a:r>
              <a:rPr sz="1050" b="1" i="0" u="none">
                <a:solidFill>
                  <a:srgbClr val="0284C7"/>
                </a:solidFill>
                <a:latin typeface="Times New Roman" panose="02020603050405020304" pitchFamily="18" charset="0"/>
                <a:cs typeface="Times New Roman" panose="02020603050405020304" pitchFamily="18" charset="0"/>
              </a:rPr>
              <a:t>WHAT</a:t>
            </a:r>
          </a:p>
        </p:txBody>
      </p:sp>
      <p:sp>
        <p:nvSpPr>
          <p:cNvPr id="24" name="TextBox 23"/>
          <p:cNvSpPr txBox="1"/>
          <p:nvPr/>
        </p:nvSpPr>
        <p:spPr>
          <a:xfrm>
            <a:off x="3403103" y="1514475"/>
            <a:ext cx="2326778" cy="559891"/>
          </a:xfrm>
          <a:prstGeom prst="rect">
            <a:avLst/>
          </a:prstGeom>
          <a:noFill/>
        </p:spPr>
        <p:txBody>
          <a:bodyPr wrap="square" lIns="0" tIns="0" rIns="0" bIns="0" anchor="t">
            <a:spAutoFit/>
          </a:bodyPr>
          <a:lstStyle/>
          <a:p>
            <a:pPr algn="l">
              <a:lnSpc>
                <a:spcPts val="1470"/>
              </a:lnSpc>
            </a:pPr>
            <a:r>
              <a:rPr sz="1050" b="0" i="0" u="none" dirty="0">
                <a:solidFill>
                  <a:srgbClr val="334155"/>
                </a:solidFill>
                <a:latin typeface="Times New Roman" panose="02020603050405020304" pitchFamily="18" charset="0"/>
                <a:cs typeface="Times New Roman" panose="02020603050405020304" pitchFamily="18" charset="0"/>
              </a:rPr>
              <a:t>Off-route detection, guide back to last known location, and automated SMS emergency dispatch.</a:t>
            </a:r>
          </a:p>
        </p:txBody>
      </p:sp>
      <p:sp>
        <p:nvSpPr>
          <p:cNvPr id="25" name="TextBox 24"/>
          <p:cNvSpPr txBox="1"/>
          <p:nvPr/>
        </p:nvSpPr>
        <p:spPr>
          <a:xfrm>
            <a:off x="6110882" y="1285875"/>
            <a:ext cx="1122102" cy="161583"/>
          </a:xfrm>
          <a:prstGeom prst="rect">
            <a:avLst/>
          </a:prstGeom>
          <a:noFill/>
        </p:spPr>
        <p:txBody>
          <a:bodyPr wrap="none" lIns="0" tIns="0" rIns="0" bIns="0" anchor="t">
            <a:spAutoFit/>
          </a:bodyPr>
          <a:lstStyle/>
          <a:p>
            <a:pPr algn="l"/>
            <a:r>
              <a:rPr sz="1050" b="1" i="0" u="none">
                <a:solidFill>
                  <a:srgbClr val="0284C7"/>
                </a:solidFill>
                <a:latin typeface="Times New Roman" panose="02020603050405020304" pitchFamily="18" charset="0"/>
                <a:cs typeface="Times New Roman" panose="02020603050405020304" pitchFamily="18" charset="0"/>
              </a:rPr>
              <a:t>WHEN &amp; WHERE</a:t>
            </a:r>
          </a:p>
        </p:txBody>
      </p:sp>
      <p:sp>
        <p:nvSpPr>
          <p:cNvPr id="26" name="TextBox 25"/>
          <p:cNvSpPr txBox="1"/>
          <p:nvPr/>
        </p:nvSpPr>
        <p:spPr>
          <a:xfrm>
            <a:off x="6110882" y="1514475"/>
            <a:ext cx="2326778" cy="560538"/>
          </a:xfrm>
          <a:prstGeom prst="rect">
            <a:avLst/>
          </a:prstGeom>
          <a:noFill/>
        </p:spPr>
        <p:txBody>
          <a:bodyPr wrap="square" lIns="0" tIns="0" rIns="0" bIns="0" anchor="t">
            <a:spAutoFit/>
          </a:bodyPr>
          <a:lstStyle/>
          <a:p>
            <a:pPr algn="l">
              <a:lnSpc>
                <a:spcPts val="1470"/>
              </a:lnSpc>
            </a:pPr>
            <a:r>
              <a:rPr sz="1050" b="0" i="0" u="none" dirty="0">
                <a:solidFill>
                  <a:srgbClr val="334155"/>
                </a:solidFill>
                <a:latin typeface="Times New Roman" panose="02020603050405020304" pitchFamily="18" charset="0"/>
                <a:cs typeface="Times New Roman" panose="02020603050405020304" pitchFamily="18" charset="0"/>
              </a:rPr>
              <a:t>During any trip (especially after detours in empty buildings at night) across any mapped floor</a:t>
            </a:r>
            <a:r>
              <a:rPr lang="en-US" sz="1050" b="0" i="0" u="none" dirty="0">
                <a:solidFill>
                  <a:srgbClr val="334155"/>
                </a:solidFill>
                <a:latin typeface="Times New Roman" panose="02020603050405020304" pitchFamily="18" charset="0"/>
                <a:cs typeface="Times New Roman" panose="02020603050405020304" pitchFamily="18" charset="0"/>
              </a:rPr>
              <a:t> (e.g., Spark 233).</a:t>
            </a:r>
            <a:endParaRPr sz="1050" b="0" i="0" u="none" dirty="0">
              <a:solidFill>
                <a:srgbClr val="334155"/>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8818661" y="1285875"/>
            <a:ext cx="1354538" cy="161583"/>
          </a:xfrm>
          <a:prstGeom prst="rect">
            <a:avLst/>
          </a:prstGeom>
          <a:noFill/>
        </p:spPr>
        <p:txBody>
          <a:bodyPr wrap="none" lIns="0" tIns="0" rIns="0" bIns="0" anchor="t">
            <a:spAutoFit/>
          </a:bodyPr>
          <a:lstStyle/>
          <a:p>
            <a:pPr algn="l"/>
            <a:r>
              <a:rPr sz="1050" b="1" i="0" u="none">
                <a:solidFill>
                  <a:srgbClr val="1D4ED8"/>
                </a:solidFill>
                <a:latin typeface="Times New Roman" panose="02020603050405020304" pitchFamily="18" charset="0"/>
                <a:cs typeface="Times New Roman" panose="02020603050405020304" pitchFamily="18" charset="0"/>
              </a:rPr>
              <a:t>WHY TOP PRIORITY</a:t>
            </a:r>
          </a:p>
        </p:txBody>
      </p:sp>
      <p:sp>
        <p:nvSpPr>
          <p:cNvPr id="28" name="TextBox 27"/>
          <p:cNvSpPr txBox="1"/>
          <p:nvPr/>
        </p:nvSpPr>
        <p:spPr>
          <a:xfrm>
            <a:off x="8818661" y="1514475"/>
            <a:ext cx="2773114" cy="559891"/>
          </a:xfrm>
          <a:prstGeom prst="rect">
            <a:avLst/>
          </a:prstGeom>
          <a:noFill/>
        </p:spPr>
        <p:txBody>
          <a:bodyPr wrap="square" lIns="0" tIns="0" rIns="0" bIns="0" anchor="t">
            <a:spAutoFit/>
          </a:bodyPr>
          <a:lstStyle/>
          <a:p>
            <a:pPr algn="l">
              <a:lnSpc>
                <a:spcPts val="1470"/>
              </a:lnSpc>
            </a:pPr>
            <a:r>
              <a:rPr sz="1050" b="0" i="0" u="none" dirty="0">
                <a:solidFill>
                  <a:srgbClr val="1E40AF"/>
                </a:solidFill>
                <a:latin typeface="Times New Roman" panose="02020603050405020304" pitchFamily="18" charset="0"/>
                <a:cs typeface="Times New Roman" panose="02020603050405020304" pitchFamily="18" charset="0"/>
              </a:rPr>
              <a:t>Safety-critical and high impact</a:t>
            </a:r>
            <a:r>
              <a:rPr lang="en-US" sz="1050" b="0" i="0" u="none" dirty="0">
                <a:solidFill>
                  <a:srgbClr val="1E40AF"/>
                </a:solidFill>
                <a:latin typeface="Times New Roman" panose="02020603050405020304" pitchFamily="18" charset="0"/>
                <a:cs typeface="Times New Roman" panose="02020603050405020304" pitchFamily="18" charset="0"/>
              </a:rPr>
              <a:t>,</a:t>
            </a:r>
            <a:r>
              <a:rPr sz="1050" b="0" i="0" u="none" dirty="0">
                <a:solidFill>
                  <a:srgbClr val="1E40AF"/>
                </a:solidFill>
                <a:latin typeface="Times New Roman" panose="02020603050405020304" pitchFamily="18" charset="0"/>
                <a:cs typeface="Times New Roman" panose="02020603050405020304" pitchFamily="18" charset="0"/>
              </a:rPr>
              <a:t> </a:t>
            </a:r>
            <a:r>
              <a:rPr lang="en-US" sz="1050" dirty="0">
                <a:solidFill>
                  <a:srgbClr val="1E40AF"/>
                </a:solidFill>
                <a:latin typeface="Times New Roman" panose="02020603050405020304" pitchFamily="18" charset="0"/>
                <a:cs typeface="Times New Roman" panose="02020603050405020304" pitchFamily="18" charset="0"/>
              </a:rPr>
              <a:t>it</a:t>
            </a:r>
            <a:r>
              <a:rPr sz="1050" b="0" i="0" u="none" dirty="0">
                <a:solidFill>
                  <a:srgbClr val="1E40AF"/>
                </a:solidFill>
                <a:latin typeface="Times New Roman" panose="02020603050405020304" pitchFamily="18" charset="0"/>
                <a:cs typeface="Times New Roman" panose="02020603050405020304" pitchFamily="18" charset="0"/>
              </a:rPr>
              <a:t> provides contextual failsafe recovery that a white cane or service dog cannot deliver</a:t>
            </a:r>
            <a:r>
              <a:rPr lang="en-US" sz="1050" b="0" i="0" u="none" dirty="0">
                <a:solidFill>
                  <a:srgbClr val="1E40AF"/>
                </a:solidFill>
                <a:latin typeface="Times New Roman" panose="02020603050405020304" pitchFamily="18" charset="0"/>
                <a:cs typeface="Times New Roman" panose="02020603050405020304" pitchFamily="18" charset="0"/>
              </a:rPr>
              <a:t> on it own.</a:t>
            </a:r>
            <a:endParaRPr sz="1050" b="0" i="0" u="none" dirty="0">
              <a:solidFill>
                <a:srgbClr val="1E40AF"/>
              </a:solidFill>
              <a:latin typeface="Times New Roman" panose="02020603050405020304" pitchFamily="18" charset="0"/>
              <a:cs typeface="Times New Roman" panose="02020603050405020304" pitchFamily="18" charset="0"/>
            </a:endParaRPr>
          </a:p>
        </p:txBody>
      </p:sp>
      <p:sp>
        <p:nvSpPr>
          <p:cNvPr id="29" name="TextBox 28"/>
          <p:cNvSpPr txBox="1"/>
          <p:nvPr/>
        </p:nvSpPr>
        <p:spPr>
          <a:xfrm>
            <a:off x="1314450" y="3716535"/>
            <a:ext cx="1028700" cy="150041"/>
          </a:xfrm>
          <a:prstGeom prst="rect">
            <a:avLst/>
          </a:prstGeom>
          <a:noFill/>
        </p:spPr>
        <p:txBody>
          <a:bodyPr wrap="square" lIns="0" tIns="0" rIns="0" bIns="0" anchor="t">
            <a:spAutoFit/>
          </a:bodyPr>
          <a:lstStyle/>
          <a:p>
            <a:pPr algn="l"/>
            <a:r>
              <a:rPr sz="975" b="1" i="0" u="none">
                <a:solidFill>
                  <a:srgbClr val="334155"/>
                </a:solidFill>
                <a:latin typeface="Times New Roman" panose="02020603050405020304" pitchFamily="18" charset="0"/>
                <a:cs typeface="Times New Roman" panose="02020603050405020304" pitchFamily="18" charset="0"/>
              </a:rPr>
              <a:t>Missed Beacon</a:t>
            </a:r>
          </a:p>
        </p:txBody>
      </p:sp>
      <p:sp>
        <p:nvSpPr>
          <p:cNvPr id="30" name="TextBox 29"/>
          <p:cNvSpPr txBox="1"/>
          <p:nvPr/>
        </p:nvSpPr>
        <p:spPr>
          <a:xfrm>
            <a:off x="3064668" y="3716535"/>
            <a:ext cx="1495425" cy="150041"/>
          </a:xfrm>
          <a:prstGeom prst="rect">
            <a:avLst/>
          </a:prstGeom>
          <a:noFill/>
        </p:spPr>
        <p:txBody>
          <a:bodyPr wrap="square" lIns="0" tIns="0" rIns="0" bIns="0" anchor="t">
            <a:spAutoFit/>
          </a:bodyPr>
          <a:lstStyle/>
          <a:p>
            <a:pPr algn="l"/>
            <a:r>
              <a:rPr sz="975" b="1" i="0" u="none" dirty="0">
                <a:solidFill>
                  <a:srgbClr val="334155"/>
                </a:solidFill>
                <a:latin typeface="Times New Roman" panose="02020603050405020304" pitchFamily="18" charset="0"/>
                <a:cs typeface="Times New Roman" panose="02020603050405020304" pitchFamily="18" charset="0"/>
              </a:rPr>
              <a:t>"May be off route" Alert</a:t>
            </a:r>
          </a:p>
        </p:txBody>
      </p:sp>
      <p:sp>
        <p:nvSpPr>
          <p:cNvPr id="31" name="TextBox 30"/>
          <p:cNvSpPr txBox="1"/>
          <p:nvPr/>
        </p:nvSpPr>
        <p:spPr>
          <a:xfrm>
            <a:off x="5281612" y="3652219"/>
            <a:ext cx="1743075" cy="300082"/>
          </a:xfrm>
          <a:prstGeom prst="rect">
            <a:avLst/>
          </a:prstGeom>
          <a:noFill/>
        </p:spPr>
        <p:txBody>
          <a:bodyPr wrap="square" lIns="0" tIns="0" rIns="0" bIns="0" anchor="t">
            <a:spAutoFit/>
          </a:bodyPr>
          <a:lstStyle/>
          <a:p>
            <a:pPr algn="l"/>
            <a:r>
              <a:rPr sz="975" b="1" i="0" u="none" dirty="0">
                <a:solidFill>
                  <a:srgbClr val="334155"/>
                </a:solidFill>
                <a:latin typeface="Times New Roman" panose="02020603050405020304" pitchFamily="18" charset="0"/>
                <a:cs typeface="Times New Roman" panose="02020603050405020304" pitchFamily="18" charset="0"/>
              </a:rPr>
              <a:t>Reroute or Guide to Last </a:t>
            </a:r>
            <a:r>
              <a:rPr lang="en-US" sz="975" b="1" dirty="0">
                <a:solidFill>
                  <a:srgbClr val="334155"/>
                </a:solidFill>
                <a:latin typeface="Times New Roman" panose="02020603050405020304" pitchFamily="18" charset="0"/>
                <a:cs typeface="Times New Roman" panose="02020603050405020304" pitchFamily="18" charset="0"/>
              </a:rPr>
              <a:t>Beacon</a:t>
            </a:r>
            <a:endParaRPr sz="975" b="1" i="0" u="none" dirty="0">
              <a:solidFill>
                <a:srgbClr val="334155"/>
              </a:solidFill>
              <a:latin typeface="Times New Roman" panose="02020603050405020304" pitchFamily="18" charset="0"/>
              <a:cs typeface="Times New Roman" panose="02020603050405020304" pitchFamily="18" charset="0"/>
            </a:endParaRPr>
          </a:p>
        </p:txBody>
      </p:sp>
      <p:sp>
        <p:nvSpPr>
          <p:cNvPr id="32" name="TextBox 31"/>
          <p:cNvSpPr txBox="1"/>
          <p:nvPr/>
        </p:nvSpPr>
        <p:spPr>
          <a:xfrm>
            <a:off x="7746206" y="3716535"/>
            <a:ext cx="1419225" cy="150041"/>
          </a:xfrm>
          <a:prstGeom prst="rect">
            <a:avLst/>
          </a:prstGeom>
          <a:noFill/>
        </p:spPr>
        <p:txBody>
          <a:bodyPr wrap="square" lIns="0" tIns="0" rIns="0" bIns="0" anchor="t">
            <a:spAutoFit/>
          </a:bodyPr>
          <a:lstStyle/>
          <a:p>
            <a:pPr algn="ctr"/>
            <a:r>
              <a:rPr sz="975" b="1" i="0" u="none" dirty="0">
                <a:solidFill>
                  <a:srgbClr val="991B1B"/>
                </a:solidFill>
                <a:latin typeface="Times New Roman" panose="02020603050405020304" pitchFamily="18" charset="0"/>
                <a:cs typeface="Times New Roman" panose="02020603050405020304" pitchFamily="18" charset="0"/>
              </a:rPr>
              <a:t>User Says "Help"</a:t>
            </a:r>
          </a:p>
        </p:txBody>
      </p:sp>
      <p:sp>
        <p:nvSpPr>
          <p:cNvPr id="33" name="TextBox 32"/>
          <p:cNvSpPr txBox="1"/>
          <p:nvPr/>
        </p:nvSpPr>
        <p:spPr>
          <a:xfrm>
            <a:off x="9886950" y="3716535"/>
            <a:ext cx="1600200" cy="150041"/>
          </a:xfrm>
          <a:prstGeom prst="rect">
            <a:avLst/>
          </a:prstGeom>
          <a:noFill/>
        </p:spPr>
        <p:txBody>
          <a:bodyPr wrap="square" lIns="0" tIns="0" rIns="0" bIns="0" anchor="t">
            <a:spAutoFit/>
          </a:bodyPr>
          <a:lstStyle/>
          <a:p>
            <a:pPr algn="l"/>
            <a:r>
              <a:rPr sz="975" b="1" i="0" u="none" dirty="0">
                <a:solidFill>
                  <a:srgbClr val="334155"/>
                </a:solidFill>
                <a:latin typeface="Times New Roman" panose="02020603050405020304" pitchFamily="18" charset="0"/>
                <a:cs typeface="Times New Roman" panose="02020603050405020304" pitchFamily="18" charset="0"/>
              </a:rPr>
              <a:t>Caretaker </a:t>
            </a:r>
            <a:r>
              <a:rPr lang="en-US" sz="975" b="1" dirty="0">
                <a:solidFill>
                  <a:srgbClr val="334155"/>
                </a:solidFill>
                <a:latin typeface="Times New Roman" panose="02020603050405020304" pitchFamily="18" charset="0"/>
                <a:cs typeface="Times New Roman" panose="02020603050405020304" pitchFamily="18" charset="0"/>
              </a:rPr>
              <a:t>Gets Text Location</a:t>
            </a:r>
            <a:endParaRPr sz="975" b="1" i="0" u="none" dirty="0">
              <a:solidFill>
                <a:srgbClr val="334155"/>
              </a:solidFill>
              <a:latin typeface="Times New Roman" panose="02020603050405020304" pitchFamily="18" charset="0"/>
              <a:cs typeface="Times New Roman" panose="02020603050405020304" pitchFamily="18" charset="0"/>
            </a:endParaRPr>
          </a:p>
        </p:txBody>
      </p:sp>
      <p:sp>
        <p:nvSpPr>
          <p:cNvPr id="34" name="TextBox 33"/>
          <p:cNvSpPr txBox="1"/>
          <p:nvPr/>
        </p:nvSpPr>
        <p:spPr>
          <a:xfrm>
            <a:off x="733425" y="5591175"/>
            <a:ext cx="5343525" cy="150041"/>
          </a:xfrm>
          <a:prstGeom prst="rect">
            <a:avLst/>
          </a:prstGeom>
          <a:noFill/>
        </p:spPr>
        <p:txBody>
          <a:bodyPr wrap="square" lIns="0" tIns="0" rIns="0" bIns="0" anchor="t">
            <a:spAutoFit/>
          </a:bodyPr>
          <a:lstStyle/>
          <a:p>
            <a:pPr algn="l"/>
            <a:r>
              <a:rPr sz="975" b="1" i="0" u="none">
                <a:solidFill>
                  <a:srgbClr val="713F12"/>
                </a:solidFill>
                <a:latin typeface="Times New Roman" panose="02020603050405020304" pitchFamily="18" charset="0"/>
                <a:cs typeface="Times New Roman" panose="02020603050405020304" pitchFamily="18" charset="0"/>
              </a:rPr>
              <a:t>No beacon nearby?</a:t>
            </a:r>
            <a:r>
              <a:rPr sz="975" b="0" i="0" u="none">
                <a:solidFill>
                  <a:srgbClr val="713F12"/>
                </a:solidFill>
                <a:latin typeface="Times New Roman" panose="02020603050405020304" pitchFamily="18" charset="0"/>
                <a:cs typeface="Times New Roman" panose="02020603050405020304" pitchFamily="18" charset="0"/>
              </a:rPr>
              <a:t> THEIA announces last confirmed location and guides user along the nearest wall.</a:t>
            </a:r>
          </a:p>
        </p:txBody>
      </p:sp>
      <p:sp>
        <p:nvSpPr>
          <p:cNvPr id="35" name="TextBox 34"/>
          <p:cNvSpPr txBox="1"/>
          <p:nvPr/>
        </p:nvSpPr>
        <p:spPr>
          <a:xfrm>
            <a:off x="6210300" y="5591175"/>
            <a:ext cx="5343525" cy="150041"/>
          </a:xfrm>
          <a:prstGeom prst="rect">
            <a:avLst/>
          </a:prstGeom>
          <a:noFill/>
        </p:spPr>
        <p:txBody>
          <a:bodyPr wrap="square" lIns="0" tIns="0" rIns="0" bIns="0" anchor="t">
            <a:spAutoFit/>
          </a:bodyPr>
          <a:lstStyle/>
          <a:p>
            <a:pPr algn="l"/>
            <a:r>
              <a:rPr sz="975" b="1" i="0" u="none">
                <a:solidFill>
                  <a:srgbClr val="713F12"/>
                </a:solidFill>
                <a:latin typeface="Times New Roman" panose="02020603050405020304" pitchFamily="18" charset="0"/>
                <a:cs typeface="Times New Roman" panose="02020603050405020304" pitchFamily="18" charset="0"/>
              </a:rPr>
              <a:t>Unresponsive fall?</a:t>
            </a:r>
            <a:r>
              <a:rPr sz="975" b="0" i="0" u="none">
                <a:solidFill>
                  <a:srgbClr val="713F12"/>
                </a:solidFill>
                <a:latin typeface="Times New Roman" panose="02020603050405020304" pitchFamily="18" charset="0"/>
                <a:cs typeface="Times New Roman" panose="02020603050405020304" pitchFamily="18" charset="0"/>
              </a:rPr>
              <a:t> System initiates a 30-second countdown, then automatically sends location SMS.</a:t>
            </a:r>
          </a:p>
        </p:txBody>
      </p:sp>
      <p:sp>
        <p:nvSpPr>
          <p:cNvPr id="36" name="TextBox 35"/>
          <p:cNvSpPr txBox="1"/>
          <p:nvPr/>
        </p:nvSpPr>
        <p:spPr>
          <a:xfrm>
            <a:off x="733425" y="6010275"/>
            <a:ext cx="5343525" cy="150041"/>
          </a:xfrm>
          <a:prstGeom prst="rect">
            <a:avLst/>
          </a:prstGeom>
          <a:noFill/>
        </p:spPr>
        <p:txBody>
          <a:bodyPr wrap="square" lIns="0" tIns="0" rIns="0" bIns="0" anchor="t">
            <a:spAutoFit/>
          </a:bodyPr>
          <a:lstStyle/>
          <a:p>
            <a:pPr algn="l"/>
            <a:r>
              <a:rPr sz="975" b="1" i="0" u="none" dirty="0">
                <a:solidFill>
                  <a:srgbClr val="713F12"/>
                </a:solidFill>
                <a:latin typeface="Times New Roman" panose="02020603050405020304" pitchFamily="18" charset="0"/>
                <a:cs typeface="Times New Roman" panose="02020603050405020304" pitchFamily="18" charset="0"/>
              </a:rPr>
              <a:t>Caretaker unresponsive?</a:t>
            </a:r>
            <a:r>
              <a:rPr sz="975" b="0" i="0" u="none" dirty="0">
                <a:solidFill>
                  <a:srgbClr val="713F12"/>
                </a:solidFill>
                <a:latin typeface="Times New Roman" panose="02020603050405020304" pitchFamily="18" charset="0"/>
                <a:cs typeface="Times New Roman" panose="02020603050405020304" pitchFamily="18" charset="0"/>
              </a:rPr>
              <a:t> THEIA immediately prompts escalation to Campus Police dispatch.</a:t>
            </a:r>
          </a:p>
        </p:txBody>
      </p:sp>
      <p:sp>
        <p:nvSpPr>
          <p:cNvPr id="37" name="TextBox 36"/>
          <p:cNvSpPr txBox="1"/>
          <p:nvPr/>
        </p:nvSpPr>
        <p:spPr>
          <a:xfrm>
            <a:off x="6210300" y="6010275"/>
            <a:ext cx="5343525" cy="150041"/>
          </a:xfrm>
          <a:prstGeom prst="rect">
            <a:avLst/>
          </a:prstGeom>
          <a:noFill/>
        </p:spPr>
        <p:txBody>
          <a:bodyPr wrap="square" lIns="0" tIns="0" rIns="0" bIns="0" anchor="t">
            <a:spAutoFit/>
          </a:bodyPr>
          <a:lstStyle/>
          <a:p>
            <a:pPr algn="l"/>
            <a:r>
              <a:rPr sz="975" b="1" i="0" u="none">
                <a:solidFill>
                  <a:srgbClr val="713F12"/>
                </a:solidFill>
                <a:latin typeface="Times New Roman" panose="02020603050405020304" pitchFamily="18" charset="0"/>
                <a:cs typeface="Times New Roman" panose="02020603050405020304" pitchFamily="18" charset="0"/>
              </a:rPr>
              <a:t>False alarm triggered?</a:t>
            </a:r>
            <a:r>
              <a:rPr sz="975" b="0" i="0" u="none">
                <a:solidFill>
                  <a:srgbClr val="713F12"/>
                </a:solidFill>
                <a:latin typeface="Times New Roman" panose="02020603050405020304" pitchFamily="18" charset="0"/>
                <a:cs typeface="Times New Roman" panose="02020603050405020304" pitchFamily="18" charset="0"/>
              </a:rPr>
              <a:t> User can verbally cancel within the alert window by saying </a:t>
            </a:r>
            <a:r>
              <a:rPr sz="975" b="0" i="1" u="none">
                <a:solidFill>
                  <a:srgbClr val="713F12"/>
                </a:solidFill>
                <a:latin typeface="Times New Roman" panose="02020603050405020304" pitchFamily="18" charset="0"/>
                <a:cs typeface="Times New Roman" panose="02020603050405020304" pitchFamily="18" charset="0"/>
              </a:rPr>
              <a:t>"Cancel"</a:t>
            </a:r>
            <a:r>
              <a:rPr sz="975" b="0" i="0" u="none">
                <a:solidFill>
                  <a:srgbClr val="713F12"/>
                </a:solidFill>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4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33400" y="1495425"/>
            <a:ext cx="3378993" cy="4943475"/>
          </a:xfrm>
          <a:prstGeom prst="roundRect">
            <a:avLst>
              <a:gd name="adj" fmla="val 338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4102893" y="1495425"/>
            <a:ext cx="3378993" cy="4943475"/>
          </a:xfrm>
          <a:prstGeom prst="roundRect">
            <a:avLst>
              <a:gd name="adj" fmla="val 338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p:cNvSpPr/>
          <p:nvPr/>
        </p:nvSpPr>
        <p:spPr>
          <a:xfrm>
            <a:off x="7672387" y="1495425"/>
            <a:ext cx="3986212" cy="4943475"/>
          </a:xfrm>
          <a:prstGeom prst="roundRect">
            <a:avLst>
              <a:gd name="adj" fmla="val 2867"/>
            </a:avLst>
          </a:prstGeom>
          <a:solidFill>
            <a:srgbClr val="F0F9FF"/>
          </a:solidFill>
          <a:ln w="1905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8" name="Picture 7" descr="image.png"/>
          <p:cNvPicPr>
            <a:picLocks noChangeAspect="1"/>
          </p:cNvPicPr>
          <p:nvPr/>
        </p:nvPicPr>
        <p:blipFill>
          <a:blip r:embed="rId2"/>
          <a:stretch>
            <a:fillRect/>
          </a:stretch>
        </p:blipFill>
        <p:spPr>
          <a:xfrm>
            <a:off x="752475" y="1743075"/>
            <a:ext cx="171450" cy="152400"/>
          </a:xfrm>
          <a:prstGeom prst="rect">
            <a:avLst/>
          </a:prstGeom>
        </p:spPr>
      </p:pic>
      <p:pic>
        <p:nvPicPr>
          <p:cNvPr id="9" name="Picture 8" descr="image.png"/>
          <p:cNvPicPr>
            <a:picLocks noChangeAspect="1"/>
          </p:cNvPicPr>
          <p:nvPr/>
        </p:nvPicPr>
        <p:blipFill>
          <a:blip r:embed="rId3"/>
          <a:stretch>
            <a:fillRect/>
          </a:stretch>
        </p:blipFill>
        <p:spPr>
          <a:xfrm>
            <a:off x="4321968" y="1743075"/>
            <a:ext cx="171450" cy="152400"/>
          </a:xfrm>
          <a:prstGeom prst="rect">
            <a:avLst/>
          </a:prstGeom>
        </p:spPr>
      </p:pic>
      <p:pic>
        <p:nvPicPr>
          <p:cNvPr id="10" name="Picture 9" descr="image.png"/>
          <p:cNvPicPr>
            <a:picLocks noChangeAspect="1"/>
          </p:cNvPicPr>
          <p:nvPr/>
        </p:nvPicPr>
        <p:blipFill>
          <a:blip r:embed="rId4"/>
          <a:stretch>
            <a:fillRect/>
          </a:stretch>
        </p:blipFill>
        <p:spPr>
          <a:xfrm>
            <a:off x="7900987" y="1752600"/>
            <a:ext cx="152400" cy="152400"/>
          </a:xfrm>
          <a:prstGeom prst="rect">
            <a:avLst/>
          </a:prstGeom>
        </p:spPr>
      </p:pic>
      <p:sp>
        <p:nvSpPr>
          <p:cNvPr id="12" name="TextBox 11"/>
          <p:cNvSpPr txBox="1"/>
          <p:nvPr/>
        </p:nvSpPr>
        <p:spPr>
          <a:xfrm>
            <a:off x="533400" y="666750"/>
            <a:ext cx="4523418" cy="346249"/>
          </a:xfrm>
          <a:prstGeom prst="rect">
            <a:avLst/>
          </a:prstGeom>
          <a:noFill/>
        </p:spPr>
        <p:txBody>
          <a:bodyPr wrap="none" lIns="0" tIns="0" rIns="0" bIns="0" anchor="t">
            <a:spAutoFit/>
          </a:bodyPr>
          <a:lstStyle/>
          <a:p>
            <a:pPr algn="l">
              <a:lnSpc>
                <a:spcPts val="2700"/>
              </a:lnSpc>
            </a:pPr>
            <a:r>
              <a:rPr sz="2250" b="1" i="0" u="none" dirty="0">
                <a:solidFill>
                  <a:srgbClr val="0F172A"/>
                </a:solidFill>
                <a:latin typeface="Times New Roman" panose="02020603050405020304" pitchFamily="18" charset="0"/>
                <a:cs typeface="Times New Roman" panose="02020603050405020304" pitchFamily="18" charset="0"/>
              </a:rPr>
              <a:t>Why THEIA? Comparative Analysis</a:t>
            </a:r>
          </a:p>
        </p:txBody>
      </p:sp>
      <p:sp>
        <p:nvSpPr>
          <p:cNvPr id="13" name="TextBox 12"/>
          <p:cNvSpPr txBox="1"/>
          <p:nvPr/>
        </p:nvSpPr>
        <p:spPr>
          <a:xfrm>
            <a:off x="533400" y="1047750"/>
            <a:ext cx="3800720" cy="173124"/>
          </a:xfrm>
          <a:prstGeom prst="rect">
            <a:avLst/>
          </a:prstGeom>
          <a:noFill/>
        </p:spPr>
        <p:txBody>
          <a:bodyPr wrap="none" lIns="0" tIns="0" rIns="0" bIns="0" anchor="t">
            <a:spAutoFit/>
          </a:bodyPr>
          <a:lstStyle/>
          <a:p>
            <a:pPr algn="l"/>
            <a:r>
              <a:rPr sz="1125" b="0" i="0" u="none">
                <a:solidFill>
                  <a:srgbClr val="64748B"/>
                </a:solidFill>
                <a:latin typeface="Times New Roman" panose="02020603050405020304" pitchFamily="18" charset="0"/>
                <a:cs typeface="Times New Roman" panose="02020603050405020304" pitchFamily="18" charset="0"/>
              </a:rPr>
              <a:t>A complementary tool to use along with a cane or service animal.</a:t>
            </a:r>
          </a:p>
        </p:txBody>
      </p:sp>
      <p:sp>
        <p:nvSpPr>
          <p:cNvPr id="17" name="TextBox 16"/>
          <p:cNvSpPr txBox="1"/>
          <p:nvPr/>
        </p:nvSpPr>
        <p:spPr>
          <a:xfrm>
            <a:off x="752475" y="2038350"/>
            <a:ext cx="3036093" cy="969496"/>
          </a:xfrm>
          <a:prstGeom prst="rect">
            <a:avLst/>
          </a:prstGeom>
          <a:noFill/>
        </p:spPr>
        <p:txBody>
          <a:bodyPr wrap="square" lIns="0" tIns="0" rIns="0" bIns="0" anchor="t">
            <a:spAutoFit/>
          </a:bodyPr>
          <a:lstStyle/>
          <a:p>
            <a:pPr algn="l"/>
            <a:r>
              <a:rPr sz="1050" b="1" i="0" u="none" dirty="0">
                <a:solidFill>
                  <a:srgbClr val="334155"/>
                </a:solidFill>
                <a:latin typeface="Times New Roman" panose="02020603050405020304" pitchFamily="18" charset="0"/>
                <a:cs typeface="Times New Roman" panose="02020603050405020304" pitchFamily="18" charset="0"/>
              </a:rPr>
              <a:t>Strengths:</a:t>
            </a:r>
            <a:r>
              <a:rPr sz="1050" b="0" i="0" u="none" dirty="0">
                <a:solidFill>
                  <a:srgbClr val="334155"/>
                </a:solidFill>
                <a:latin typeface="Times New Roman" panose="02020603050405020304" pitchFamily="18" charset="0"/>
                <a:cs typeface="Times New Roman" panose="02020603050405020304" pitchFamily="18" charset="0"/>
              </a:rPr>
              <a:t> Inexpensive, reliable physical ground-level obstacle detection.</a:t>
            </a:r>
            <a:endParaRPr lang="en-US" sz="1050" b="0" i="0" u="none" dirty="0">
              <a:solidFill>
                <a:srgbClr val="334155"/>
              </a:solidFill>
              <a:latin typeface="Times New Roman" panose="02020603050405020304" pitchFamily="18" charset="0"/>
              <a:cs typeface="Times New Roman" panose="02020603050405020304" pitchFamily="18" charset="0"/>
            </a:endParaRPr>
          </a:p>
          <a:p>
            <a:pPr algn="l"/>
            <a:endParaRPr lang="en-US" sz="1050" dirty="0">
              <a:solidFill>
                <a:srgbClr val="334155"/>
              </a:solidFill>
              <a:latin typeface="Times New Roman" panose="02020603050405020304" pitchFamily="18" charset="0"/>
              <a:cs typeface="Times New Roman" panose="02020603050405020304" pitchFamily="18" charset="0"/>
            </a:endParaRPr>
          </a:p>
          <a:p>
            <a:r>
              <a:rPr lang="en-US" sz="1050" b="1" dirty="0">
                <a:solidFill>
                  <a:srgbClr val="991B1B"/>
                </a:solidFill>
                <a:latin typeface="Times New Roman" panose="02020603050405020304" pitchFamily="18" charset="0"/>
                <a:cs typeface="Times New Roman" panose="02020603050405020304" pitchFamily="18" charset="0"/>
              </a:rPr>
              <a:t>Limitations:</a:t>
            </a:r>
            <a:r>
              <a:rPr lang="en-US" sz="1050" dirty="0">
                <a:solidFill>
                  <a:srgbClr val="991B1B"/>
                </a:solidFill>
                <a:latin typeface="Times New Roman" panose="02020603050405020304" pitchFamily="18" charset="0"/>
                <a:cs typeface="Times New Roman" panose="02020603050405020304" pitchFamily="18" charset="0"/>
              </a:rPr>
              <a:t> Cannot provide context for indoor room numbers, floor plans, or multi-floor routing.</a:t>
            </a:r>
          </a:p>
          <a:p>
            <a:pPr algn="l"/>
            <a:endParaRPr sz="1050" b="0" i="0" u="none" dirty="0">
              <a:solidFill>
                <a:srgbClr val="334155"/>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4321968" y="2038350"/>
            <a:ext cx="3036093" cy="1131079"/>
          </a:xfrm>
          <a:prstGeom prst="rect">
            <a:avLst/>
          </a:prstGeom>
          <a:noFill/>
        </p:spPr>
        <p:txBody>
          <a:bodyPr wrap="square" lIns="0" tIns="0" rIns="0" bIns="0" anchor="t">
            <a:spAutoFit/>
          </a:bodyPr>
          <a:lstStyle/>
          <a:p>
            <a:pPr algn="l"/>
            <a:r>
              <a:rPr sz="1050" b="1" i="0" u="none" dirty="0">
                <a:solidFill>
                  <a:srgbClr val="334155"/>
                </a:solidFill>
                <a:latin typeface="Times New Roman" panose="02020603050405020304" pitchFamily="18" charset="0"/>
                <a:cs typeface="Times New Roman" panose="02020603050405020304" pitchFamily="18" charset="0"/>
              </a:rPr>
              <a:t>Strengths:</a:t>
            </a:r>
            <a:r>
              <a:rPr sz="1050" b="0" i="0" u="none" dirty="0">
                <a:solidFill>
                  <a:srgbClr val="334155"/>
                </a:solidFill>
                <a:latin typeface="Times New Roman" panose="02020603050405020304" pitchFamily="18" charset="0"/>
                <a:cs typeface="Times New Roman" panose="02020603050405020304" pitchFamily="18" charset="0"/>
              </a:rPr>
              <a:t> Highly effective for moving around obstacles, drop-offs, and stairs.</a:t>
            </a:r>
            <a:endParaRPr lang="en-US" sz="1050" b="0" i="0" u="none" dirty="0">
              <a:solidFill>
                <a:srgbClr val="334155"/>
              </a:solidFill>
              <a:latin typeface="Times New Roman" panose="02020603050405020304" pitchFamily="18" charset="0"/>
              <a:cs typeface="Times New Roman" panose="02020603050405020304" pitchFamily="18" charset="0"/>
            </a:endParaRPr>
          </a:p>
          <a:p>
            <a:pPr algn="l"/>
            <a:endParaRPr lang="en-US" sz="1050" dirty="0">
              <a:solidFill>
                <a:srgbClr val="334155"/>
              </a:solidFill>
              <a:latin typeface="Times New Roman" panose="02020603050405020304" pitchFamily="18" charset="0"/>
              <a:cs typeface="Times New Roman" panose="02020603050405020304" pitchFamily="18" charset="0"/>
            </a:endParaRPr>
          </a:p>
          <a:p>
            <a:r>
              <a:rPr lang="en-US" sz="1050" b="1" dirty="0">
                <a:solidFill>
                  <a:srgbClr val="991B1B"/>
                </a:solidFill>
                <a:latin typeface="Times New Roman" panose="02020603050405020304" pitchFamily="18" charset="0"/>
                <a:cs typeface="Times New Roman" panose="02020603050405020304" pitchFamily="18" charset="0"/>
              </a:rPr>
              <a:t>Limitations:</a:t>
            </a:r>
            <a:r>
              <a:rPr lang="en-US" sz="1050" dirty="0">
                <a:solidFill>
                  <a:srgbClr val="991B1B"/>
                </a:solidFill>
                <a:latin typeface="Times New Roman" panose="02020603050405020304" pitchFamily="18" charset="0"/>
                <a:cs typeface="Times New Roman" panose="02020603050405020304" pitchFamily="18" charset="0"/>
              </a:rPr>
              <a:t> High training and care cost, cannot read room labels, navigate elevators, or send emergency SMS alerts.</a:t>
            </a:r>
          </a:p>
          <a:p>
            <a:pPr algn="l"/>
            <a:endParaRPr sz="1050" b="0" i="0" u="none" dirty="0">
              <a:solidFill>
                <a:srgbClr val="334155"/>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7900987" y="2047875"/>
            <a:ext cx="3624262" cy="1137619"/>
          </a:xfrm>
          <a:prstGeom prst="rect">
            <a:avLst/>
          </a:prstGeom>
          <a:noFill/>
        </p:spPr>
        <p:txBody>
          <a:bodyPr wrap="square" lIns="0" tIns="0" rIns="0" bIns="0" anchor="t">
            <a:spAutoFit/>
          </a:bodyPr>
          <a:lstStyle/>
          <a:p>
            <a:pPr algn="l">
              <a:lnSpc>
                <a:spcPts val="1522"/>
              </a:lnSpc>
            </a:pPr>
            <a:r>
              <a:rPr sz="1050" b="0" i="0" u="none" dirty="0">
                <a:solidFill>
                  <a:srgbClr val="0369A1"/>
                </a:solidFill>
                <a:latin typeface="Times New Roman" panose="02020603050405020304" pitchFamily="18" charset="0"/>
                <a:cs typeface="Times New Roman" panose="02020603050405020304" pitchFamily="18" charset="0"/>
              </a:rPr>
              <a:t>Combines hands-free voice + vibration guidance, room-level indoor navigation across multiple floors, and elevator waypoint tracking.</a:t>
            </a:r>
            <a:endParaRPr lang="en-US" sz="1050" b="0" i="0" u="none" dirty="0">
              <a:solidFill>
                <a:srgbClr val="0369A1"/>
              </a:solidFill>
              <a:latin typeface="Times New Roman" panose="02020603050405020304" pitchFamily="18" charset="0"/>
              <a:cs typeface="Times New Roman" panose="02020603050405020304" pitchFamily="18" charset="0"/>
            </a:endParaRPr>
          </a:p>
          <a:p>
            <a:pPr algn="l">
              <a:lnSpc>
                <a:spcPts val="1522"/>
              </a:lnSpc>
            </a:pPr>
            <a:endParaRPr lang="en-US" sz="1050" dirty="0">
              <a:solidFill>
                <a:srgbClr val="0369A1"/>
              </a:solidFill>
              <a:latin typeface="Times New Roman" panose="02020603050405020304" pitchFamily="18" charset="0"/>
              <a:cs typeface="Times New Roman" panose="02020603050405020304" pitchFamily="18" charset="0"/>
            </a:endParaRPr>
          </a:p>
          <a:p>
            <a:pPr>
              <a:lnSpc>
                <a:spcPts val="1522"/>
              </a:lnSpc>
            </a:pPr>
            <a:r>
              <a:rPr lang="en-US" sz="1050" b="1" dirty="0">
                <a:solidFill>
                  <a:srgbClr val="0369A1"/>
                </a:solidFill>
                <a:latin typeface="Times New Roman" panose="02020603050405020304" pitchFamily="18" charset="0"/>
                <a:cs typeface="Times New Roman" panose="02020603050405020304" pitchFamily="18" charset="0"/>
              </a:rPr>
              <a:t>Safety Failsafe:</a:t>
            </a:r>
            <a:r>
              <a:rPr lang="en-US" sz="1050" dirty="0">
                <a:solidFill>
                  <a:srgbClr val="0369A1"/>
                </a:solidFill>
                <a:latin typeface="Times New Roman" panose="02020603050405020304" pitchFamily="18" charset="0"/>
                <a:cs typeface="Times New Roman" panose="02020603050405020304" pitchFamily="18" charset="0"/>
              </a:rPr>
              <a:t> Automated fall detection, off-route recovery, and direct SMS escalation to designated caretakers.</a:t>
            </a:r>
          </a:p>
          <a:p>
            <a:pPr algn="l">
              <a:lnSpc>
                <a:spcPts val="1522"/>
              </a:lnSpc>
            </a:pPr>
            <a:endParaRPr sz="1050" b="0" i="0" u="none" dirty="0">
              <a:solidFill>
                <a:srgbClr val="0369A1"/>
              </a:solidFill>
              <a:latin typeface="Times New Roman" panose="02020603050405020304" pitchFamily="18" charset="0"/>
              <a:cs typeface="Times New Roman" panose="02020603050405020304" pitchFamily="18" charset="0"/>
            </a:endParaRPr>
          </a:p>
        </p:txBody>
      </p:sp>
      <p:sp>
        <p:nvSpPr>
          <p:cNvPr id="20" name="TextBox 19"/>
          <p:cNvSpPr txBox="1"/>
          <p:nvPr/>
        </p:nvSpPr>
        <p:spPr>
          <a:xfrm>
            <a:off x="1000125" y="1714500"/>
            <a:ext cx="831959" cy="196208"/>
          </a:xfrm>
          <a:prstGeom prst="rect">
            <a:avLst/>
          </a:prstGeom>
          <a:noFill/>
        </p:spPr>
        <p:txBody>
          <a:bodyPr wrap="none" lIns="0" tIns="0" rIns="0" bIns="0" anchor="t">
            <a:spAutoFit/>
          </a:bodyPr>
          <a:lstStyle/>
          <a:p>
            <a:pPr algn="l"/>
            <a:r>
              <a:rPr sz="1275" b="1" i="0" u="none">
                <a:solidFill>
                  <a:srgbClr val="0F172A"/>
                </a:solidFill>
                <a:latin typeface="Times New Roman" panose="02020603050405020304" pitchFamily="18" charset="0"/>
                <a:cs typeface="Times New Roman" panose="02020603050405020304" pitchFamily="18" charset="0"/>
              </a:rPr>
              <a:t>White Cane</a:t>
            </a:r>
          </a:p>
        </p:txBody>
      </p:sp>
      <p:sp>
        <p:nvSpPr>
          <p:cNvPr id="21" name="TextBox 20"/>
          <p:cNvSpPr txBox="1"/>
          <p:nvPr/>
        </p:nvSpPr>
        <p:spPr>
          <a:xfrm>
            <a:off x="4569618" y="1714500"/>
            <a:ext cx="1056956" cy="196208"/>
          </a:xfrm>
          <a:prstGeom prst="rect">
            <a:avLst/>
          </a:prstGeom>
          <a:noFill/>
        </p:spPr>
        <p:txBody>
          <a:bodyPr wrap="none" lIns="0" tIns="0" rIns="0" bIns="0" anchor="t">
            <a:spAutoFit/>
          </a:bodyPr>
          <a:lstStyle/>
          <a:p>
            <a:pPr algn="l"/>
            <a:r>
              <a:rPr sz="1275" b="1" i="0" u="none">
                <a:solidFill>
                  <a:srgbClr val="0F172A"/>
                </a:solidFill>
                <a:latin typeface="Times New Roman" panose="02020603050405020304" pitchFamily="18" charset="0"/>
                <a:cs typeface="Times New Roman" panose="02020603050405020304" pitchFamily="18" charset="0"/>
              </a:rPr>
              <a:t>Service Animal</a:t>
            </a:r>
          </a:p>
        </p:txBody>
      </p:sp>
      <p:sp>
        <p:nvSpPr>
          <p:cNvPr id="22" name="TextBox 21"/>
          <p:cNvSpPr txBox="1"/>
          <p:nvPr/>
        </p:nvSpPr>
        <p:spPr>
          <a:xfrm>
            <a:off x="8129587" y="1724025"/>
            <a:ext cx="1069716" cy="196208"/>
          </a:xfrm>
          <a:prstGeom prst="rect">
            <a:avLst/>
          </a:prstGeom>
          <a:noFill/>
        </p:spPr>
        <p:txBody>
          <a:bodyPr wrap="none" lIns="0" tIns="0" rIns="0" bIns="0" anchor="t">
            <a:spAutoFit/>
          </a:bodyPr>
          <a:lstStyle/>
          <a:p>
            <a:pPr algn="l"/>
            <a:r>
              <a:rPr sz="1275" b="1" i="0" u="none">
                <a:solidFill>
                  <a:srgbClr val="0369A1"/>
                </a:solidFill>
                <a:latin typeface="Times New Roman" panose="02020603050405020304" pitchFamily="18" charset="0"/>
                <a:cs typeface="Times New Roman" panose="02020603050405020304" pitchFamily="18" charset="0"/>
              </a:rPr>
              <a:t>Project THEIA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4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522</TotalTime>
  <Words>940</Words>
  <Application>Microsoft Office PowerPoint</Application>
  <PresentationFormat>Widescreen</PresentationFormat>
  <Paragraphs>80</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Phase I System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Kirthy Kolluri</dc:creator>
  <cp:lastModifiedBy>Zuniga, James</cp:lastModifiedBy>
  <cp:revision>38</cp:revision>
  <dcterms:created xsi:type="dcterms:W3CDTF">2018-08-29T02:01:45Z</dcterms:created>
  <dcterms:modified xsi:type="dcterms:W3CDTF">2026-10-16T04:36:35Z</dcterms:modified>
</cp:coreProperties>
</file>