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4" r:id="rId2"/>
    <p:sldId id="280" r:id="rId3"/>
    <p:sldId id="286" r:id="rId4"/>
    <p:sldId id="287" r:id="rId5"/>
    <p:sldId id="288" r:id="rId6"/>
    <p:sldId id="289" r:id="rId7"/>
    <p:sldId id="29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302" autoAdjust="0"/>
  </p:normalViewPr>
  <p:slideViewPr>
    <p:cSldViewPr snapToGrid="0">
      <p:cViewPr varScale="1">
        <p:scale>
          <a:sx n="62" d="100"/>
          <a:sy n="62" d="100"/>
        </p:scale>
        <p:origin x="8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eng, Bolong" userId="5fb33691-3244-4faf-b53b-93284bd7c54c" providerId="ADAL" clId="{9D2A3691-D562-48E3-B4A9-FA56BAB969CF}"/>
    <pc:docChg chg="custSel addSld modSld">
      <pc:chgData name="Zeng, Bolong" userId="5fb33691-3244-4faf-b53b-93284bd7c54c" providerId="ADAL" clId="{9D2A3691-D562-48E3-B4A9-FA56BAB969CF}" dt="2026-08-17T23:25:25.424" v="954" actId="20577"/>
      <pc:docMkLst>
        <pc:docMk/>
      </pc:docMkLst>
      <pc:sldChg chg="modSp mod">
        <pc:chgData name="Zeng, Bolong" userId="5fb33691-3244-4faf-b53b-93284bd7c54c" providerId="ADAL" clId="{9D2A3691-D562-48E3-B4A9-FA56BAB969CF}" dt="2026-08-17T23:09:20.245" v="71" actId="20577"/>
        <pc:sldMkLst>
          <pc:docMk/>
          <pc:sldMk cId="3023492326" sldId="265"/>
        </pc:sldMkLst>
        <pc:spChg chg="mod">
          <ac:chgData name="Zeng, Bolong" userId="5fb33691-3244-4faf-b53b-93284bd7c54c" providerId="ADAL" clId="{9D2A3691-D562-48E3-B4A9-FA56BAB969CF}" dt="2026-08-17T23:09:20.245" v="71" actId="20577"/>
          <ac:spMkLst>
            <pc:docMk/>
            <pc:sldMk cId="3023492326" sldId="265"/>
            <ac:spMk id="11" creationId="{00000000-0000-0000-0000-000000000000}"/>
          </ac:spMkLst>
        </pc:spChg>
      </pc:sldChg>
      <pc:sldChg chg="modSp mod">
        <pc:chgData name="Zeng, Bolong" userId="5fb33691-3244-4faf-b53b-93284bd7c54c" providerId="ADAL" clId="{9D2A3691-D562-48E3-B4A9-FA56BAB969CF}" dt="2026-08-17T23:10:59.854" v="293" actId="20577"/>
        <pc:sldMkLst>
          <pc:docMk/>
          <pc:sldMk cId="3582441262" sldId="280"/>
        </pc:sldMkLst>
        <pc:spChg chg="mod">
          <ac:chgData name="Zeng, Bolong" userId="5fb33691-3244-4faf-b53b-93284bd7c54c" providerId="ADAL" clId="{9D2A3691-D562-48E3-B4A9-FA56BAB969CF}" dt="2026-08-17T23:10:59.854" v="293" actId="20577"/>
          <ac:spMkLst>
            <pc:docMk/>
            <pc:sldMk cId="3582441262" sldId="280"/>
            <ac:spMk id="25" creationId="{00000000-0000-0000-0000-000000000000}"/>
          </ac:spMkLst>
        </pc:spChg>
      </pc:sldChg>
      <pc:sldChg chg="modSp mod">
        <pc:chgData name="Zeng, Bolong" userId="5fb33691-3244-4faf-b53b-93284bd7c54c" providerId="ADAL" clId="{9D2A3691-D562-48E3-B4A9-FA56BAB969CF}" dt="2026-08-17T23:25:25.424" v="954" actId="20577"/>
        <pc:sldMkLst>
          <pc:docMk/>
          <pc:sldMk cId="395913222" sldId="283"/>
        </pc:sldMkLst>
        <pc:spChg chg="mod">
          <ac:chgData name="Zeng, Bolong" userId="5fb33691-3244-4faf-b53b-93284bd7c54c" providerId="ADAL" clId="{9D2A3691-D562-48E3-B4A9-FA56BAB969CF}" dt="2026-08-17T23:25:25.424" v="954" actId="20577"/>
          <ac:spMkLst>
            <pc:docMk/>
            <pc:sldMk cId="395913222" sldId="283"/>
            <ac:spMk id="4" creationId="{CA077796-0C99-4A05-86E9-E608F3560883}"/>
          </ac:spMkLst>
        </pc:spChg>
      </pc:sldChg>
      <pc:sldChg chg="addSp modSp new mod">
        <pc:chgData name="Zeng, Bolong" userId="5fb33691-3244-4faf-b53b-93284bd7c54c" providerId="ADAL" clId="{9D2A3691-D562-48E3-B4A9-FA56BAB969CF}" dt="2026-08-17T23:24:55.903" v="900" actId="20577"/>
        <pc:sldMkLst>
          <pc:docMk/>
          <pc:sldMk cId="2111641846" sldId="285"/>
        </pc:sldMkLst>
        <pc:spChg chg="add mod">
          <ac:chgData name="Zeng, Bolong" userId="5fb33691-3244-4faf-b53b-93284bd7c54c" providerId="ADAL" clId="{9D2A3691-D562-48E3-B4A9-FA56BAB969CF}" dt="2026-08-17T23:24:55.903" v="900" actId="20577"/>
          <ac:spMkLst>
            <pc:docMk/>
            <pc:sldMk cId="2111641846" sldId="285"/>
            <ac:spMk id="3" creationId="{C78BCB4B-3E01-C2DF-E355-5735D1CFF23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1E147-C8A0-4BC6-976C-8EAA43EDA5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BBF3227-9478-4C52-AA73-6319424D28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3A9542B-8975-4A12-AD77-67429A3C3BD4}"/>
              </a:ext>
            </a:extLst>
          </p:cNvPr>
          <p:cNvSpPr>
            <a:spLocks noGrp="1"/>
          </p:cNvSpPr>
          <p:nvPr>
            <p:ph type="dt" sz="half" idx="10"/>
          </p:nvPr>
        </p:nvSpPr>
        <p:spPr/>
        <p:txBody>
          <a:bodyPr/>
          <a:lstStyle/>
          <a:p>
            <a:fld id="{B19FC151-C95F-4B97-8B73-E5BFB448A7CA}" type="datetimeFigureOut">
              <a:rPr lang="en-US" smtClean="0"/>
              <a:t>10/11/2026</a:t>
            </a:fld>
            <a:endParaRPr lang="en-US"/>
          </a:p>
        </p:txBody>
      </p:sp>
      <p:sp>
        <p:nvSpPr>
          <p:cNvPr id="5" name="Footer Placeholder 4">
            <a:extLst>
              <a:ext uri="{FF2B5EF4-FFF2-40B4-BE49-F238E27FC236}">
                <a16:creationId xmlns:a16="http://schemas.microsoft.com/office/drawing/2014/main" id="{028D904B-4391-43CD-A7AA-3824F2C109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BFDD9A-8941-4511-8C61-6673FC0690A9}"/>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22327857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C906D-56D6-4B8F-87C5-B0EE1CE574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5CF03C-1CAC-4554-97C3-DF7AD8C3CEA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10C7BB-5EDD-41DD-831D-12E53C1D6534}"/>
              </a:ext>
            </a:extLst>
          </p:cNvPr>
          <p:cNvSpPr>
            <a:spLocks noGrp="1"/>
          </p:cNvSpPr>
          <p:nvPr>
            <p:ph type="dt" sz="half" idx="10"/>
          </p:nvPr>
        </p:nvSpPr>
        <p:spPr/>
        <p:txBody>
          <a:bodyPr/>
          <a:lstStyle/>
          <a:p>
            <a:fld id="{B19FC151-C95F-4B97-8B73-E5BFB448A7CA}" type="datetimeFigureOut">
              <a:rPr lang="en-US" smtClean="0"/>
              <a:t>10/11/2026</a:t>
            </a:fld>
            <a:endParaRPr lang="en-US"/>
          </a:p>
        </p:txBody>
      </p:sp>
      <p:sp>
        <p:nvSpPr>
          <p:cNvPr id="5" name="Footer Placeholder 4">
            <a:extLst>
              <a:ext uri="{FF2B5EF4-FFF2-40B4-BE49-F238E27FC236}">
                <a16:creationId xmlns:a16="http://schemas.microsoft.com/office/drawing/2014/main" id="{39B0C739-34B4-49D4-8F87-43555C336A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890C07-C203-46D1-A9A9-2A278959715A}"/>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41063498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9F9BD-F333-480E-8CBF-2576F003CA9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97D85C8-A58E-4D0C-96E1-49F452E9299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D1F543B-5C9D-4309-B49A-568CE1883714}"/>
              </a:ext>
            </a:extLst>
          </p:cNvPr>
          <p:cNvSpPr>
            <a:spLocks noGrp="1"/>
          </p:cNvSpPr>
          <p:nvPr>
            <p:ph type="dt" sz="half" idx="10"/>
          </p:nvPr>
        </p:nvSpPr>
        <p:spPr/>
        <p:txBody>
          <a:bodyPr/>
          <a:lstStyle/>
          <a:p>
            <a:fld id="{B19FC151-C95F-4B97-8B73-E5BFB448A7CA}" type="datetimeFigureOut">
              <a:rPr lang="en-US" smtClean="0"/>
              <a:t>10/11/2026</a:t>
            </a:fld>
            <a:endParaRPr lang="en-US"/>
          </a:p>
        </p:txBody>
      </p:sp>
      <p:sp>
        <p:nvSpPr>
          <p:cNvPr id="5" name="Footer Placeholder 4">
            <a:extLst>
              <a:ext uri="{FF2B5EF4-FFF2-40B4-BE49-F238E27FC236}">
                <a16:creationId xmlns:a16="http://schemas.microsoft.com/office/drawing/2014/main" id="{E74CE2B0-E7A4-457D-BEAA-2BE86224E5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2587F0-5F44-42E4-958A-D61C983530FD}"/>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2446737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C1B2E-0F83-4B3F-8736-1782CF15F76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DC77F3-7F52-4699-98BC-F5CDD835E4D5}"/>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E70FF8E-CB09-41A9-BA43-70B505DB96A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5C8000E-3AAB-4E34-85A2-22F28B8A45F6}"/>
              </a:ext>
            </a:extLst>
          </p:cNvPr>
          <p:cNvSpPr>
            <a:spLocks noGrp="1"/>
          </p:cNvSpPr>
          <p:nvPr>
            <p:ph type="dt" sz="half" idx="10"/>
          </p:nvPr>
        </p:nvSpPr>
        <p:spPr/>
        <p:txBody>
          <a:bodyPr/>
          <a:lstStyle/>
          <a:p>
            <a:fld id="{B19FC151-C95F-4B97-8B73-E5BFB448A7CA}" type="datetimeFigureOut">
              <a:rPr lang="en-US" smtClean="0"/>
              <a:t>10/11/2026</a:t>
            </a:fld>
            <a:endParaRPr lang="en-US"/>
          </a:p>
        </p:txBody>
      </p:sp>
      <p:sp>
        <p:nvSpPr>
          <p:cNvPr id="6" name="Footer Placeholder 5">
            <a:extLst>
              <a:ext uri="{FF2B5EF4-FFF2-40B4-BE49-F238E27FC236}">
                <a16:creationId xmlns:a16="http://schemas.microsoft.com/office/drawing/2014/main" id="{A239A5A7-F8BC-4CE7-9AFB-B7F24E9DD4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2D875C-2EED-412F-835A-8D9AD47858B5}"/>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34738116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418B9-F5FD-430F-A486-D0A4EF4A93D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09A873D-46AB-489F-93A5-703A9428A3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84F73EAB-7738-4218-8320-BAF5B88ED75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7DB9B05-5412-4BA5-9B92-556AC2BA24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F9F8B3F-FDF1-466F-A684-6668B08C212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D7F1379-FEB2-4232-A97B-4A9854F81CE9}"/>
              </a:ext>
            </a:extLst>
          </p:cNvPr>
          <p:cNvSpPr>
            <a:spLocks noGrp="1"/>
          </p:cNvSpPr>
          <p:nvPr>
            <p:ph type="dt" sz="half" idx="10"/>
          </p:nvPr>
        </p:nvSpPr>
        <p:spPr/>
        <p:txBody>
          <a:bodyPr/>
          <a:lstStyle/>
          <a:p>
            <a:fld id="{B19FC151-C95F-4B97-8B73-E5BFB448A7CA}" type="datetimeFigureOut">
              <a:rPr lang="en-US" smtClean="0"/>
              <a:t>10/11/2026</a:t>
            </a:fld>
            <a:endParaRPr lang="en-US"/>
          </a:p>
        </p:txBody>
      </p:sp>
      <p:sp>
        <p:nvSpPr>
          <p:cNvPr id="8" name="Footer Placeholder 7">
            <a:extLst>
              <a:ext uri="{FF2B5EF4-FFF2-40B4-BE49-F238E27FC236}">
                <a16:creationId xmlns:a16="http://schemas.microsoft.com/office/drawing/2014/main" id="{6883ADD5-6DE6-4F90-9F48-23CF2FDEDFB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5D40F2-AC8A-4686-915A-3A4598825217}"/>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26064025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C7AAF-1469-414A-8493-0CA826FFC25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8D0EDA4-27B8-49D9-9CDC-EC94D6DD62DE}"/>
              </a:ext>
            </a:extLst>
          </p:cNvPr>
          <p:cNvSpPr>
            <a:spLocks noGrp="1"/>
          </p:cNvSpPr>
          <p:nvPr>
            <p:ph type="dt" sz="half" idx="10"/>
          </p:nvPr>
        </p:nvSpPr>
        <p:spPr/>
        <p:txBody>
          <a:bodyPr/>
          <a:lstStyle/>
          <a:p>
            <a:fld id="{B19FC151-C95F-4B97-8B73-E5BFB448A7CA}" type="datetimeFigureOut">
              <a:rPr lang="en-US" smtClean="0"/>
              <a:t>10/11/2026</a:t>
            </a:fld>
            <a:endParaRPr lang="en-US"/>
          </a:p>
        </p:txBody>
      </p:sp>
      <p:sp>
        <p:nvSpPr>
          <p:cNvPr id="4" name="Footer Placeholder 3">
            <a:extLst>
              <a:ext uri="{FF2B5EF4-FFF2-40B4-BE49-F238E27FC236}">
                <a16:creationId xmlns:a16="http://schemas.microsoft.com/office/drawing/2014/main" id="{043BB72E-178F-465C-BAC7-372CB6F8EB5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D2BE6B-1F95-4225-BB77-01B2BC22044B}"/>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2589930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E200F2-9C97-4485-97B8-43AF0DD70CDC}"/>
              </a:ext>
            </a:extLst>
          </p:cNvPr>
          <p:cNvSpPr>
            <a:spLocks noGrp="1"/>
          </p:cNvSpPr>
          <p:nvPr>
            <p:ph type="dt" sz="half" idx="10"/>
          </p:nvPr>
        </p:nvSpPr>
        <p:spPr/>
        <p:txBody>
          <a:bodyPr/>
          <a:lstStyle/>
          <a:p>
            <a:fld id="{B19FC151-C95F-4B97-8B73-E5BFB448A7CA}" type="datetimeFigureOut">
              <a:rPr lang="en-US" smtClean="0"/>
              <a:t>10/11/2026</a:t>
            </a:fld>
            <a:endParaRPr lang="en-US"/>
          </a:p>
        </p:txBody>
      </p:sp>
      <p:sp>
        <p:nvSpPr>
          <p:cNvPr id="3" name="Footer Placeholder 2">
            <a:extLst>
              <a:ext uri="{FF2B5EF4-FFF2-40B4-BE49-F238E27FC236}">
                <a16:creationId xmlns:a16="http://schemas.microsoft.com/office/drawing/2014/main" id="{FC314FCC-17D0-4070-87DE-01A740525D6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0375113-BE05-4973-B2F8-5D8DEC179D12}"/>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42084700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A1825-4DE0-4612-BBDD-192DEAA9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B66D902-ED54-4D39-8D2E-25F1B53046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FFE6202-835A-4D10-8696-5F9C93985E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E2197CC-931A-42AB-86EB-33B7388062E0}"/>
              </a:ext>
            </a:extLst>
          </p:cNvPr>
          <p:cNvSpPr>
            <a:spLocks noGrp="1"/>
          </p:cNvSpPr>
          <p:nvPr>
            <p:ph type="dt" sz="half" idx="10"/>
          </p:nvPr>
        </p:nvSpPr>
        <p:spPr/>
        <p:txBody>
          <a:bodyPr/>
          <a:lstStyle/>
          <a:p>
            <a:fld id="{B19FC151-C95F-4B97-8B73-E5BFB448A7CA}" type="datetimeFigureOut">
              <a:rPr lang="en-US" smtClean="0"/>
              <a:t>10/11/2026</a:t>
            </a:fld>
            <a:endParaRPr lang="en-US"/>
          </a:p>
        </p:txBody>
      </p:sp>
      <p:sp>
        <p:nvSpPr>
          <p:cNvPr id="6" name="Footer Placeholder 5">
            <a:extLst>
              <a:ext uri="{FF2B5EF4-FFF2-40B4-BE49-F238E27FC236}">
                <a16:creationId xmlns:a16="http://schemas.microsoft.com/office/drawing/2014/main" id="{C9E62F2B-A80B-466F-ADA7-487AA65D4C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F3C4D0-1C4A-48F9-92DD-F530E7183606}"/>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451485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3BAD3-7D59-44A6-A4A3-D1BA8F249D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1F77753-3940-4A5F-B934-46E478EE293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EFBCA91-3E11-4F2F-977B-92EE8E593B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245E498-0231-44B8-8715-5D426B7EA026}"/>
              </a:ext>
            </a:extLst>
          </p:cNvPr>
          <p:cNvSpPr>
            <a:spLocks noGrp="1"/>
          </p:cNvSpPr>
          <p:nvPr>
            <p:ph type="dt" sz="half" idx="10"/>
          </p:nvPr>
        </p:nvSpPr>
        <p:spPr/>
        <p:txBody>
          <a:bodyPr/>
          <a:lstStyle/>
          <a:p>
            <a:fld id="{B19FC151-C95F-4B97-8B73-E5BFB448A7CA}" type="datetimeFigureOut">
              <a:rPr lang="en-US" smtClean="0"/>
              <a:t>10/11/2026</a:t>
            </a:fld>
            <a:endParaRPr lang="en-US"/>
          </a:p>
        </p:txBody>
      </p:sp>
      <p:sp>
        <p:nvSpPr>
          <p:cNvPr id="6" name="Footer Placeholder 5">
            <a:extLst>
              <a:ext uri="{FF2B5EF4-FFF2-40B4-BE49-F238E27FC236}">
                <a16:creationId xmlns:a16="http://schemas.microsoft.com/office/drawing/2014/main" id="{EE0B7981-F7C7-4422-96D1-0A4D53E5E7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33C5BF-2633-4B2F-8306-3C459740543B}"/>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437884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CAD2B-6A45-493C-ADEC-1D523816085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274B83-74CC-4244-8433-B802CC661C6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FDAA2F-BC68-4BC4-9935-F2FBD7229757}"/>
              </a:ext>
            </a:extLst>
          </p:cNvPr>
          <p:cNvSpPr>
            <a:spLocks noGrp="1"/>
          </p:cNvSpPr>
          <p:nvPr>
            <p:ph type="dt" sz="half" idx="10"/>
          </p:nvPr>
        </p:nvSpPr>
        <p:spPr/>
        <p:txBody>
          <a:bodyPr/>
          <a:lstStyle/>
          <a:p>
            <a:fld id="{B19FC151-C95F-4B97-8B73-E5BFB448A7CA}" type="datetimeFigureOut">
              <a:rPr lang="en-US" smtClean="0"/>
              <a:t>10/11/2026</a:t>
            </a:fld>
            <a:endParaRPr lang="en-US"/>
          </a:p>
        </p:txBody>
      </p:sp>
      <p:sp>
        <p:nvSpPr>
          <p:cNvPr id="5" name="Footer Placeholder 4">
            <a:extLst>
              <a:ext uri="{FF2B5EF4-FFF2-40B4-BE49-F238E27FC236}">
                <a16:creationId xmlns:a16="http://schemas.microsoft.com/office/drawing/2014/main" id="{B8D9C779-E871-4A96-8FCC-DDC9AC83F7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632DCE-5E52-42CB-B97F-27362C548122}"/>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79519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1553D9-22F0-49A8-98CD-81B98818FBB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9CBA776-CFB8-4F0F-8F19-D1832E2793C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D45A7A-289F-4728-8B9C-915564DC8F79}"/>
              </a:ext>
            </a:extLst>
          </p:cNvPr>
          <p:cNvSpPr>
            <a:spLocks noGrp="1"/>
          </p:cNvSpPr>
          <p:nvPr>
            <p:ph type="dt" sz="half" idx="10"/>
          </p:nvPr>
        </p:nvSpPr>
        <p:spPr/>
        <p:txBody>
          <a:bodyPr/>
          <a:lstStyle/>
          <a:p>
            <a:fld id="{B19FC151-C95F-4B97-8B73-E5BFB448A7CA}" type="datetimeFigureOut">
              <a:rPr lang="en-US" smtClean="0"/>
              <a:t>10/11/2026</a:t>
            </a:fld>
            <a:endParaRPr lang="en-US"/>
          </a:p>
        </p:txBody>
      </p:sp>
      <p:sp>
        <p:nvSpPr>
          <p:cNvPr id="5" name="Footer Placeholder 4">
            <a:extLst>
              <a:ext uri="{FF2B5EF4-FFF2-40B4-BE49-F238E27FC236}">
                <a16:creationId xmlns:a16="http://schemas.microsoft.com/office/drawing/2014/main" id="{CA86D427-E821-44AE-9199-68D2B686C4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724E30-9118-4896-8D27-4648AE7A0FCE}"/>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10762322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BD2AB3-0AA5-46A1-A17E-CC3249007A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D9E5A1A-920F-49DA-803B-E908B462E0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9B3C4B-E9B9-464E-B854-C9736BD7B7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9FC151-C95F-4B97-8B73-E5BFB448A7CA}" type="datetimeFigureOut">
              <a:rPr lang="en-US" smtClean="0"/>
              <a:t>10/11/2026</a:t>
            </a:fld>
            <a:endParaRPr lang="en-US"/>
          </a:p>
        </p:txBody>
      </p:sp>
      <p:sp>
        <p:nvSpPr>
          <p:cNvPr id="5" name="Footer Placeholder 4">
            <a:extLst>
              <a:ext uri="{FF2B5EF4-FFF2-40B4-BE49-F238E27FC236}">
                <a16:creationId xmlns:a16="http://schemas.microsoft.com/office/drawing/2014/main" id="{D90264A9-6D41-4537-A210-0F87B15250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A9A312F-6625-4CD9-82BE-98585C3951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C664BD-2E9A-452D-8DCB-A5C1F6FA5F2C}" type="slidenum">
              <a:rPr lang="en-US" smtClean="0"/>
              <a:t>‹#›</a:t>
            </a:fld>
            <a:endParaRPr lang="en-US"/>
          </a:p>
        </p:txBody>
      </p:sp>
    </p:spTree>
    <p:extLst>
      <p:ext uri="{BB962C8B-B14F-4D97-AF65-F5344CB8AC3E}">
        <p14:creationId xmlns:p14="http://schemas.microsoft.com/office/powerpoint/2010/main" val="39624689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1"/>
            <a:ext cx="12191990" cy="374259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468C6E-964B-AF50-E729-29A15AB79843}"/>
              </a:ext>
            </a:extLst>
          </p:cNvPr>
          <p:cNvSpPr>
            <a:spLocks noGrp="1"/>
          </p:cNvSpPr>
          <p:nvPr>
            <p:ph type="ctrTitle"/>
          </p:nvPr>
        </p:nvSpPr>
        <p:spPr>
          <a:xfrm>
            <a:off x="1155558" y="637763"/>
            <a:ext cx="9889797" cy="2874471"/>
          </a:xfrm>
        </p:spPr>
        <p:txBody>
          <a:bodyPr anchor="ctr">
            <a:normAutofit/>
          </a:bodyPr>
          <a:lstStyle/>
          <a:p>
            <a:pPr algn="l"/>
            <a:r>
              <a:rPr lang="en-US" sz="8000" dirty="0">
                <a:solidFill>
                  <a:schemeClr val="bg1"/>
                </a:solidFill>
              </a:rPr>
              <a:t>Phase I System Presentation</a:t>
            </a:r>
          </a:p>
        </p:txBody>
      </p:sp>
      <p:sp>
        <p:nvSpPr>
          <p:cNvPr id="25" name="Rectangle 24">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3742597"/>
            <a:ext cx="12191990" cy="31154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91440C3C-9794-6B3D-429E-D85A27E7DE08}"/>
              </a:ext>
            </a:extLst>
          </p:cNvPr>
          <p:cNvSpPr>
            <a:spLocks noGrp="1"/>
          </p:cNvSpPr>
          <p:nvPr>
            <p:ph type="subTitle" idx="1"/>
          </p:nvPr>
        </p:nvSpPr>
        <p:spPr>
          <a:xfrm>
            <a:off x="1155558" y="4307684"/>
            <a:ext cx="9544153" cy="1906846"/>
          </a:xfrm>
        </p:spPr>
        <p:txBody>
          <a:bodyPr anchor="t">
            <a:normAutofit/>
          </a:bodyPr>
          <a:lstStyle/>
          <a:p>
            <a:pPr algn="l"/>
            <a:r>
              <a:rPr lang="en-US" sz="3200" dirty="0"/>
              <a:t>Team EV</a:t>
            </a:r>
          </a:p>
        </p:txBody>
      </p:sp>
      <p:sp>
        <p:nvSpPr>
          <p:cNvPr id="27" name="Rectangle 26">
            <a:extLst>
              <a:ext uri="{FF2B5EF4-FFF2-40B4-BE49-F238E27FC236}">
                <a16:creationId xmlns:a16="http://schemas.microsoft.com/office/drawing/2014/main" id="{6832F003-FCA6-4CFB-A2EA-308F3AA257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1180" y="4101097"/>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50860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69E8E-EF80-4E22-495A-F08AF7922FE1}"/>
              </a:ext>
            </a:extLst>
          </p:cNvPr>
          <p:cNvSpPr>
            <a:spLocks noGrp="1"/>
          </p:cNvSpPr>
          <p:nvPr>
            <p:ph type="title"/>
          </p:nvPr>
        </p:nvSpPr>
        <p:spPr/>
        <p:txBody>
          <a:bodyPr/>
          <a:lstStyle/>
          <a:p>
            <a:pPr algn="ctr"/>
            <a:r>
              <a:rPr lang="en-US" dirty="0"/>
              <a:t>Scenario 1</a:t>
            </a:r>
          </a:p>
        </p:txBody>
      </p:sp>
      <p:sp>
        <p:nvSpPr>
          <p:cNvPr id="3" name="Text Placeholder 2">
            <a:extLst>
              <a:ext uri="{FF2B5EF4-FFF2-40B4-BE49-F238E27FC236}">
                <a16:creationId xmlns:a16="http://schemas.microsoft.com/office/drawing/2014/main" id="{12A19AA5-AC27-81AF-5D6B-DC7E8BC14F75}"/>
              </a:ext>
            </a:extLst>
          </p:cNvPr>
          <p:cNvSpPr>
            <a:spLocks noGrp="1"/>
          </p:cNvSpPr>
          <p:nvPr>
            <p:ph type="body" idx="1"/>
          </p:nvPr>
        </p:nvSpPr>
        <p:spPr/>
        <p:txBody>
          <a:bodyPr>
            <a:normAutofit/>
          </a:bodyPr>
          <a:lstStyle/>
          <a:p>
            <a:pPr algn="ctr"/>
            <a:r>
              <a:rPr lang="en-US" sz="1800" dirty="0"/>
              <a:t>AS-IS Scenario</a:t>
            </a:r>
          </a:p>
          <a:p>
            <a:endParaRPr lang="en-US" sz="1800" dirty="0"/>
          </a:p>
        </p:txBody>
      </p:sp>
      <p:sp>
        <p:nvSpPr>
          <p:cNvPr id="4" name="Content Placeholder 3">
            <a:extLst>
              <a:ext uri="{FF2B5EF4-FFF2-40B4-BE49-F238E27FC236}">
                <a16:creationId xmlns:a16="http://schemas.microsoft.com/office/drawing/2014/main" id="{67D12E7F-1201-0EFD-6A09-4C1A1BE21B05}"/>
              </a:ext>
            </a:extLst>
          </p:cNvPr>
          <p:cNvSpPr>
            <a:spLocks noGrp="1"/>
          </p:cNvSpPr>
          <p:nvPr>
            <p:ph sz="half" idx="2"/>
          </p:nvPr>
        </p:nvSpPr>
        <p:spPr/>
        <p:txBody>
          <a:bodyPr>
            <a:normAutofit/>
          </a:bodyPr>
          <a:lstStyle/>
          <a:p>
            <a:r>
              <a:rPr lang="en-US" sz="1800" dirty="0"/>
              <a:t>Stevie is trying to go to his next classroom. He knows he needs to walk ahead a few steps, and then turn left around the corner.</a:t>
            </a:r>
          </a:p>
          <a:p>
            <a:r>
              <a:rPr lang="en-US" sz="1800" dirty="0"/>
              <a:t>However, he is not sure when to turn. </a:t>
            </a:r>
          </a:p>
          <a:p>
            <a:r>
              <a:rPr lang="en-US" sz="1800" dirty="0"/>
              <a:t>He took a guess, but turned too early, hit the wall and hurt his head. </a:t>
            </a:r>
          </a:p>
        </p:txBody>
      </p:sp>
      <p:sp>
        <p:nvSpPr>
          <p:cNvPr id="5" name="Text Placeholder 4">
            <a:extLst>
              <a:ext uri="{FF2B5EF4-FFF2-40B4-BE49-F238E27FC236}">
                <a16:creationId xmlns:a16="http://schemas.microsoft.com/office/drawing/2014/main" id="{D8B12325-CD67-0CA8-949C-25F19E5717E7}"/>
              </a:ext>
            </a:extLst>
          </p:cNvPr>
          <p:cNvSpPr>
            <a:spLocks noGrp="1"/>
          </p:cNvSpPr>
          <p:nvPr>
            <p:ph type="body" sz="quarter" idx="3"/>
          </p:nvPr>
        </p:nvSpPr>
        <p:spPr/>
        <p:txBody>
          <a:bodyPr>
            <a:normAutofit/>
          </a:bodyPr>
          <a:lstStyle/>
          <a:p>
            <a:pPr algn="ctr"/>
            <a:r>
              <a:rPr lang="en-US" sz="1800" dirty="0"/>
              <a:t>TO-BE Scenario</a:t>
            </a:r>
          </a:p>
          <a:p>
            <a:pPr algn="ctr"/>
            <a:endParaRPr lang="en-US" sz="1800" dirty="0"/>
          </a:p>
        </p:txBody>
      </p:sp>
      <p:sp>
        <p:nvSpPr>
          <p:cNvPr id="6" name="Content Placeholder 5">
            <a:extLst>
              <a:ext uri="{FF2B5EF4-FFF2-40B4-BE49-F238E27FC236}">
                <a16:creationId xmlns:a16="http://schemas.microsoft.com/office/drawing/2014/main" id="{A2D227F2-5A8A-7A5F-3BEE-AC0B94C3F4DB}"/>
              </a:ext>
            </a:extLst>
          </p:cNvPr>
          <p:cNvSpPr>
            <a:spLocks noGrp="1"/>
          </p:cNvSpPr>
          <p:nvPr>
            <p:ph sz="quarter" idx="4"/>
          </p:nvPr>
        </p:nvSpPr>
        <p:spPr/>
        <p:txBody>
          <a:bodyPr>
            <a:normAutofit/>
          </a:bodyPr>
          <a:lstStyle/>
          <a:p>
            <a:r>
              <a:rPr lang="en-US" sz="1800" dirty="0"/>
              <a:t>The THEIA app asks Stevie to give his current location and the destination.</a:t>
            </a:r>
          </a:p>
          <a:p>
            <a:r>
              <a:rPr lang="en-US" sz="1800" dirty="0"/>
              <a:t>The app calculates the route from the current location to the destination.</a:t>
            </a:r>
          </a:p>
          <a:p>
            <a:r>
              <a:rPr lang="en-US" sz="1800" dirty="0"/>
              <a:t>THEIA tells Stevie to “walk ahead 10 steps, then turn left”</a:t>
            </a:r>
          </a:p>
          <a:p>
            <a:endParaRPr lang="en-US" sz="1800" dirty="0"/>
          </a:p>
        </p:txBody>
      </p:sp>
    </p:spTree>
    <p:extLst>
      <p:ext uri="{BB962C8B-B14F-4D97-AF65-F5344CB8AC3E}">
        <p14:creationId xmlns:p14="http://schemas.microsoft.com/office/powerpoint/2010/main" val="3582441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50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400"/>
                                        <p:tgtEl>
                                          <p:spTgt spid="3">
                                            <p:txEl>
                                              <p:pRg st="0" end="0"/>
                                            </p:txEl>
                                          </p:spTgt>
                                        </p:tgtEl>
                                      </p:cBhvr>
                                    </p:animEffect>
                                  </p:childTnLst>
                                </p:cTn>
                              </p:par>
                              <p:par>
                                <p:cTn id="13" presetID="10" presetClass="entr" presetSubtype="0" fill="hold" grpId="0" nodeType="withEffect">
                                  <p:stCondLst>
                                    <p:cond delay="200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fade">
                                      <p:cBhvr>
                                        <p:cTn id="15" dur="400"/>
                                        <p:tgtEl>
                                          <p:spTgt spid="4">
                                            <p:txEl>
                                              <p:pRg st="0" end="0"/>
                                            </p:txEl>
                                          </p:spTgt>
                                        </p:tgtEl>
                                      </p:cBhvr>
                                    </p:animEffect>
                                  </p:childTnLst>
                                </p:cTn>
                              </p:par>
                              <p:par>
                                <p:cTn id="16" presetID="10" presetClass="entr" presetSubtype="0" fill="hold" grpId="0" nodeType="withEffect">
                                  <p:stCondLst>
                                    <p:cond delay="2000"/>
                                  </p:stCondLst>
                                  <p:childTnLst>
                                    <p:set>
                                      <p:cBhvr>
                                        <p:cTn id="17" dur="1" fill="hold">
                                          <p:stCondLst>
                                            <p:cond delay="0"/>
                                          </p:stCondLst>
                                        </p:cTn>
                                        <p:tgtEl>
                                          <p:spTgt spid="4">
                                            <p:txEl>
                                              <p:pRg st="1" end="1"/>
                                            </p:txEl>
                                          </p:spTgt>
                                        </p:tgtEl>
                                        <p:attrNameLst>
                                          <p:attrName>style.visibility</p:attrName>
                                        </p:attrNameLst>
                                      </p:cBhvr>
                                      <p:to>
                                        <p:strVal val="visible"/>
                                      </p:to>
                                    </p:set>
                                    <p:animEffect transition="in" filter="fade">
                                      <p:cBhvr>
                                        <p:cTn id="18" dur="400"/>
                                        <p:tgtEl>
                                          <p:spTgt spid="4">
                                            <p:txEl>
                                              <p:pRg st="1" end="1"/>
                                            </p:txEl>
                                          </p:spTgt>
                                        </p:tgtEl>
                                      </p:cBhvr>
                                    </p:animEffect>
                                  </p:childTnLst>
                                </p:cTn>
                              </p:par>
                              <p:par>
                                <p:cTn id="19" presetID="10" presetClass="entr" presetSubtype="0" fill="hold" grpId="0" nodeType="withEffect">
                                  <p:stCondLst>
                                    <p:cond delay="200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400"/>
                                        <p:tgtEl>
                                          <p:spTgt spid="4">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500"/>
                                  </p:stCondLst>
                                  <p:childTnLst>
                                    <p:set>
                                      <p:cBhvr>
                                        <p:cTn id="25" dur="1" fill="hold">
                                          <p:stCondLst>
                                            <p:cond delay="0"/>
                                          </p:stCondLst>
                                        </p:cTn>
                                        <p:tgtEl>
                                          <p:spTgt spid="5">
                                            <p:txEl>
                                              <p:pRg st="0" end="0"/>
                                            </p:txEl>
                                          </p:spTgt>
                                        </p:tgtEl>
                                        <p:attrNameLst>
                                          <p:attrName>style.visibility</p:attrName>
                                        </p:attrNameLst>
                                      </p:cBhvr>
                                      <p:to>
                                        <p:strVal val="visible"/>
                                      </p:to>
                                    </p:set>
                                    <p:animEffect transition="in" filter="fade">
                                      <p:cBhvr>
                                        <p:cTn id="26" dur="400"/>
                                        <p:tgtEl>
                                          <p:spTgt spid="5">
                                            <p:txEl>
                                              <p:pRg st="0" end="0"/>
                                            </p:txEl>
                                          </p:spTgt>
                                        </p:tgtEl>
                                      </p:cBhvr>
                                    </p:animEffect>
                                  </p:childTnLst>
                                </p:cTn>
                              </p:par>
                              <p:par>
                                <p:cTn id="27" presetID="10" presetClass="entr" presetSubtype="0" fill="hold" grpId="0" nodeType="withEffect">
                                  <p:stCondLst>
                                    <p:cond delay="2000"/>
                                  </p:stCondLst>
                                  <p:childTnLst>
                                    <p:set>
                                      <p:cBhvr>
                                        <p:cTn id="28" dur="1" fill="hold">
                                          <p:stCondLst>
                                            <p:cond delay="0"/>
                                          </p:stCondLst>
                                        </p:cTn>
                                        <p:tgtEl>
                                          <p:spTgt spid="6">
                                            <p:txEl>
                                              <p:pRg st="0" end="0"/>
                                            </p:txEl>
                                          </p:spTgt>
                                        </p:tgtEl>
                                        <p:attrNameLst>
                                          <p:attrName>style.visibility</p:attrName>
                                        </p:attrNameLst>
                                      </p:cBhvr>
                                      <p:to>
                                        <p:strVal val="visible"/>
                                      </p:to>
                                    </p:set>
                                    <p:animEffect transition="in" filter="fade">
                                      <p:cBhvr>
                                        <p:cTn id="29" dur="400"/>
                                        <p:tgtEl>
                                          <p:spTgt spid="6">
                                            <p:txEl>
                                              <p:pRg st="0" end="0"/>
                                            </p:txEl>
                                          </p:spTgt>
                                        </p:tgtEl>
                                      </p:cBhvr>
                                    </p:animEffect>
                                  </p:childTnLst>
                                </p:cTn>
                              </p:par>
                              <p:par>
                                <p:cTn id="30" presetID="10" presetClass="entr" presetSubtype="0" fill="hold" grpId="0" nodeType="withEffect">
                                  <p:stCondLst>
                                    <p:cond delay="200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fade">
                                      <p:cBhvr>
                                        <p:cTn id="32" dur="400"/>
                                        <p:tgtEl>
                                          <p:spTgt spid="6">
                                            <p:txEl>
                                              <p:pRg st="1" end="1"/>
                                            </p:txEl>
                                          </p:spTgt>
                                        </p:tgtEl>
                                      </p:cBhvr>
                                    </p:animEffect>
                                  </p:childTnLst>
                                </p:cTn>
                              </p:par>
                              <p:par>
                                <p:cTn id="33" presetID="10" presetClass="entr" presetSubtype="0" fill="hold" grpId="0" nodeType="withEffect">
                                  <p:stCondLst>
                                    <p:cond delay="2000"/>
                                  </p:stCondLst>
                                  <p:childTnLst>
                                    <p:set>
                                      <p:cBhvr>
                                        <p:cTn id="34" dur="1" fill="hold">
                                          <p:stCondLst>
                                            <p:cond delay="0"/>
                                          </p:stCondLst>
                                        </p:cTn>
                                        <p:tgtEl>
                                          <p:spTgt spid="6">
                                            <p:txEl>
                                              <p:pRg st="2" end="2"/>
                                            </p:txEl>
                                          </p:spTgt>
                                        </p:tgtEl>
                                        <p:attrNameLst>
                                          <p:attrName>style.visibility</p:attrName>
                                        </p:attrNameLst>
                                      </p:cBhvr>
                                      <p:to>
                                        <p:strVal val="visible"/>
                                      </p:to>
                                    </p:set>
                                    <p:animEffect transition="in" filter="fade">
                                      <p:cBhvr>
                                        <p:cTn id="35" dur="4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uiExpand="1" build="p"/>
      <p:bldP spid="5" grpId="0" build="p"/>
      <p:bldP spid="6"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8CEB5-21CA-262D-9752-CCCC81351A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D39908-0978-00FB-189B-B269778AECD7}"/>
              </a:ext>
            </a:extLst>
          </p:cNvPr>
          <p:cNvSpPr>
            <a:spLocks noGrp="1"/>
          </p:cNvSpPr>
          <p:nvPr>
            <p:ph type="title"/>
          </p:nvPr>
        </p:nvSpPr>
        <p:spPr/>
        <p:txBody>
          <a:bodyPr/>
          <a:lstStyle/>
          <a:p>
            <a:pPr algn="ctr"/>
            <a:r>
              <a:rPr lang="en-US" dirty="0"/>
              <a:t>Scenario 2</a:t>
            </a:r>
          </a:p>
        </p:txBody>
      </p:sp>
      <p:sp>
        <p:nvSpPr>
          <p:cNvPr id="3" name="Text Placeholder 2">
            <a:extLst>
              <a:ext uri="{FF2B5EF4-FFF2-40B4-BE49-F238E27FC236}">
                <a16:creationId xmlns:a16="http://schemas.microsoft.com/office/drawing/2014/main" id="{042BF266-D26D-72B2-6DA3-7A53BB87A903}"/>
              </a:ext>
            </a:extLst>
          </p:cNvPr>
          <p:cNvSpPr>
            <a:spLocks noGrp="1"/>
          </p:cNvSpPr>
          <p:nvPr>
            <p:ph type="body" idx="1"/>
          </p:nvPr>
        </p:nvSpPr>
        <p:spPr/>
        <p:txBody>
          <a:bodyPr>
            <a:normAutofit/>
          </a:bodyPr>
          <a:lstStyle/>
          <a:p>
            <a:pPr algn="ctr"/>
            <a:r>
              <a:rPr lang="en-US" sz="1800" dirty="0"/>
              <a:t>AS-IS Scenario</a:t>
            </a:r>
          </a:p>
          <a:p>
            <a:endParaRPr lang="en-US" sz="1800" dirty="0"/>
          </a:p>
        </p:txBody>
      </p:sp>
      <p:sp>
        <p:nvSpPr>
          <p:cNvPr id="4" name="Content Placeholder 3">
            <a:extLst>
              <a:ext uri="{FF2B5EF4-FFF2-40B4-BE49-F238E27FC236}">
                <a16:creationId xmlns:a16="http://schemas.microsoft.com/office/drawing/2014/main" id="{5E2A6247-226A-3755-B44D-74804DE70D7D}"/>
              </a:ext>
            </a:extLst>
          </p:cNvPr>
          <p:cNvSpPr>
            <a:spLocks noGrp="1"/>
          </p:cNvSpPr>
          <p:nvPr>
            <p:ph sz="half" idx="2"/>
          </p:nvPr>
        </p:nvSpPr>
        <p:spPr/>
        <p:txBody>
          <a:bodyPr>
            <a:normAutofit/>
          </a:bodyPr>
          <a:lstStyle/>
          <a:p>
            <a:r>
              <a:rPr lang="en-US" sz="1800" dirty="0"/>
              <a:t>Alfred is heading to the 3rd-floor elevator after an evening lab when construction blocks the usual hallway.</a:t>
            </a:r>
          </a:p>
          <a:p>
            <a:r>
              <a:rPr lang="en-US" sz="1800" dirty="0"/>
              <a:t>After detouring, Alfred gets lost on the empty floor. </a:t>
            </a:r>
          </a:p>
          <a:p>
            <a:r>
              <a:rPr lang="en-US" sz="1800" dirty="0"/>
              <a:t>Stevie calls caretaker Bella, but Alfred can only say "somewhere on the 3rd floor," </a:t>
            </a:r>
          </a:p>
          <a:p>
            <a:r>
              <a:rPr lang="en-US" sz="1800" dirty="0"/>
              <a:t>Bella has to come search for Stevie.</a:t>
            </a:r>
          </a:p>
        </p:txBody>
      </p:sp>
      <p:sp>
        <p:nvSpPr>
          <p:cNvPr id="5" name="Text Placeholder 4">
            <a:extLst>
              <a:ext uri="{FF2B5EF4-FFF2-40B4-BE49-F238E27FC236}">
                <a16:creationId xmlns:a16="http://schemas.microsoft.com/office/drawing/2014/main" id="{BB18D4EC-BE72-08B0-8263-FAA11ACEC1F7}"/>
              </a:ext>
            </a:extLst>
          </p:cNvPr>
          <p:cNvSpPr>
            <a:spLocks noGrp="1"/>
          </p:cNvSpPr>
          <p:nvPr>
            <p:ph type="body" sz="quarter" idx="3"/>
          </p:nvPr>
        </p:nvSpPr>
        <p:spPr/>
        <p:txBody>
          <a:bodyPr>
            <a:normAutofit/>
          </a:bodyPr>
          <a:lstStyle/>
          <a:p>
            <a:pPr algn="ctr"/>
            <a:r>
              <a:rPr lang="en-US" sz="1800" dirty="0"/>
              <a:t>TO-BE Scenario</a:t>
            </a:r>
          </a:p>
          <a:p>
            <a:pPr algn="ctr"/>
            <a:endParaRPr lang="en-US" sz="1800" dirty="0"/>
          </a:p>
        </p:txBody>
      </p:sp>
      <p:sp>
        <p:nvSpPr>
          <p:cNvPr id="6" name="Content Placeholder 5">
            <a:extLst>
              <a:ext uri="{FF2B5EF4-FFF2-40B4-BE49-F238E27FC236}">
                <a16:creationId xmlns:a16="http://schemas.microsoft.com/office/drawing/2014/main" id="{420F7842-B5B4-D610-240F-27FF29E743EF}"/>
              </a:ext>
            </a:extLst>
          </p:cNvPr>
          <p:cNvSpPr>
            <a:spLocks noGrp="1"/>
          </p:cNvSpPr>
          <p:nvPr>
            <p:ph sz="quarter" idx="4"/>
          </p:nvPr>
        </p:nvSpPr>
        <p:spPr/>
        <p:txBody>
          <a:bodyPr>
            <a:normAutofit/>
          </a:bodyPr>
          <a:lstStyle/>
          <a:p>
            <a:r>
              <a:rPr lang="en-US" sz="1800" dirty="0"/>
              <a:t>Alfred tells THEIA "this way is blocked" and gets a detour. </a:t>
            </a:r>
          </a:p>
          <a:p>
            <a:r>
              <a:rPr lang="en-US" sz="1800" dirty="0"/>
              <a:t>When Alfred takes a wrong turn and THEIA misses the next beacon, it tells Alfred may be off route and offers to guide Alfred back to the last known location (Spark 233). </a:t>
            </a:r>
          </a:p>
          <a:p>
            <a:r>
              <a:rPr lang="en-US" sz="1800" dirty="0"/>
              <a:t>If Alfred had said "Help" or THEIA had detected a fall Alfred didn't respond to, it would text Bella that location and offer to call Bella or campus police.</a:t>
            </a:r>
          </a:p>
        </p:txBody>
      </p:sp>
    </p:spTree>
    <p:extLst>
      <p:ext uri="{BB962C8B-B14F-4D97-AF65-F5344CB8AC3E}">
        <p14:creationId xmlns:p14="http://schemas.microsoft.com/office/powerpoint/2010/main" val="3582484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50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400"/>
                                        <p:tgtEl>
                                          <p:spTgt spid="3">
                                            <p:txEl>
                                              <p:pRg st="0" end="0"/>
                                            </p:txEl>
                                          </p:spTgt>
                                        </p:tgtEl>
                                      </p:cBhvr>
                                    </p:animEffect>
                                  </p:childTnLst>
                                </p:cTn>
                              </p:par>
                              <p:par>
                                <p:cTn id="13" presetID="10" presetClass="entr" presetSubtype="0" fill="hold" grpId="0" nodeType="withEffect">
                                  <p:stCondLst>
                                    <p:cond delay="200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fade">
                                      <p:cBhvr>
                                        <p:cTn id="15" dur="400"/>
                                        <p:tgtEl>
                                          <p:spTgt spid="4">
                                            <p:txEl>
                                              <p:pRg st="0" end="0"/>
                                            </p:txEl>
                                          </p:spTgt>
                                        </p:tgtEl>
                                      </p:cBhvr>
                                    </p:animEffect>
                                  </p:childTnLst>
                                </p:cTn>
                              </p:par>
                              <p:par>
                                <p:cTn id="16" presetID="10" presetClass="entr" presetSubtype="0" fill="hold" grpId="0" nodeType="withEffect">
                                  <p:stCondLst>
                                    <p:cond delay="2000"/>
                                  </p:stCondLst>
                                  <p:childTnLst>
                                    <p:set>
                                      <p:cBhvr>
                                        <p:cTn id="17" dur="1" fill="hold">
                                          <p:stCondLst>
                                            <p:cond delay="0"/>
                                          </p:stCondLst>
                                        </p:cTn>
                                        <p:tgtEl>
                                          <p:spTgt spid="4">
                                            <p:txEl>
                                              <p:pRg st="1" end="1"/>
                                            </p:txEl>
                                          </p:spTgt>
                                        </p:tgtEl>
                                        <p:attrNameLst>
                                          <p:attrName>style.visibility</p:attrName>
                                        </p:attrNameLst>
                                      </p:cBhvr>
                                      <p:to>
                                        <p:strVal val="visible"/>
                                      </p:to>
                                    </p:set>
                                    <p:animEffect transition="in" filter="fade">
                                      <p:cBhvr>
                                        <p:cTn id="18" dur="400"/>
                                        <p:tgtEl>
                                          <p:spTgt spid="4">
                                            <p:txEl>
                                              <p:pRg st="1" end="1"/>
                                            </p:txEl>
                                          </p:spTgt>
                                        </p:tgtEl>
                                      </p:cBhvr>
                                    </p:animEffect>
                                  </p:childTnLst>
                                </p:cTn>
                              </p:par>
                              <p:par>
                                <p:cTn id="19" presetID="10" presetClass="entr" presetSubtype="0" fill="hold" grpId="0" nodeType="withEffect">
                                  <p:stCondLst>
                                    <p:cond delay="200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400"/>
                                        <p:tgtEl>
                                          <p:spTgt spid="4">
                                            <p:txEl>
                                              <p:pRg st="2" end="2"/>
                                            </p:txEl>
                                          </p:spTgt>
                                        </p:tgtEl>
                                      </p:cBhvr>
                                    </p:animEffect>
                                  </p:childTnLst>
                                </p:cTn>
                              </p:par>
                              <p:par>
                                <p:cTn id="22" presetID="10" presetClass="entr" presetSubtype="0" fill="hold" grpId="0" nodeType="withEffect">
                                  <p:stCondLst>
                                    <p:cond delay="2000"/>
                                  </p:stCondLst>
                                  <p:childTnLst>
                                    <p:set>
                                      <p:cBhvr>
                                        <p:cTn id="23" dur="1" fill="hold">
                                          <p:stCondLst>
                                            <p:cond delay="0"/>
                                          </p:stCondLst>
                                        </p:cTn>
                                        <p:tgtEl>
                                          <p:spTgt spid="4">
                                            <p:txEl>
                                              <p:pRg st="3" end="3"/>
                                            </p:txEl>
                                          </p:spTgt>
                                        </p:tgtEl>
                                        <p:attrNameLst>
                                          <p:attrName>style.visibility</p:attrName>
                                        </p:attrNameLst>
                                      </p:cBhvr>
                                      <p:to>
                                        <p:strVal val="visible"/>
                                      </p:to>
                                    </p:set>
                                    <p:animEffect transition="in" filter="fade">
                                      <p:cBhvr>
                                        <p:cTn id="24" dur="400"/>
                                        <p:tgtEl>
                                          <p:spTgt spid="4">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500"/>
                                  </p:stCondLst>
                                  <p:childTnLst>
                                    <p:set>
                                      <p:cBhvr>
                                        <p:cTn id="28" dur="1" fill="hold">
                                          <p:stCondLst>
                                            <p:cond delay="0"/>
                                          </p:stCondLst>
                                        </p:cTn>
                                        <p:tgtEl>
                                          <p:spTgt spid="5">
                                            <p:txEl>
                                              <p:pRg st="0" end="0"/>
                                            </p:txEl>
                                          </p:spTgt>
                                        </p:tgtEl>
                                        <p:attrNameLst>
                                          <p:attrName>style.visibility</p:attrName>
                                        </p:attrNameLst>
                                      </p:cBhvr>
                                      <p:to>
                                        <p:strVal val="visible"/>
                                      </p:to>
                                    </p:set>
                                    <p:animEffect transition="in" filter="fade">
                                      <p:cBhvr>
                                        <p:cTn id="29" dur="400"/>
                                        <p:tgtEl>
                                          <p:spTgt spid="5">
                                            <p:txEl>
                                              <p:pRg st="0" end="0"/>
                                            </p:txEl>
                                          </p:spTgt>
                                        </p:tgtEl>
                                      </p:cBhvr>
                                    </p:animEffect>
                                  </p:childTnLst>
                                </p:cTn>
                              </p:par>
                              <p:par>
                                <p:cTn id="30" presetID="10" presetClass="entr" presetSubtype="0" fill="hold" grpId="0" nodeType="withEffect">
                                  <p:stCondLst>
                                    <p:cond delay="2000"/>
                                  </p:stCondLst>
                                  <p:childTnLst>
                                    <p:set>
                                      <p:cBhvr>
                                        <p:cTn id="31" dur="1" fill="hold">
                                          <p:stCondLst>
                                            <p:cond delay="0"/>
                                          </p:stCondLst>
                                        </p:cTn>
                                        <p:tgtEl>
                                          <p:spTgt spid="6">
                                            <p:txEl>
                                              <p:pRg st="0" end="0"/>
                                            </p:txEl>
                                          </p:spTgt>
                                        </p:tgtEl>
                                        <p:attrNameLst>
                                          <p:attrName>style.visibility</p:attrName>
                                        </p:attrNameLst>
                                      </p:cBhvr>
                                      <p:to>
                                        <p:strVal val="visible"/>
                                      </p:to>
                                    </p:set>
                                    <p:animEffect transition="in" filter="fade">
                                      <p:cBhvr>
                                        <p:cTn id="32" dur="400"/>
                                        <p:tgtEl>
                                          <p:spTgt spid="6">
                                            <p:txEl>
                                              <p:pRg st="0" end="0"/>
                                            </p:txEl>
                                          </p:spTgt>
                                        </p:tgtEl>
                                      </p:cBhvr>
                                    </p:animEffect>
                                  </p:childTnLst>
                                </p:cTn>
                              </p:par>
                              <p:par>
                                <p:cTn id="33" presetID="10" presetClass="entr" presetSubtype="0" fill="hold" grpId="0" nodeType="withEffect">
                                  <p:stCondLst>
                                    <p:cond delay="2000"/>
                                  </p:stCondLst>
                                  <p:childTnLst>
                                    <p:set>
                                      <p:cBhvr>
                                        <p:cTn id="34" dur="1" fill="hold">
                                          <p:stCondLst>
                                            <p:cond delay="0"/>
                                          </p:stCondLst>
                                        </p:cTn>
                                        <p:tgtEl>
                                          <p:spTgt spid="6">
                                            <p:txEl>
                                              <p:pRg st="1" end="1"/>
                                            </p:txEl>
                                          </p:spTgt>
                                        </p:tgtEl>
                                        <p:attrNameLst>
                                          <p:attrName>style.visibility</p:attrName>
                                        </p:attrNameLst>
                                      </p:cBhvr>
                                      <p:to>
                                        <p:strVal val="visible"/>
                                      </p:to>
                                    </p:set>
                                    <p:animEffect transition="in" filter="fade">
                                      <p:cBhvr>
                                        <p:cTn id="35" dur="400"/>
                                        <p:tgtEl>
                                          <p:spTgt spid="6">
                                            <p:txEl>
                                              <p:pRg st="1" end="1"/>
                                            </p:txEl>
                                          </p:spTgt>
                                        </p:tgtEl>
                                      </p:cBhvr>
                                    </p:animEffect>
                                  </p:childTnLst>
                                </p:cTn>
                              </p:par>
                              <p:par>
                                <p:cTn id="36" presetID="10" presetClass="entr" presetSubtype="0" fill="hold" grpId="0" nodeType="withEffect">
                                  <p:stCondLst>
                                    <p:cond delay="2000"/>
                                  </p:stCondLst>
                                  <p:childTnLst>
                                    <p:set>
                                      <p:cBhvr>
                                        <p:cTn id="37" dur="1" fill="hold">
                                          <p:stCondLst>
                                            <p:cond delay="0"/>
                                          </p:stCondLst>
                                        </p:cTn>
                                        <p:tgtEl>
                                          <p:spTgt spid="6">
                                            <p:txEl>
                                              <p:pRg st="2" end="2"/>
                                            </p:txEl>
                                          </p:spTgt>
                                        </p:tgtEl>
                                        <p:attrNameLst>
                                          <p:attrName>style.visibility</p:attrName>
                                        </p:attrNameLst>
                                      </p:cBhvr>
                                      <p:to>
                                        <p:strVal val="visible"/>
                                      </p:to>
                                    </p:set>
                                    <p:animEffect transition="in" filter="fade">
                                      <p:cBhvr>
                                        <p:cTn id="38" dur="4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build="p"/>
      <p:bldP spid="5" grpId="0" build="p"/>
      <p:bldP spid="6"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882BD-BCAC-A4E5-E322-A43211831C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09C012-AB2B-73D2-C9F3-0096891D09DB}"/>
              </a:ext>
            </a:extLst>
          </p:cNvPr>
          <p:cNvSpPr>
            <a:spLocks noGrp="1"/>
          </p:cNvSpPr>
          <p:nvPr>
            <p:ph type="title"/>
          </p:nvPr>
        </p:nvSpPr>
        <p:spPr/>
        <p:txBody>
          <a:bodyPr/>
          <a:lstStyle/>
          <a:p>
            <a:pPr algn="ctr"/>
            <a:r>
              <a:rPr lang="en-US" dirty="0"/>
              <a:t>Scenario 3</a:t>
            </a:r>
          </a:p>
        </p:txBody>
      </p:sp>
      <p:sp>
        <p:nvSpPr>
          <p:cNvPr id="3" name="Text Placeholder 2">
            <a:extLst>
              <a:ext uri="{FF2B5EF4-FFF2-40B4-BE49-F238E27FC236}">
                <a16:creationId xmlns:a16="http://schemas.microsoft.com/office/drawing/2014/main" id="{15E1A83F-6710-DDE7-0981-9D044677C77C}"/>
              </a:ext>
            </a:extLst>
          </p:cNvPr>
          <p:cNvSpPr>
            <a:spLocks noGrp="1"/>
          </p:cNvSpPr>
          <p:nvPr>
            <p:ph type="body" idx="1"/>
          </p:nvPr>
        </p:nvSpPr>
        <p:spPr/>
        <p:txBody>
          <a:bodyPr>
            <a:normAutofit/>
          </a:bodyPr>
          <a:lstStyle/>
          <a:p>
            <a:pPr algn="ctr"/>
            <a:r>
              <a:rPr lang="en-US" sz="1800" dirty="0"/>
              <a:t>AS-IS Scenario</a:t>
            </a:r>
          </a:p>
          <a:p>
            <a:endParaRPr lang="en-US" sz="1800" dirty="0"/>
          </a:p>
        </p:txBody>
      </p:sp>
      <p:sp>
        <p:nvSpPr>
          <p:cNvPr id="4" name="Content Placeholder 3">
            <a:extLst>
              <a:ext uri="{FF2B5EF4-FFF2-40B4-BE49-F238E27FC236}">
                <a16:creationId xmlns:a16="http://schemas.microsoft.com/office/drawing/2014/main" id="{8636B13F-E58E-1A81-8738-7EE7C620A289}"/>
              </a:ext>
            </a:extLst>
          </p:cNvPr>
          <p:cNvSpPr>
            <a:spLocks noGrp="1"/>
          </p:cNvSpPr>
          <p:nvPr>
            <p:ph sz="half" idx="2"/>
          </p:nvPr>
        </p:nvSpPr>
        <p:spPr/>
        <p:txBody>
          <a:bodyPr>
            <a:normAutofit/>
          </a:bodyPr>
          <a:lstStyle/>
          <a:p>
            <a:r>
              <a:rPr lang="en-US" sz="1800" dirty="0"/>
              <a:t>Mark comes out of his class with a white cane to feel around his surroundings, he needs to reach TFLO 131 from TFLO 239.</a:t>
            </a:r>
          </a:p>
          <a:p>
            <a:r>
              <a:rPr lang="en-US" sz="1800" dirty="0"/>
              <a:t>He arrives at a stairwell and is carrying heavy equipment to prepare for his upcoming class and can’t walk down with that load, he tries to find an elevator but without audio cues to navigate him, he makes 3 wrong turns at the corridor to reach the elevator call button.</a:t>
            </a:r>
          </a:p>
          <a:p>
            <a:r>
              <a:rPr lang="en-US" sz="1800" dirty="0"/>
              <a:t>He asks a nearby student to point him in the right direction between the two floors.</a:t>
            </a:r>
          </a:p>
          <a:p>
            <a:r>
              <a:rPr lang="en-US" sz="1800" dirty="0"/>
              <a:t>He arrives at his class 10 minutes late due to taking an inefficient path to reach the class.</a:t>
            </a:r>
          </a:p>
        </p:txBody>
      </p:sp>
      <p:sp>
        <p:nvSpPr>
          <p:cNvPr id="5" name="Text Placeholder 4">
            <a:extLst>
              <a:ext uri="{FF2B5EF4-FFF2-40B4-BE49-F238E27FC236}">
                <a16:creationId xmlns:a16="http://schemas.microsoft.com/office/drawing/2014/main" id="{F828B628-1050-BF38-F339-70EF6AEDBECC}"/>
              </a:ext>
            </a:extLst>
          </p:cNvPr>
          <p:cNvSpPr>
            <a:spLocks noGrp="1"/>
          </p:cNvSpPr>
          <p:nvPr>
            <p:ph type="body" sz="quarter" idx="3"/>
          </p:nvPr>
        </p:nvSpPr>
        <p:spPr/>
        <p:txBody>
          <a:bodyPr>
            <a:normAutofit/>
          </a:bodyPr>
          <a:lstStyle/>
          <a:p>
            <a:pPr algn="ctr"/>
            <a:r>
              <a:rPr lang="en-US" sz="1800" dirty="0"/>
              <a:t>TO-BE Scenario</a:t>
            </a:r>
          </a:p>
          <a:p>
            <a:pPr algn="ctr"/>
            <a:endParaRPr lang="en-US" sz="1800" dirty="0"/>
          </a:p>
        </p:txBody>
      </p:sp>
      <p:sp>
        <p:nvSpPr>
          <p:cNvPr id="6" name="Content Placeholder 5">
            <a:extLst>
              <a:ext uri="{FF2B5EF4-FFF2-40B4-BE49-F238E27FC236}">
                <a16:creationId xmlns:a16="http://schemas.microsoft.com/office/drawing/2014/main" id="{DFC35B34-EDAB-475F-7430-F1824D5E60A7}"/>
              </a:ext>
            </a:extLst>
          </p:cNvPr>
          <p:cNvSpPr>
            <a:spLocks noGrp="1"/>
          </p:cNvSpPr>
          <p:nvPr>
            <p:ph sz="quarter" idx="4"/>
          </p:nvPr>
        </p:nvSpPr>
        <p:spPr/>
        <p:txBody>
          <a:bodyPr>
            <a:normAutofit/>
          </a:bodyPr>
          <a:lstStyle/>
          <a:p>
            <a:r>
              <a:rPr lang="en-US" sz="1800" dirty="0"/>
              <a:t>Mark calls THEIA to take him to TFLO 131 stating “THEIA, lead me to TFLO 131 via elevator”</a:t>
            </a:r>
          </a:p>
          <a:p>
            <a:r>
              <a:rPr lang="en-US" sz="1800" dirty="0"/>
              <a:t>THEIA guides Mark with the fastest route, in this case fastest being considered the shortest accessible route with minimal turns and distance to reach the elevator</a:t>
            </a:r>
          </a:p>
          <a:p>
            <a:r>
              <a:rPr lang="en-US" sz="1800" dirty="0"/>
              <a:t>Audio cues is used to pinpoint Mark down to the elevator mentioning the distance before directing the next direction, and provides haptic pulses to arriving the elevator</a:t>
            </a:r>
          </a:p>
          <a:p>
            <a:r>
              <a:rPr lang="en-US" sz="1800" dirty="0"/>
              <a:t>When reached to floor 1 of TFLO, THEIA switches maps to current floor and continues to use audio cues to reach his class on time.</a:t>
            </a:r>
          </a:p>
        </p:txBody>
      </p:sp>
    </p:spTree>
    <p:extLst>
      <p:ext uri="{BB962C8B-B14F-4D97-AF65-F5344CB8AC3E}">
        <p14:creationId xmlns:p14="http://schemas.microsoft.com/office/powerpoint/2010/main" val="2004864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50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400"/>
                                        <p:tgtEl>
                                          <p:spTgt spid="3">
                                            <p:txEl>
                                              <p:pRg st="0" end="0"/>
                                            </p:txEl>
                                          </p:spTgt>
                                        </p:tgtEl>
                                      </p:cBhvr>
                                    </p:animEffect>
                                  </p:childTnLst>
                                </p:cTn>
                              </p:par>
                              <p:par>
                                <p:cTn id="13" presetID="10" presetClass="entr" presetSubtype="0" fill="hold" grpId="0" nodeType="withEffect">
                                  <p:stCondLst>
                                    <p:cond delay="200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fade">
                                      <p:cBhvr>
                                        <p:cTn id="15" dur="400"/>
                                        <p:tgtEl>
                                          <p:spTgt spid="4">
                                            <p:txEl>
                                              <p:pRg st="0" end="0"/>
                                            </p:txEl>
                                          </p:spTgt>
                                        </p:tgtEl>
                                      </p:cBhvr>
                                    </p:animEffect>
                                  </p:childTnLst>
                                </p:cTn>
                              </p:par>
                              <p:par>
                                <p:cTn id="16" presetID="10" presetClass="entr" presetSubtype="0" fill="hold" grpId="0" nodeType="withEffect">
                                  <p:stCondLst>
                                    <p:cond delay="2000"/>
                                  </p:stCondLst>
                                  <p:childTnLst>
                                    <p:set>
                                      <p:cBhvr>
                                        <p:cTn id="17" dur="1" fill="hold">
                                          <p:stCondLst>
                                            <p:cond delay="0"/>
                                          </p:stCondLst>
                                        </p:cTn>
                                        <p:tgtEl>
                                          <p:spTgt spid="4">
                                            <p:txEl>
                                              <p:pRg st="1" end="1"/>
                                            </p:txEl>
                                          </p:spTgt>
                                        </p:tgtEl>
                                        <p:attrNameLst>
                                          <p:attrName>style.visibility</p:attrName>
                                        </p:attrNameLst>
                                      </p:cBhvr>
                                      <p:to>
                                        <p:strVal val="visible"/>
                                      </p:to>
                                    </p:set>
                                    <p:animEffect transition="in" filter="fade">
                                      <p:cBhvr>
                                        <p:cTn id="18" dur="400"/>
                                        <p:tgtEl>
                                          <p:spTgt spid="4">
                                            <p:txEl>
                                              <p:pRg st="1" end="1"/>
                                            </p:txEl>
                                          </p:spTgt>
                                        </p:tgtEl>
                                      </p:cBhvr>
                                    </p:animEffect>
                                  </p:childTnLst>
                                </p:cTn>
                              </p:par>
                              <p:par>
                                <p:cTn id="19" presetID="10" presetClass="entr" presetSubtype="0" fill="hold" grpId="0" nodeType="withEffect">
                                  <p:stCondLst>
                                    <p:cond delay="200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400"/>
                                        <p:tgtEl>
                                          <p:spTgt spid="4">
                                            <p:txEl>
                                              <p:pRg st="2" end="2"/>
                                            </p:txEl>
                                          </p:spTgt>
                                        </p:tgtEl>
                                      </p:cBhvr>
                                    </p:animEffect>
                                  </p:childTnLst>
                                </p:cTn>
                              </p:par>
                              <p:par>
                                <p:cTn id="22" presetID="10" presetClass="entr" presetSubtype="0" fill="hold" grpId="0" nodeType="withEffect">
                                  <p:stCondLst>
                                    <p:cond delay="2000"/>
                                  </p:stCondLst>
                                  <p:childTnLst>
                                    <p:set>
                                      <p:cBhvr>
                                        <p:cTn id="23" dur="1" fill="hold">
                                          <p:stCondLst>
                                            <p:cond delay="0"/>
                                          </p:stCondLst>
                                        </p:cTn>
                                        <p:tgtEl>
                                          <p:spTgt spid="4">
                                            <p:txEl>
                                              <p:pRg st="3" end="3"/>
                                            </p:txEl>
                                          </p:spTgt>
                                        </p:tgtEl>
                                        <p:attrNameLst>
                                          <p:attrName>style.visibility</p:attrName>
                                        </p:attrNameLst>
                                      </p:cBhvr>
                                      <p:to>
                                        <p:strVal val="visible"/>
                                      </p:to>
                                    </p:set>
                                    <p:animEffect transition="in" filter="fade">
                                      <p:cBhvr>
                                        <p:cTn id="24" dur="400"/>
                                        <p:tgtEl>
                                          <p:spTgt spid="4">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500"/>
                                  </p:stCondLst>
                                  <p:childTnLst>
                                    <p:set>
                                      <p:cBhvr>
                                        <p:cTn id="28" dur="1" fill="hold">
                                          <p:stCondLst>
                                            <p:cond delay="0"/>
                                          </p:stCondLst>
                                        </p:cTn>
                                        <p:tgtEl>
                                          <p:spTgt spid="5">
                                            <p:txEl>
                                              <p:pRg st="0" end="0"/>
                                            </p:txEl>
                                          </p:spTgt>
                                        </p:tgtEl>
                                        <p:attrNameLst>
                                          <p:attrName>style.visibility</p:attrName>
                                        </p:attrNameLst>
                                      </p:cBhvr>
                                      <p:to>
                                        <p:strVal val="visible"/>
                                      </p:to>
                                    </p:set>
                                    <p:animEffect transition="in" filter="fade">
                                      <p:cBhvr>
                                        <p:cTn id="29" dur="400"/>
                                        <p:tgtEl>
                                          <p:spTgt spid="5">
                                            <p:txEl>
                                              <p:pRg st="0" end="0"/>
                                            </p:txEl>
                                          </p:spTgt>
                                        </p:tgtEl>
                                      </p:cBhvr>
                                    </p:animEffect>
                                  </p:childTnLst>
                                </p:cTn>
                              </p:par>
                              <p:par>
                                <p:cTn id="30" presetID="10" presetClass="entr" presetSubtype="0" fill="hold" grpId="0" nodeType="withEffect">
                                  <p:stCondLst>
                                    <p:cond delay="2000"/>
                                  </p:stCondLst>
                                  <p:childTnLst>
                                    <p:set>
                                      <p:cBhvr>
                                        <p:cTn id="31" dur="1" fill="hold">
                                          <p:stCondLst>
                                            <p:cond delay="0"/>
                                          </p:stCondLst>
                                        </p:cTn>
                                        <p:tgtEl>
                                          <p:spTgt spid="6">
                                            <p:txEl>
                                              <p:pRg st="0" end="0"/>
                                            </p:txEl>
                                          </p:spTgt>
                                        </p:tgtEl>
                                        <p:attrNameLst>
                                          <p:attrName>style.visibility</p:attrName>
                                        </p:attrNameLst>
                                      </p:cBhvr>
                                      <p:to>
                                        <p:strVal val="visible"/>
                                      </p:to>
                                    </p:set>
                                    <p:animEffect transition="in" filter="fade">
                                      <p:cBhvr>
                                        <p:cTn id="32" dur="400"/>
                                        <p:tgtEl>
                                          <p:spTgt spid="6">
                                            <p:txEl>
                                              <p:pRg st="0" end="0"/>
                                            </p:txEl>
                                          </p:spTgt>
                                        </p:tgtEl>
                                      </p:cBhvr>
                                    </p:animEffect>
                                  </p:childTnLst>
                                </p:cTn>
                              </p:par>
                              <p:par>
                                <p:cTn id="33" presetID="10" presetClass="entr" presetSubtype="0" fill="hold" grpId="0" nodeType="withEffect">
                                  <p:stCondLst>
                                    <p:cond delay="2000"/>
                                  </p:stCondLst>
                                  <p:childTnLst>
                                    <p:set>
                                      <p:cBhvr>
                                        <p:cTn id="34" dur="1" fill="hold">
                                          <p:stCondLst>
                                            <p:cond delay="0"/>
                                          </p:stCondLst>
                                        </p:cTn>
                                        <p:tgtEl>
                                          <p:spTgt spid="6">
                                            <p:txEl>
                                              <p:pRg st="1" end="1"/>
                                            </p:txEl>
                                          </p:spTgt>
                                        </p:tgtEl>
                                        <p:attrNameLst>
                                          <p:attrName>style.visibility</p:attrName>
                                        </p:attrNameLst>
                                      </p:cBhvr>
                                      <p:to>
                                        <p:strVal val="visible"/>
                                      </p:to>
                                    </p:set>
                                    <p:animEffect transition="in" filter="fade">
                                      <p:cBhvr>
                                        <p:cTn id="35" dur="400"/>
                                        <p:tgtEl>
                                          <p:spTgt spid="6">
                                            <p:txEl>
                                              <p:pRg st="1" end="1"/>
                                            </p:txEl>
                                          </p:spTgt>
                                        </p:tgtEl>
                                      </p:cBhvr>
                                    </p:animEffect>
                                  </p:childTnLst>
                                </p:cTn>
                              </p:par>
                              <p:par>
                                <p:cTn id="36" presetID="10" presetClass="entr" presetSubtype="0" fill="hold" grpId="0" nodeType="withEffect">
                                  <p:stCondLst>
                                    <p:cond delay="2000"/>
                                  </p:stCondLst>
                                  <p:childTnLst>
                                    <p:set>
                                      <p:cBhvr>
                                        <p:cTn id="37" dur="1" fill="hold">
                                          <p:stCondLst>
                                            <p:cond delay="0"/>
                                          </p:stCondLst>
                                        </p:cTn>
                                        <p:tgtEl>
                                          <p:spTgt spid="6">
                                            <p:txEl>
                                              <p:pRg st="2" end="2"/>
                                            </p:txEl>
                                          </p:spTgt>
                                        </p:tgtEl>
                                        <p:attrNameLst>
                                          <p:attrName>style.visibility</p:attrName>
                                        </p:attrNameLst>
                                      </p:cBhvr>
                                      <p:to>
                                        <p:strVal val="visible"/>
                                      </p:to>
                                    </p:set>
                                    <p:animEffect transition="in" filter="fade">
                                      <p:cBhvr>
                                        <p:cTn id="38" dur="400"/>
                                        <p:tgtEl>
                                          <p:spTgt spid="6">
                                            <p:txEl>
                                              <p:pRg st="2" end="2"/>
                                            </p:txEl>
                                          </p:spTgt>
                                        </p:tgtEl>
                                      </p:cBhvr>
                                    </p:animEffect>
                                  </p:childTnLst>
                                </p:cTn>
                              </p:par>
                              <p:par>
                                <p:cTn id="39" presetID="10" presetClass="entr" presetSubtype="0" fill="hold" grpId="0" nodeType="withEffect">
                                  <p:stCondLst>
                                    <p:cond delay="2000"/>
                                  </p:stCondLst>
                                  <p:childTnLst>
                                    <p:set>
                                      <p:cBhvr>
                                        <p:cTn id="40" dur="1" fill="hold">
                                          <p:stCondLst>
                                            <p:cond delay="0"/>
                                          </p:stCondLst>
                                        </p:cTn>
                                        <p:tgtEl>
                                          <p:spTgt spid="6">
                                            <p:txEl>
                                              <p:pRg st="3" end="3"/>
                                            </p:txEl>
                                          </p:spTgt>
                                        </p:tgtEl>
                                        <p:attrNameLst>
                                          <p:attrName>style.visibility</p:attrName>
                                        </p:attrNameLst>
                                      </p:cBhvr>
                                      <p:to>
                                        <p:strVal val="visible"/>
                                      </p:to>
                                    </p:set>
                                    <p:animEffect transition="in" filter="fade">
                                      <p:cBhvr>
                                        <p:cTn id="41" dur="4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build="p"/>
      <p:bldP spid="5" grpId="0" build="p"/>
      <p:bldP spid="6"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09613-F5ED-1452-1A1D-2609BF90A7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7C4DF9-074E-57F4-79A7-BBA3107239C1}"/>
              </a:ext>
            </a:extLst>
          </p:cNvPr>
          <p:cNvSpPr>
            <a:spLocks noGrp="1"/>
          </p:cNvSpPr>
          <p:nvPr>
            <p:ph type="title"/>
          </p:nvPr>
        </p:nvSpPr>
        <p:spPr/>
        <p:txBody>
          <a:bodyPr/>
          <a:lstStyle/>
          <a:p>
            <a:pPr algn="ctr"/>
            <a:r>
              <a:rPr lang="en-US" dirty="0"/>
              <a:t>Scenario 4</a:t>
            </a:r>
          </a:p>
        </p:txBody>
      </p:sp>
      <p:sp>
        <p:nvSpPr>
          <p:cNvPr id="3" name="Text Placeholder 2">
            <a:extLst>
              <a:ext uri="{FF2B5EF4-FFF2-40B4-BE49-F238E27FC236}">
                <a16:creationId xmlns:a16="http://schemas.microsoft.com/office/drawing/2014/main" id="{26C31B03-B127-61FE-1BF8-9055ED5E2236}"/>
              </a:ext>
            </a:extLst>
          </p:cNvPr>
          <p:cNvSpPr>
            <a:spLocks noGrp="1"/>
          </p:cNvSpPr>
          <p:nvPr>
            <p:ph type="body" idx="1"/>
          </p:nvPr>
        </p:nvSpPr>
        <p:spPr/>
        <p:txBody>
          <a:bodyPr>
            <a:normAutofit/>
          </a:bodyPr>
          <a:lstStyle/>
          <a:p>
            <a:pPr algn="ctr"/>
            <a:r>
              <a:rPr lang="en-US" sz="1800" dirty="0"/>
              <a:t>AS-IS Scenario</a:t>
            </a:r>
          </a:p>
          <a:p>
            <a:endParaRPr lang="en-US" sz="1800" dirty="0"/>
          </a:p>
        </p:txBody>
      </p:sp>
      <p:sp>
        <p:nvSpPr>
          <p:cNvPr id="4" name="Content Placeholder 3">
            <a:extLst>
              <a:ext uri="{FF2B5EF4-FFF2-40B4-BE49-F238E27FC236}">
                <a16:creationId xmlns:a16="http://schemas.microsoft.com/office/drawing/2014/main" id="{CADD4DE7-BC4E-0697-D6C8-3B93FAD982E7}"/>
              </a:ext>
            </a:extLst>
          </p:cNvPr>
          <p:cNvSpPr>
            <a:spLocks noGrp="1"/>
          </p:cNvSpPr>
          <p:nvPr>
            <p:ph sz="half" idx="2"/>
          </p:nvPr>
        </p:nvSpPr>
        <p:spPr/>
        <p:txBody>
          <a:bodyPr>
            <a:normAutofit lnSpcReduction="10000"/>
          </a:bodyPr>
          <a:lstStyle/>
          <a:p>
            <a:r>
              <a:rPr lang="en-US" sz="1800" dirty="0"/>
              <a:t>Elena wants to reach to the cafeteria using standard audio maps to guide her</a:t>
            </a:r>
          </a:p>
          <a:p>
            <a:r>
              <a:rPr lang="en-US" sz="1800" dirty="0"/>
              <a:t>The system of the standard audio map uses an interval of 3 seconds to produce an audio sound, but it becomes difficult to hear when there is constant background noise preventing in hearing the audio. </a:t>
            </a:r>
          </a:p>
          <a:p>
            <a:r>
              <a:rPr lang="en-US" sz="1800" dirty="0"/>
              <a:t>She wants to adjust the frequency of the interval along with being able to switch between the standard mode to high caution mode to avoid potential areas that can cause delays, but she isn’t able to due to the complexity of the application and only her caretaker is able to set it up beforehand on a different device.</a:t>
            </a:r>
          </a:p>
        </p:txBody>
      </p:sp>
      <p:sp>
        <p:nvSpPr>
          <p:cNvPr id="5" name="Text Placeholder 4">
            <a:extLst>
              <a:ext uri="{FF2B5EF4-FFF2-40B4-BE49-F238E27FC236}">
                <a16:creationId xmlns:a16="http://schemas.microsoft.com/office/drawing/2014/main" id="{D6005700-9AAA-4FB7-DD5D-E573DFA52E9D}"/>
              </a:ext>
            </a:extLst>
          </p:cNvPr>
          <p:cNvSpPr>
            <a:spLocks noGrp="1"/>
          </p:cNvSpPr>
          <p:nvPr>
            <p:ph type="body" sz="quarter" idx="3"/>
          </p:nvPr>
        </p:nvSpPr>
        <p:spPr/>
        <p:txBody>
          <a:bodyPr>
            <a:normAutofit/>
          </a:bodyPr>
          <a:lstStyle/>
          <a:p>
            <a:pPr algn="ctr"/>
            <a:r>
              <a:rPr lang="en-US" sz="1800" dirty="0"/>
              <a:t>TO-BE Scenario</a:t>
            </a:r>
          </a:p>
          <a:p>
            <a:pPr algn="ctr"/>
            <a:endParaRPr lang="en-US" sz="1800" dirty="0"/>
          </a:p>
        </p:txBody>
      </p:sp>
      <p:sp>
        <p:nvSpPr>
          <p:cNvPr id="6" name="Content Placeholder 5">
            <a:extLst>
              <a:ext uri="{FF2B5EF4-FFF2-40B4-BE49-F238E27FC236}">
                <a16:creationId xmlns:a16="http://schemas.microsoft.com/office/drawing/2014/main" id="{284DD384-5A8D-63C5-2FEF-589BBEC09155}"/>
              </a:ext>
            </a:extLst>
          </p:cNvPr>
          <p:cNvSpPr>
            <a:spLocks noGrp="1"/>
          </p:cNvSpPr>
          <p:nvPr>
            <p:ph sz="quarter" idx="4"/>
          </p:nvPr>
        </p:nvSpPr>
        <p:spPr/>
        <p:txBody>
          <a:bodyPr>
            <a:normAutofit lnSpcReduction="10000"/>
          </a:bodyPr>
          <a:lstStyle/>
          <a:p>
            <a:r>
              <a:rPr lang="en-US" sz="1800" dirty="0"/>
              <a:t>Elena asks THEIA, “I’m heading to lunch at the cafeteria”, and afterwards confirms location by tapping her phone screen twice</a:t>
            </a:r>
          </a:p>
          <a:p>
            <a:r>
              <a:rPr lang="en-US" sz="1800" dirty="0"/>
              <a:t>She then confirms comfortable mode via voice command in which increases audio frequency interval and routes a path that has less of a crowd in the hallways</a:t>
            </a:r>
          </a:p>
          <a:p>
            <a:r>
              <a:rPr lang="en-US" sz="1800" dirty="0"/>
              <a:t>THEIA balances the modes from the caretaker's primary role with setting master safety controls for Elena like emergency contacts for incidents, while Elena can customize user-level preferences on the fly with audio cue frequency, haptic feedback levels, and audio level.</a:t>
            </a:r>
          </a:p>
        </p:txBody>
      </p:sp>
    </p:spTree>
    <p:extLst>
      <p:ext uri="{BB962C8B-B14F-4D97-AF65-F5344CB8AC3E}">
        <p14:creationId xmlns:p14="http://schemas.microsoft.com/office/powerpoint/2010/main" val="36416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50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400"/>
                                        <p:tgtEl>
                                          <p:spTgt spid="3">
                                            <p:txEl>
                                              <p:pRg st="0" end="0"/>
                                            </p:txEl>
                                          </p:spTgt>
                                        </p:tgtEl>
                                      </p:cBhvr>
                                    </p:animEffect>
                                  </p:childTnLst>
                                </p:cTn>
                              </p:par>
                              <p:par>
                                <p:cTn id="13" presetID="10" presetClass="entr" presetSubtype="0" fill="hold" grpId="0" nodeType="withEffect">
                                  <p:stCondLst>
                                    <p:cond delay="200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fade">
                                      <p:cBhvr>
                                        <p:cTn id="15" dur="400"/>
                                        <p:tgtEl>
                                          <p:spTgt spid="4">
                                            <p:txEl>
                                              <p:pRg st="0" end="0"/>
                                            </p:txEl>
                                          </p:spTgt>
                                        </p:tgtEl>
                                      </p:cBhvr>
                                    </p:animEffect>
                                  </p:childTnLst>
                                </p:cTn>
                              </p:par>
                              <p:par>
                                <p:cTn id="16" presetID="10" presetClass="entr" presetSubtype="0" fill="hold" grpId="0" nodeType="withEffect">
                                  <p:stCondLst>
                                    <p:cond delay="2000"/>
                                  </p:stCondLst>
                                  <p:childTnLst>
                                    <p:set>
                                      <p:cBhvr>
                                        <p:cTn id="17" dur="1" fill="hold">
                                          <p:stCondLst>
                                            <p:cond delay="0"/>
                                          </p:stCondLst>
                                        </p:cTn>
                                        <p:tgtEl>
                                          <p:spTgt spid="4">
                                            <p:txEl>
                                              <p:pRg st="1" end="1"/>
                                            </p:txEl>
                                          </p:spTgt>
                                        </p:tgtEl>
                                        <p:attrNameLst>
                                          <p:attrName>style.visibility</p:attrName>
                                        </p:attrNameLst>
                                      </p:cBhvr>
                                      <p:to>
                                        <p:strVal val="visible"/>
                                      </p:to>
                                    </p:set>
                                    <p:animEffect transition="in" filter="fade">
                                      <p:cBhvr>
                                        <p:cTn id="18" dur="400"/>
                                        <p:tgtEl>
                                          <p:spTgt spid="4">
                                            <p:txEl>
                                              <p:pRg st="1" end="1"/>
                                            </p:txEl>
                                          </p:spTgt>
                                        </p:tgtEl>
                                      </p:cBhvr>
                                    </p:animEffect>
                                  </p:childTnLst>
                                </p:cTn>
                              </p:par>
                              <p:par>
                                <p:cTn id="19" presetID="10" presetClass="entr" presetSubtype="0" fill="hold" grpId="0" nodeType="withEffect">
                                  <p:stCondLst>
                                    <p:cond delay="200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400"/>
                                        <p:tgtEl>
                                          <p:spTgt spid="4">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500"/>
                                  </p:stCondLst>
                                  <p:childTnLst>
                                    <p:set>
                                      <p:cBhvr>
                                        <p:cTn id="25" dur="1" fill="hold">
                                          <p:stCondLst>
                                            <p:cond delay="0"/>
                                          </p:stCondLst>
                                        </p:cTn>
                                        <p:tgtEl>
                                          <p:spTgt spid="5">
                                            <p:txEl>
                                              <p:pRg st="0" end="0"/>
                                            </p:txEl>
                                          </p:spTgt>
                                        </p:tgtEl>
                                        <p:attrNameLst>
                                          <p:attrName>style.visibility</p:attrName>
                                        </p:attrNameLst>
                                      </p:cBhvr>
                                      <p:to>
                                        <p:strVal val="visible"/>
                                      </p:to>
                                    </p:set>
                                    <p:animEffect transition="in" filter="fade">
                                      <p:cBhvr>
                                        <p:cTn id="26" dur="400"/>
                                        <p:tgtEl>
                                          <p:spTgt spid="5">
                                            <p:txEl>
                                              <p:pRg st="0" end="0"/>
                                            </p:txEl>
                                          </p:spTgt>
                                        </p:tgtEl>
                                      </p:cBhvr>
                                    </p:animEffect>
                                  </p:childTnLst>
                                </p:cTn>
                              </p:par>
                              <p:par>
                                <p:cTn id="27" presetID="10" presetClass="entr" presetSubtype="0" fill="hold" grpId="0" nodeType="withEffect">
                                  <p:stCondLst>
                                    <p:cond delay="2000"/>
                                  </p:stCondLst>
                                  <p:childTnLst>
                                    <p:set>
                                      <p:cBhvr>
                                        <p:cTn id="28" dur="1" fill="hold">
                                          <p:stCondLst>
                                            <p:cond delay="0"/>
                                          </p:stCondLst>
                                        </p:cTn>
                                        <p:tgtEl>
                                          <p:spTgt spid="6">
                                            <p:txEl>
                                              <p:pRg st="0" end="0"/>
                                            </p:txEl>
                                          </p:spTgt>
                                        </p:tgtEl>
                                        <p:attrNameLst>
                                          <p:attrName>style.visibility</p:attrName>
                                        </p:attrNameLst>
                                      </p:cBhvr>
                                      <p:to>
                                        <p:strVal val="visible"/>
                                      </p:to>
                                    </p:set>
                                    <p:animEffect transition="in" filter="fade">
                                      <p:cBhvr>
                                        <p:cTn id="29" dur="400"/>
                                        <p:tgtEl>
                                          <p:spTgt spid="6">
                                            <p:txEl>
                                              <p:pRg st="0" end="0"/>
                                            </p:txEl>
                                          </p:spTgt>
                                        </p:tgtEl>
                                      </p:cBhvr>
                                    </p:animEffect>
                                  </p:childTnLst>
                                </p:cTn>
                              </p:par>
                              <p:par>
                                <p:cTn id="30" presetID="10" presetClass="entr" presetSubtype="0" fill="hold" grpId="0" nodeType="withEffect">
                                  <p:stCondLst>
                                    <p:cond delay="200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fade">
                                      <p:cBhvr>
                                        <p:cTn id="32" dur="400"/>
                                        <p:tgtEl>
                                          <p:spTgt spid="6">
                                            <p:txEl>
                                              <p:pRg st="1" end="1"/>
                                            </p:txEl>
                                          </p:spTgt>
                                        </p:tgtEl>
                                      </p:cBhvr>
                                    </p:animEffect>
                                  </p:childTnLst>
                                </p:cTn>
                              </p:par>
                              <p:par>
                                <p:cTn id="33" presetID="10" presetClass="entr" presetSubtype="0" fill="hold" grpId="0" nodeType="withEffect">
                                  <p:stCondLst>
                                    <p:cond delay="2000"/>
                                  </p:stCondLst>
                                  <p:childTnLst>
                                    <p:set>
                                      <p:cBhvr>
                                        <p:cTn id="34" dur="1" fill="hold">
                                          <p:stCondLst>
                                            <p:cond delay="0"/>
                                          </p:stCondLst>
                                        </p:cTn>
                                        <p:tgtEl>
                                          <p:spTgt spid="6">
                                            <p:txEl>
                                              <p:pRg st="2" end="2"/>
                                            </p:txEl>
                                          </p:spTgt>
                                        </p:tgtEl>
                                        <p:attrNameLst>
                                          <p:attrName>style.visibility</p:attrName>
                                        </p:attrNameLst>
                                      </p:cBhvr>
                                      <p:to>
                                        <p:strVal val="visible"/>
                                      </p:to>
                                    </p:set>
                                    <p:animEffect transition="in" filter="fade">
                                      <p:cBhvr>
                                        <p:cTn id="35" dur="4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build="p"/>
      <p:bldP spid="5" grpId="0" build="p"/>
      <p:bldP spid="6"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624F778-81C0-88BB-BF15-48744463E4D9}"/>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E38F5530-DA31-4B62-8DF9-56A1A3B6B6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AEFAF95-013F-4375-AAF4-033AC93F55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68735E28-7236-42D8-A5E1-A0F302FE87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13" name="Oval 12">
              <a:extLst>
                <a:ext uri="{FF2B5EF4-FFF2-40B4-BE49-F238E27FC236}">
                  <a16:creationId xmlns:a16="http://schemas.microsoft.com/office/drawing/2014/main" id="{F3642881-D4B2-4CC2-A287-0FA0006F3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901C50C6-CC43-4D9E-B2AB-F373712E43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26E7187D-0938-461D-BFC5-89EEF35062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34C951A-9754-438B-9D57-E6B93B6E4C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FCCC8FCE-0563-4147-B2A2-7C81702EBE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5E68FC26-41A9-4C82-BE7F-E9344CDC4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FBB336D1-2562-4680-B29B-E22C603C0E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9EED3885-4010-4FBE-A045-DC59CAE782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23" name="Straight Connector 22">
              <a:extLst>
                <a:ext uri="{FF2B5EF4-FFF2-40B4-BE49-F238E27FC236}">
                  <a16:creationId xmlns:a16="http://schemas.microsoft.com/office/drawing/2014/main" id="{C3D74F45-ED22-46E8-8A8C-85550ED981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F675583-78ED-4BEC-8424-37068227E8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9BD9726-207D-4725-AA6E-5147080D5B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1A43941-4783-4A0B-9385-1952F9F89D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8" name="Rectangle 27">
            <a:extLst>
              <a:ext uri="{FF2B5EF4-FFF2-40B4-BE49-F238E27FC236}">
                <a16:creationId xmlns:a16="http://schemas.microsoft.com/office/drawing/2014/main" id="{B4806F9C-3233-4FC3-B300-D5AA58A5CD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a:extLst>
              <a:ext uri="{FF2B5EF4-FFF2-40B4-BE49-F238E27FC236}">
                <a16:creationId xmlns:a16="http://schemas.microsoft.com/office/drawing/2014/main" id="{70E3F9FC-BB7B-433D-8A4F-1BCFA582E0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1" name="Straight Connector 30">
              <a:extLst>
                <a:ext uri="{FF2B5EF4-FFF2-40B4-BE49-F238E27FC236}">
                  <a16:creationId xmlns:a16="http://schemas.microsoft.com/office/drawing/2014/main" id="{1406F394-9D6F-4986-A3AF-6EF16DEDE62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4F98CF1-0C8F-435D-846B-D3C506378F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781ACDD-4A0F-4369-A468-3FEC355F8E2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BB34D61-E762-4862-9DA8-702D97A362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DEC0EC56-83C4-A9F3-53CF-50277910B4BA}"/>
              </a:ext>
            </a:extLst>
          </p:cNvPr>
          <p:cNvSpPr>
            <a:spLocks noGrp="1"/>
          </p:cNvSpPr>
          <p:nvPr>
            <p:ph type="title"/>
          </p:nvPr>
        </p:nvSpPr>
        <p:spPr>
          <a:xfrm>
            <a:off x="630936" y="630936"/>
            <a:ext cx="5465064" cy="5626947"/>
          </a:xfrm>
          <a:noFill/>
        </p:spPr>
        <p:txBody>
          <a:bodyPr anchor="ctr">
            <a:normAutofit/>
          </a:bodyPr>
          <a:lstStyle/>
          <a:p>
            <a:r>
              <a:rPr lang="en-US" sz="4800" dirty="0">
                <a:solidFill>
                  <a:schemeClr val="bg1"/>
                </a:solidFill>
              </a:rPr>
              <a:t>Top Priority Scenario</a:t>
            </a:r>
            <a:br>
              <a:rPr lang="en-US" sz="4800" dirty="0">
                <a:solidFill>
                  <a:schemeClr val="bg1"/>
                </a:solidFill>
              </a:rPr>
            </a:br>
            <a:r>
              <a:rPr lang="en-US" sz="4800" dirty="0">
                <a:solidFill>
                  <a:schemeClr val="bg1"/>
                </a:solidFill>
              </a:rPr>
              <a:t>Scenario 2</a:t>
            </a:r>
          </a:p>
        </p:txBody>
      </p:sp>
      <p:sp>
        <p:nvSpPr>
          <p:cNvPr id="3" name="Text Placeholder 2">
            <a:extLst>
              <a:ext uri="{FF2B5EF4-FFF2-40B4-BE49-F238E27FC236}">
                <a16:creationId xmlns:a16="http://schemas.microsoft.com/office/drawing/2014/main" id="{20412452-832C-323E-F4A0-23654058DE24}"/>
              </a:ext>
            </a:extLst>
          </p:cNvPr>
          <p:cNvSpPr>
            <a:spLocks noGrp="1"/>
          </p:cNvSpPr>
          <p:nvPr>
            <p:ph idx="1"/>
          </p:nvPr>
        </p:nvSpPr>
        <p:spPr>
          <a:xfrm>
            <a:off x="6502152" y="630936"/>
            <a:ext cx="4978592" cy="5626957"/>
          </a:xfrm>
          <a:noFill/>
        </p:spPr>
        <p:txBody>
          <a:bodyPr anchor="ctr">
            <a:normAutofit/>
          </a:bodyPr>
          <a:lstStyle/>
          <a:p>
            <a:pPr marL="0" indent="0">
              <a:buNone/>
            </a:pPr>
            <a:r>
              <a:rPr lang="en-US" sz="1500" dirty="0">
                <a:solidFill>
                  <a:schemeClr val="bg1"/>
                </a:solidFill>
              </a:rPr>
              <a:t>What If:</a:t>
            </a:r>
          </a:p>
          <a:p>
            <a:pPr marL="0" indent="0">
              <a:buNone/>
            </a:pPr>
            <a:r>
              <a:rPr lang="en-US" sz="1500" dirty="0">
                <a:solidFill>
                  <a:schemeClr val="bg1"/>
                </a:solidFill>
              </a:rPr>
              <a:t>A wrong turn occurs </a:t>
            </a:r>
            <a:r>
              <a:rPr lang="en-US" sz="1500" dirty="0">
                <a:solidFill>
                  <a:schemeClr val="bg1"/>
                </a:solidFill>
                <a:sym typeface="Wingdings" panose="05000000000000000000" pitchFamily="2" charset="2"/>
              </a:rPr>
              <a:t> THEIA provides dynamic rerouting and step-by-step backtracking to Spark 233</a:t>
            </a:r>
          </a:p>
          <a:p>
            <a:pPr marL="0" indent="0">
              <a:buNone/>
            </a:pPr>
            <a:r>
              <a:rPr lang="en-US" sz="1500" dirty="0">
                <a:solidFill>
                  <a:schemeClr val="bg1"/>
                </a:solidFill>
                <a:sym typeface="Wingdings" panose="05000000000000000000" pitchFamily="2" charset="2"/>
              </a:rPr>
              <a:t>Who:</a:t>
            </a:r>
          </a:p>
          <a:p>
            <a:pPr marL="0" indent="0">
              <a:buNone/>
            </a:pPr>
            <a:r>
              <a:rPr lang="en-US" sz="1500" dirty="0">
                <a:solidFill>
                  <a:schemeClr val="bg1"/>
                </a:solidFill>
                <a:sym typeface="Wingdings" panose="05000000000000000000" pitchFamily="2" charset="2"/>
              </a:rPr>
              <a:t>Primary User Alfred controls route preferences;</a:t>
            </a:r>
          </a:p>
          <a:p>
            <a:pPr marL="0" indent="0">
              <a:buNone/>
            </a:pPr>
            <a:r>
              <a:rPr lang="en-US" sz="1500" dirty="0">
                <a:solidFill>
                  <a:schemeClr val="bg1"/>
                </a:solidFill>
                <a:sym typeface="Wingdings" panose="05000000000000000000" pitchFamily="2" charset="2"/>
              </a:rPr>
              <a:t>Caretaker Bella receives text alerts from THEIA</a:t>
            </a:r>
          </a:p>
          <a:p>
            <a:pPr marL="0" indent="0">
              <a:buNone/>
            </a:pPr>
            <a:r>
              <a:rPr lang="en-US" sz="1500" dirty="0">
                <a:solidFill>
                  <a:schemeClr val="bg1"/>
                </a:solidFill>
                <a:sym typeface="Wingdings" panose="05000000000000000000" pitchFamily="2" charset="2"/>
              </a:rPr>
              <a:t>Campus Police serve as secondary escalation</a:t>
            </a:r>
          </a:p>
          <a:p>
            <a:pPr marL="0" indent="0">
              <a:buNone/>
            </a:pPr>
            <a:r>
              <a:rPr lang="en-US" sz="1500" dirty="0">
                <a:solidFill>
                  <a:schemeClr val="bg1"/>
                </a:solidFill>
                <a:sym typeface="Wingdings" panose="05000000000000000000" pitchFamily="2" charset="2"/>
              </a:rPr>
              <a:t>When:</a:t>
            </a:r>
          </a:p>
          <a:p>
            <a:pPr marL="0" indent="0">
              <a:buNone/>
            </a:pPr>
            <a:r>
              <a:rPr lang="en-US" sz="1500" dirty="0">
                <a:solidFill>
                  <a:schemeClr val="bg1"/>
                </a:solidFill>
                <a:sym typeface="Wingdings" panose="05000000000000000000" pitchFamily="2" charset="2"/>
              </a:rPr>
              <a:t>Off-route warnings will trigger when missing expected BLE beacons</a:t>
            </a:r>
          </a:p>
          <a:p>
            <a:pPr marL="0" indent="0">
              <a:buNone/>
            </a:pPr>
            <a:r>
              <a:rPr lang="en-US" sz="1500" dirty="0">
                <a:solidFill>
                  <a:schemeClr val="bg1"/>
                </a:solidFill>
                <a:sym typeface="Wingdings" panose="05000000000000000000" pitchFamily="2" charset="2"/>
              </a:rPr>
              <a:t>Emergency SMS dispatches after 30 seconds of unacknowledged fall check from primary user</a:t>
            </a:r>
          </a:p>
          <a:p>
            <a:pPr marL="0" indent="0">
              <a:buNone/>
            </a:pPr>
            <a:r>
              <a:rPr lang="en-US" sz="1500" dirty="0">
                <a:solidFill>
                  <a:schemeClr val="bg1"/>
                </a:solidFill>
                <a:sym typeface="Wingdings" panose="05000000000000000000" pitchFamily="2" charset="2"/>
              </a:rPr>
              <a:t>How To:</a:t>
            </a:r>
          </a:p>
          <a:p>
            <a:pPr marL="0" indent="0">
              <a:buNone/>
            </a:pPr>
            <a:r>
              <a:rPr lang="en-US" sz="1500" dirty="0">
                <a:solidFill>
                  <a:schemeClr val="bg1"/>
                </a:solidFill>
                <a:sym typeface="Wingdings" panose="05000000000000000000" pitchFamily="2" charset="2"/>
              </a:rPr>
              <a:t>THEIA uses 3D spatial audio and short haptic vibration pulses to guide users back without requiring visual screen visual</a:t>
            </a:r>
          </a:p>
          <a:p>
            <a:pPr marL="0" indent="0">
              <a:buNone/>
            </a:pPr>
            <a:r>
              <a:rPr lang="en-US" sz="1500" dirty="0">
                <a:solidFill>
                  <a:schemeClr val="bg1"/>
                </a:solidFill>
                <a:sym typeface="Wingdings" panose="05000000000000000000" pitchFamily="2" charset="2"/>
              </a:rPr>
              <a:t>What Kind of:</a:t>
            </a:r>
          </a:p>
          <a:p>
            <a:pPr marL="0" indent="0">
              <a:buNone/>
            </a:pPr>
            <a:r>
              <a:rPr lang="en-US" sz="1500" dirty="0">
                <a:solidFill>
                  <a:schemeClr val="bg1"/>
                </a:solidFill>
                <a:sym typeface="Wingdings" panose="05000000000000000000" pitchFamily="2" charset="2"/>
              </a:rPr>
              <a:t>Real-time audio and haptic navigation prompts, automated SMS text alerts with room and beacon labels, and phone/emergency dial-outs for incidents</a:t>
            </a:r>
            <a:endParaRPr lang="en-US" sz="1500" dirty="0">
              <a:solidFill>
                <a:schemeClr val="bg1"/>
              </a:solidFill>
            </a:endParaRPr>
          </a:p>
        </p:txBody>
      </p:sp>
    </p:spTree>
    <p:extLst>
      <p:ext uri="{BB962C8B-B14F-4D97-AF65-F5344CB8AC3E}">
        <p14:creationId xmlns:p14="http://schemas.microsoft.com/office/powerpoint/2010/main" val="3126240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50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400"/>
                                        <p:tgtEl>
                                          <p:spTgt spid="3">
                                            <p:txEl>
                                              <p:pRg st="0" end="0"/>
                                            </p:txEl>
                                          </p:spTgt>
                                        </p:tgtEl>
                                      </p:cBhvr>
                                    </p:animEffect>
                                  </p:childTnLst>
                                </p:cTn>
                              </p:par>
                              <p:par>
                                <p:cTn id="13" presetID="10" presetClass="entr" presetSubtype="0" fill="hold" grpId="0" nodeType="withEffect">
                                  <p:stCondLst>
                                    <p:cond delay="200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50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400"/>
                                        <p:tgtEl>
                                          <p:spTgt spid="3">
                                            <p:txEl>
                                              <p:pRg st="2" end="2"/>
                                            </p:txEl>
                                          </p:spTgt>
                                        </p:tgtEl>
                                      </p:cBhvr>
                                    </p:animEffect>
                                  </p:childTnLst>
                                </p:cTn>
                              </p:par>
                              <p:par>
                                <p:cTn id="21" presetID="10" presetClass="entr" presetSubtype="0" fill="hold" grpId="0" nodeType="withEffect">
                                  <p:stCondLst>
                                    <p:cond delay="200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400"/>
                                        <p:tgtEl>
                                          <p:spTgt spid="3">
                                            <p:txEl>
                                              <p:pRg st="3" end="3"/>
                                            </p:txEl>
                                          </p:spTgt>
                                        </p:tgtEl>
                                      </p:cBhvr>
                                    </p:animEffect>
                                  </p:childTnLst>
                                </p:cTn>
                              </p:par>
                              <p:par>
                                <p:cTn id="24" presetID="10" presetClass="entr" presetSubtype="0" fill="hold" grpId="0" nodeType="withEffect">
                                  <p:stCondLst>
                                    <p:cond delay="200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400"/>
                                        <p:tgtEl>
                                          <p:spTgt spid="3">
                                            <p:txEl>
                                              <p:pRg st="4" end="4"/>
                                            </p:txEl>
                                          </p:spTgt>
                                        </p:tgtEl>
                                      </p:cBhvr>
                                    </p:animEffect>
                                  </p:childTnLst>
                                </p:cTn>
                              </p:par>
                              <p:par>
                                <p:cTn id="27" presetID="10" presetClass="entr" presetSubtype="0" fill="hold" grpId="0" nodeType="withEffect">
                                  <p:stCondLst>
                                    <p:cond delay="200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400"/>
                                        <p:tgtEl>
                                          <p:spTgt spid="3">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50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400"/>
                                        <p:tgtEl>
                                          <p:spTgt spid="3">
                                            <p:txEl>
                                              <p:pRg st="6" end="6"/>
                                            </p:txEl>
                                          </p:spTgt>
                                        </p:tgtEl>
                                      </p:cBhvr>
                                    </p:animEffect>
                                  </p:childTnLst>
                                </p:cTn>
                              </p:par>
                              <p:par>
                                <p:cTn id="35" presetID="10" presetClass="entr" presetSubtype="0" fill="hold" grpId="0" nodeType="withEffect">
                                  <p:stCondLst>
                                    <p:cond delay="200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400"/>
                                        <p:tgtEl>
                                          <p:spTgt spid="3">
                                            <p:txEl>
                                              <p:pRg st="7" end="7"/>
                                            </p:txEl>
                                          </p:spTgt>
                                        </p:tgtEl>
                                      </p:cBhvr>
                                    </p:animEffect>
                                  </p:childTnLst>
                                </p:cTn>
                              </p:par>
                              <p:par>
                                <p:cTn id="38" presetID="10" presetClass="entr" presetSubtype="0" fill="hold" grpId="0" nodeType="withEffect">
                                  <p:stCondLst>
                                    <p:cond delay="2000"/>
                                  </p:stCondLst>
                                  <p:childTnLst>
                                    <p:set>
                                      <p:cBhvr>
                                        <p:cTn id="39" dur="1" fill="hold">
                                          <p:stCondLst>
                                            <p:cond delay="0"/>
                                          </p:stCondLst>
                                        </p:cTn>
                                        <p:tgtEl>
                                          <p:spTgt spid="3">
                                            <p:txEl>
                                              <p:pRg st="8" end="8"/>
                                            </p:txEl>
                                          </p:spTgt>
                                        </p:tgtEl>
                                        <p:attrNameLst>
                                          <p:attrName>style.visibility</p:attrName>
                                        </p:attrNameLst>
                                      </p:cBhvr>
                                      <p:to>
                                        <p:strVal val="visible"/>
                                      </p:to>
                                    </p:set>
                                    <p:animEffect transition="in" filter="fade">
                                      <p:cBhvr>
                                        <p:cTn id="40" dur="400"/>
                                        <p:tgtEl>
                                          <p:spTgt spid="3">
                                            <p:txEl>
                                              <p:pRg st="8" end="8"/>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500"/>
                                  </p:stCondLst>
                                  <p:childTnLst>
                                    <p:set>
                                      <p:cBhvr>
                                        <p:cTn id="44" dur="1" fill="hold">
                                          <p:stCondLst>
                                            <p:cond delay="0"/>
                                          </p:stCondLst>
                                        </p:cTn>
                                        <p:tgtEl>
                                          <p:spTgt spid="3">
                                            <p:txEl>
                                              <p:pRg st="9" end="9"/>
                                            </p:txEl>
                                          </p:spTgt>
                                        </p:tgtEl>
                                        <p:attrNameLst>
                                          <p:attrName>style.visibility</p:attrName>
                                        </p:attrNameLst>
                                      </p:cBhvr>
                                      <p:to>
                                        <p:strVal val="visible"/>
                                      </p:to>
                                    </p:set>
                                    <p:animEffect transition="in" filter="fade">
                                      <p:cBhvr>
                                        <p:cTn id="45" dur="400"/>
                                        <p:tgtEl>
                                          <p:spTgt spid="3">
                                            <p:txEl>
                                              <p:pRg st="9" end="9"/>
                                            </p:txEl>
                                          </p:spTgt>
                                        </p:tgtEl>
                                      </p:cBhvr>
                                    </p:animEffect>
                                  </p:childTnLst>
                                </p:cTn>
                              </p:par>
                              <p:par>
                                <p:cTn id="46" presetID="10" presetClass="entr" presetSubtype="0" fill="hold" grpId="0" nodeType="withEffect">
                                  <p:stCondLst>
                                    <p:cond delay="2000"/>
                                  </p:stCondLst>
                                  <p:childTnLst>
                                    <p:set>
                                      <p:cBhvr>
                                        <p:cTn id="47" dur="1" fill="hold">
                                          <p:stCondLst>
                                            <p:cond delay="0"/>
                                          </p:stCondLst>
                                        </p:cTn>
                                        <p:tgtEl>
                                          <p:spTgt spid="3">
                                            <p:txEl>
                                              <p:pRg st="10" end="10"/>
                                            </p:txEl>
                                          </p:spTgt>
                                        </p:tgtEl>
                                        <p:attrNameLst>
                                          <p:attrName>style.visibility</p:attrName>
                                        </p:attrNameLst>
                                      </p:cBhvr>
                                      <p:to>
                                        <p:strVal val="visible"/>
                                      </p:to>
                                    </p:set>
                                    <p:animEffect transition="in" filter="fade">
                                      <p:cBhvr>
                                        <p:cTn id="48" dur="400"/>
                                        <p:tgtEl>
                                          <p:spTgt spid="3">
                                            <p:txEl>
                                              <p:pRg st="10" end="1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500"/>
                                  </p:stCondLst>
                                  <p:childTnLst>
                                    <p:set>
                                      <p:cBhvr>
                                        <p:cTn id="52" dur="1" fill="hold">
                                          <p:stCondLst>
                                            <p:cond delay="0"/>
                                          </p:stCondLst>
                                        </p:cTn>
                                        <p:tgtEl>
                                          <p:spTgt spid="3">
                                            <p:txEl>
                                              <p:pRg st="11" end="11"/>
                                            </p:txEl>
                                          </p:spTgt>
                                        </p:tgtEl>
                                        <p:attrNameLst>
                                          <p:attrName>style.visibility</p:attrName>
                                        </p:attrNameLst>
                                      </p:cBhvr>
                                      <p:to>
                                        <p:strVal val="visible"/>
                                      </p:to>
                                    </p:set>
                                    <p:animEffect transition="in" filter="fade">
                                      <p:cBhvr>
                                        <p:cTn id="53" dur="400"/>
                                        <p:tgtEl>
                                          <p:spTgt spid="3">
                                            <p:txEl>
                                              <p:pRg st="11" end="11"/>
                                            </p:txEl>
                                          </p:spTgt>
                                        </p:tgtEl>
                                      </p:cBhvr>
                                    </p:animEffect>
                                  </p:childTnLst>
                                </p:cTn>
                              </p:par>
                              <p:par>
                                <p:cTn id="54" presetID="10" presetClass="entr" presetSubtype="0" fill="hold" grpId="0" nodeType="withEffect">
                                  <p:stCondLst>
                                    <p:cond delay="2000"/>
                                  </p:stCondLst>
                                  <p:childTnLst>
                                    <p:set>
                                      <p:cBhvr>
                                        <p:cTn id="55" dur="1" fill="hold">
                                          <p:stCondLst>
                                            <p:cond delay="0"/>
                                          </p:stCondLst>
                                        </p:cTn>
                                        <p:tgtEl>
                                          <p:spTgt spid="3">
                                            <p:txEl>
                                              <p:pRg st="12" end="12"/>
                                            </p:txEl>
                                          </p:spTgt>
                                        </p:tgtEl>
                                        <p:attrNameLst>
                                          <p:attrName>style.visibility</p:attrName>
                                        </p:attrNameLst>
                                      </p:cBhvr>
                                      <p:to>
                                        <p:strVal val="visible"/>
                                      </p:to>
                                    </p:set>
                                    <p:animEffect transition="in" filter="fade">
                                      <p:cBhvr>
                                        <p:cTn id="56" dur="4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B9FA8A9-8C97-DD9C-2C22-03242C9A52E7}"/>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E38F5530-DA31-4B62-8DF9-56A1A3B6B6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AEFAF95-013F-4375-AAF4-033AC93F55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68735E28-7236-42D8-A5E1-A0F302FE87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13" name="Oval 12">
              <a:extLst>
                <a:ext uri="{FF2B5EF4-FFF2-40B4-BE49-F238E27FC236}">
                  <a16:creationId xmlns:a16="http://schemas.microsoft.com/office/drawing/2014/main" id="{F3642881-D4B2-4CC2-A287-0FA0006F3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901C50C6-CC43-4D9E-B2AB-F373712E43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26E7187D-0938-461D-BFC5-89EEF35062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34C951A-9754-438B-9D57-E6B93B6E4C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FCCC8FCE-0563-4147-B2A2-7C81702EBE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5E68FC26-41A9-4C82-BE7F-E9344CDC4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FBB336D1-2562-4680-B29B-E22C603C0E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9EED3885-4010-4FBE-A045-DC59CAE782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23" name="Straight Connector 22">
              <a:extLst>
                <a:ext uri="{FF2B5EF4-FFF2-40B4-BE49-F238E27FC236}">
                  <a16:creationId xmlns:a16="http://schemas.microsoft.com/office/drawing/2014/main" id="{C3D74F45-ED22-46E8-8A8C-85550ED981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F675583-78ED-4BEC-8424-37068227E8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9BD9726-207D-4725-AA6E-5147080D5B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1A43941-4783-4A0B-9385-1952F9F89D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8" name="Rectangle 27">
            <a:extLst>
              <a:ext uri="{FF2B5EF4-FFF2-40B4-BE49-F238E27FC236}">
                <a16:creationId xmlns:a16="http://schemas.microsoft.com/office/drawing/2014/main" id="{B4806F9C-3233-4FC3-B300-D5AA58A5CD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a:extLst>
              <a:ext uri="{FF2B5EF4-FFF2-40B4-BE49-F238E27FC236}">
                <a16:creationId xmlns:a16="http://schemas.microsoft.com/office/drawing/2014/main" id="{70E3F9FC-BB7B-433D-8A4F-1BCFA582E0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1" name="Straight Connector 30">
              <a:extLst>
                <a:ext uri="{FF2B5EF4-FFF2-40B4-BE49-F238E27FC236}">
                  <a16:creationId xmlns:a16="http://schemas.microsoft.com/office/drawing/2014/main" id="{1406F394-9D6F-4986-A3AF-6EF16DEDE62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4F98CF1-0C8F-435D-846B-D3C506378F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781ACDD-4A0F-4369-A468-3FEC355F8E2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BB34D61-E762-4862-9DA8-702D97A362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FB780660-1156-732B-730E-66EE429A7087}"/>
              </a:ext>
            </a:extLst>
          </p:cNvPr>
          <p:cNvSpPr>
            <a:spLocks noGrp="1"/>
          </p:cNvSpPr>
          <p:nvPr>
            <p:ph type="title"/>
          </p:nvPr>
        </p:nvSpPr>
        <p:spPr>
          <a:xfrm>
            <a:off x="630936" y="630936"/>
            <a:ext cx="5465064" cy="5626947"/>
          </a:xfrm>
          <a:noFill/>
        </p:spPr>
        <p:txBody>
          <a:bodyPr anchor="ctr">
            <a:normAutofit/>
          </a:bodyPr>
          <a:lstStyle/>
          <a:p>
            <a:r>
              <a:rPr lang="en-US" sz="4800" dirty="0">
                <a:solidFill>
                  <a:schemeClr val="bg1"/>
                </a:solidFill>
              </a:rPr>
              <a:t>Why THEIA?</a:t>
            </a:r>
            <a:br>
              <a:rPr lang="en-US" sz="4800" dirty="0">
                <a:solidFill>
                  <a:schemeClr val="bg1"/>
                </a:solidFill>
              </a:rPr>
            </a:br>
            <a:r>
              <a:rPr lang="en-US" sz="4800" dirty="0">
                <a:solidFill>
                  <a:schemeClr val="bg1"/>
                </a:solidFill>
              </a:rPr>
              <a:t>Comparative Analysis</a:t>
            </a:r>
          </a:p>
        </p:txBody>
      </p:sp>
      <p:sp>
        <p:nvSpPr>
          <p:cNvPr id="3" name="Text Placeholder 2">
            <a:extLst>
              <a:ext uri="{FF2B5EF4-FFF2-40B4-BE49-F238E27FC236}">
                <a16:creationId xmlns:a16="http://schemas.microsoft.com/office/drawing/2014/main" id="{416F39CC-BC1F-8002-F12C-648C9D4212F2}"/>
              </a:ext>
            </a:extLst>
          </p:cNvPr>
          <p:cNvSpPr>
            <a:spLocks noGrp="1"/>
          </p:cNvSpPr>
          <p:nvPr>
            <p:ph idx="1"/>
          </p:nvPr>
        </p:nvSpPr>
        <p:spPr>
          <a:xfrm>
            <a:off x="6502152" y="630936"/>
            <a:ext cx="4978592" cy="5626957"/>
          </a:xfrm>
          <a:noFill/>
        </p:spPr>
        <p:txBody>
          <a:bodyPr anchor="ctr">
            <a:normAutofit/>
          </a:bodyPr>
          <a:lstStyle/>
          <a:p>
            <a:pPr>
              <a:buFont typeface="Wingdings" panose="05000000000000000000" pitchFamily="2" charset="2"/>
              <a:buChar char="q"/>
            </a:pPr>
            <a:r>
              <a:rPr lang="en-US" sz="1800" dirty="0">
                <a:solidFill>
                  <a:schemeClr val="bg1"/>
                </a:solidFill>
              </a:rPr>
              <a:t>A complimentary tool to use along with a cane or service animal</a:t>
            </a:r>
          </a:p>
          <a:p>
            <a:pPr lvl="1">
              <a:buFont typeface="Wingdings" panose="05000000000000000000" pitchFamily="2" charset="2"/>
              <a:buChar char="q"/>
            </a:pPr>
            <a:r>
              <a:rPr lang="en-US" sz="1400" dirty="0">
                <a:solidFill>
                  <a:schemeClr val="bg1"/>
                </a:solidFill>
              </a:rPr>
              <a:t>User route preferences</a:t>
            </a:r>
          </a:p>
          <a:p>
            <a:pPr lvl="1">
              <a:buFont typeface="Wingdings" panose="05000000000000000000" pitchFamily="2" charset="2"/>
              <a:buChar char="q"/>
            </a:pPr>
            <a:r>
              <a:rPr lang="en-US" sz="1400" dirty="0">
                <a:solidFill>
                  <a:schemeClr val="bg1"/>
                </a:solidFill>
              </a:rPr>
              <a:t>Caretaker safety controls</a:t>
            </a:r>
          </a:p>
          <a:p>
            <a:pPr>
              <a:buFont typeface="Wingdings" panose="05000000000000000000" pitchFamily="2" charset="2"/>
              <a:buChar char="q"/>
            </a:pPr>
            <a:r>
              <a:rPr lang="en-US" sz="1800" dirty="0">
                <a:solidFill>
                  <a:schemeClr val="bg1"/>
                </a:solidFill>
              </a:rPr>
              <a:t>When Primary User uses solely a White Cane</a:t>
            </a:r>
          </a:p>
          <a:p>
            <a:pPr lvl="1">
              <a:buFont typeface="Wingdings" panose="05000000000000000000" pitchFamily="2" charset="2"/>
              <a:buChar char="q"/>
            </a:pPr>
            <a:r>
              <a:rPr lang="en-US" sz="1400" dirty="0">
                <a:solidFill>
                  <a:schemeClr val="bg1"/>
                </a:solidFill>
              </a:rPr>
              <a:t>Strengths: Inexpensive, reliable physical ground obstacle detection</a:t>
            </a:r>
          </a:p>
          <a:p>
            <a:pPr lvl="1">
              <a:buFont typeface="Wingdings" panose="05000000000000000000" pitchFamily="2" charset="2"/>
              <a:buChar char="q"/>
            </a:pPr>
            <a:r>
              <a:rPr lang="en-US" sz="1400" dirty="0">
                <a:solidFill>
                  <a:schemeClr val="bg1"/>
                </a:solidFill>
              </a:rPr>
              <a:t>Limitations: Can’t provide context for indoor room numbers, floor plans, or destination directions</a:t>
            </a:r>
          </a:p>
          <a:p>
            <a:pPr>
              <a:buFont typeface="Wingdings" panose="05000000000000000000" pitchFamily="2" charset="2"/>
              <a:buChar char="q"/>
            </a:pPr>
            <a:r>
              <a:rPr lang="en-US" sz="1800" dirty="0">
                <a:solidFill>
                  <a:schemeClr val="bg1"/>
                </a:solidFill>
              </a:rPr>
              <a:t>When Primary User uses solely a Service Animal</a:t>
            </a:r>
          </a:p>
          <a:p>
            <a:pPr lvl="1">
              <a:buFont typeface="Wingdings" panose="05000000000000000000" pitchFamily="2" charset="2"/>
              <a:buChar char="q"/>
            </a:pPr>
            <a:r>
              <a:rPr lang="en-US" sz="1400" dirty="0">
                <a:solidFill>
                  <a:schemeClr val="bg1"/>
                </a:solidFill>
              </a:rPr>
              <a:t>Strengths: Service animals assist in navigating through crowds and drop-offs</a:t>
            </a:r>
          </a:p>
          <a:p>
            <a:pPr lvl="1">
              <a:buFont typeface="Wingdings" panose="05000000000000000000" pitchFamily="2" charset="2"/>
              <a:buChar char="q"/>
            </a:pPr>
            <a:r>
              <a:rPr lang="en-US" sz="1400" dirty="0">
                <a:solidFill>
                  <a:schemeClr val="bg1"/>
                </a:solidFill>
              </a:rPr>
              <a:t>Limitations: High maintenance costs and training, can’t identify specific classrooms, navigate complex multi-floor buildings, nor be able to dispatch emergency SMS location texts during a fall</a:t>
            </a:r>
          </a:p>
          <a:p>
            <a:pPr>
              <a:buFont typeface="Wingdings" panose="05000000000000000000" pitchFamily="2" charset="2"/>
              <a:buChar char="q"/>
            </a:pPr>
            <a:r>
              <a:rPr lang="en-US" sz="1800" dirty="0">
                <a:solidFill>
                  <a:schemeClr val="bg1"/>
                </a:solidFill>
              </a:rPr>
              <a:t>Using Project THEIA</a:t>
            </a:r>
          </a:p>
          <a:p>
            <a:pPr lvl="1">
              <a:buFont typeface="Wingdings" panose="05000000000000000000" pitchFamily="2" charset="2"/>
              <a:buChar char="q"/>
            </a:pPr>
            <a:r>
              <a:rPr lang="en-US" sz="1400" dirty="0">
                <a:solidFill>
                  <a:schemeClr val="bg1"/>
                </a:solidFill>
              </a:rPr>
              <a:t>Combines hands-free 3D spatial audio, room-level indoor navigation within multiple floors, elevator guidance, and automated fall/emergency escalation</a:t>
            </a:r>
          </a:p>
          <a:p>
            <a:pPr marL="0" indent="0">
              <a:buNone/>
            </a:pPr>
            <a:endParaRPr lang="en-US" sz="1800" dirty="0">
              <a:solidFill>
                <a:schemeClr val="bg1"/>
              </a:solidFill>
            </a:endParaRPr>
          </a:p>
        </p:txBody>
      </p:sp>
    </p:spTree>
    <p:extLst>
      <p:ext uri="{BB962C8B-B14F-4D97-AF65-F5344CB8AC3E}">
        <p14:creationId xmlns:p14="http://schemas.microsoft.com/office/powerpoint/2010/main" val="297628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50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400"/>
                                        <p:tgtEl>
                                          <p:spTgt spid="3">
                                            <p:txEl>
                                              <p:pRg st="0" end="0"/>
                                            </p:txEl>
                                          </p:spTgt>
                                        </p:tgtEl>
                                      </p:cBhvr>
                                    </p:animEffect>
                                  </p:childTnLst>
                                </p:cTn>
                              </p:par>
                              <p:par>
                                <p:cTn id="13" presetID="10" presetClass="entr" presetSubtype="0" fill="hold" grpId="0" nodeType="withEffect">
                                  <p:stCondLst>
                                    <p:cond delay="200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par>
                                <p:cTn id="16" presetID="10" presetClass="entr" presetSubtype="0" fill="hold" grpId="0" nodeType="withEffect">
                                  <p:stCondLst>
                                    <p:cond delay="200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400"/>
                                        <p:tgtEl>
                                          <p:spTgt spid="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50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400"/>
                                        <p:tgtEl>
                                          <p:spTgt spid="3">
                                            <p:txEl>
                                              <p:pRg st="3" end="3"/>
                                            </p:txEl>
                                          </p:spTgt>
                                        </p:tgtEl>
                                      </p:cBhvr>
                                    </p:animEffect>
                                  </p:childTnLst>
                                </p:cTn>
                              </p:par>
                              <p:par>
                                <p:cTn id="24" presetID="10" presetClass="entr" presetSubtype="0" fill="hold" grpId="0" nodeType="withEffect">
                                  <p:stCondLst>
                                    <p:cond delay="200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400"/>
                                        <p:tgtEl>
                                          <p:spTgt spid="3">
                                            <p:txEl>
                                              <p:pRg st="4" end="4"/>
                                            </p:txEl>
                                          </p:spTgt>
                                        </p:tgtEl>
                                      </p:cBhvr>
                                    </p:animEffect>
                                  </p:childTnLst>
                                </p:cTn>
                              </p:par>
                              <p:par>
                                <p:cTn id="27" presetID="10" presetClass="entr" presetSubtype="0" fill="hold" grpId="0" nodeType="withEffect">
                                  <p:stCondLst>
                                    <p:cond delay="200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400"/>
                                        <p:tgtEl>
                                          <p:spTgt spid="3">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50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400"/>
                                        <p:tgtEl>
                                          <p:spTgt spid="3">
                                            <p:txEl>
                                              <p:pRg st="6" end="6"/>
                                            </p:txEl>
                                          </p:spTgt>
                                        </p:tgtEl>
                                      </p:cBhvr>
                                    </p:animEffect>
                                  </p:childTnLst>
                                </p:cTn>
                              </p:par>
                              <p:par>
                                <p:cTn id="35" presetID="10" presetClass="entr" presetSubtype="0" fill="hold" grpId="0" nodeType="withEffect">
                                  <p:stCondLst>
                                    <p:cond delay="200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400"/>
                                        <p:tgtEl>
                                          <p:spTgt spid="3">
                                            <p:txEl>
                                              <p:pRg st="7" end="7"/>
                                            </p:txEl>
                                          </p:spTgt>
                                        </p:tgtEl>
                                      </p:cBhvr>
                                    </p:animEffect>
                                  </p:childTnLst>
                                </p:cTn>
                              </p:par>
                              <p:par>
                                <p:cTn id="38" presetID="10" presetClass="entr" presetSubtype="0" fill="hold" grpId="0" nodeType="withEffect">
                                  <p:stCondLst>
                                    <p:cond delay="2000"/>
                                  </p:stCondLst>
                                  <p:childTnLst>
                                    <p:set>
                                      <p:cBhvr>
                                        <p:cTn id="39" dur="1" fill="hold">
                                          <p:stCondLst>
                                            <p:cond delay="0"/>
                                          </p:stCondLst>
                                        </p:cTn>
                                        <p:tgtEl>
                                          <p:spTgt spid="3">
                                            <p:txEl>
                                              <p:pRg st="8" end="8"/>
                                            </p:txEl>
                                          </p:spTgt>
                                        </p:tgtEl>
                                        <p:attrNameLst>
                                          <p:attrName>style.visibility</p:attrName>
                                        </p:attrNameLst>
                                      </p:cBhvr>
                                      <p:to>
                                        <p:strVal val="visible"/>
                                      </p:to>
                                    </p:set>
                                    <p:animEffect transition="in" filter="fade">
                                      <p:cBhvr>
                                        <p:cTn id="40" dur="400"/>
                                        <p:tgtEl>
                                          <p:spTgt spid="3">
                                            <p:txEl>
                                              <p:pRg st="8" end="8"/>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500"/>
                                  </p:stCondLst>
                                  <p:childTnLst>
                                    <p:set>
                                      <p:cBhvr>
                                        <p:cTn id="44" dur="1" fill="hold">
                                          <p:stCondLst>
                                            <p:cond delay="0"/>
                                          </p:stCondLst>
                                        </p:cTn>
                                        <p:tgtEl>
                                          <p:spTgt spid="3">
                                            <p:txEl>
                                              <p:pRg st="9" end="9"/>
                                            </p:txEl>
                                          </p:spTgt>
                                        </p:tgtEl>
                                        <p:attrNameLst>
                                          <p:attrName>style.visibility</p:attrName>
                                        </p:attrNameLst>
                                      </p:cBhvr>
                                      <p:to>
                                        <p:strVal val="visible"/>
                                      </p:to>
                                    </p:set>
                                    <p:animEffect transition="in" filter="fade">
                                      <p:cBhvr>
                                        <p:cTn id="45" dur="400"/>
                                        <p:tgtEl>
                                          <p:spTgt spid="3">
                                            <p:txEl>
                                              <p:pRg st="9" end="9"/>
                                            </p:txEl>
                                          </p:spTgt>
                                        </p:tgtEl>
                                      </p:cBhvr>
                                    </p:animEffect>
                                  </p:childTnLst>
                                </p:cTn>
                              </p:par>
                              <p:par>
                                <p:cTn id="46" presetID="10" presetClass="entr" presetSubtype="0" fill="hold" grpId="0" nodeType="withEffect">
                                  <p:stCondLst>
                                    <p:cond delay="2000"/>
                                  </p:stCondLst>
                                  <p:childTnLst>
                                    <p:set>
                                      <p:cBhvr>
                                        <p:cTn id="47" dur="1" fill="hold">
                                          <p:stCondLst>
                                            <p:cond delay="0"/>
                                          </p:stCondLst>
                                        </p:cTn>
                                        <p:tgtEl>
                                          <p:spTgt spid="3">
                                            <p:txEl>
                                              <p:pRg st="10" end="10"/>
                                            </p:txEl>
                                          </p:spTgt>
                                        </p:tgtEl>
                                        <p:attrNameLst>
                                          <p:attrName>style.visibility</p:attrName>
                                        </p:attrNameLst>
                                      </p:cBhvr>
                                      <p:to>
                                        <p:strVal val="visible"/>
                                      </p:to>
                                    </p:set>
                                    <p:animEffect transition="in" filter="fade">
                                      <p:cBhvr>
                                        <p:cTn id="48" dur="4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415</TotalTime>
  <Words>938</Words>
  <Application>Microsoft Office PowerPoint</Application>
  <PresentationFormat>Widescreen</PresentationFormat>
  <Paragraphs>67</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Wingdings</vt:lpstr>
      <vt:lpstr>Office Theme</vt:lpstr>
      <vt:lpstr>Phase I System Presentation</vt:lpstr>
      <vt:lpstr>Scenario 1</vt:lpstr>
      <vt:lpstr>Scenario 2</vt:lpstr>
      <vt:lpstr>Scenario 3</vt:lpstr>
      <vt:lpstr>Scenario 4</vt:lpstr>
      <vt:lpstr>Top Priority Scenario Scenario 2</vt:lpstr>
      <vt:lpstr>Why THEIA? Comparative Analysis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Kirthy Kolluri</dc:creator>
  <cp:lastModifiedBy>Zuniga, James</cp:lastModifiedBy>
  <cp:revision>28</cp:revision>
  <dcterms:created xsi:type="dcterms:W3CDTF">2018-08-29T02:01:45Z</dcterms:created>
  <dcterms:modified xsi:type="dcterms:W3CDTF">2026-10-12T07:59:57Z</dcterms:modified>
</cp:coreProperties>
</file>